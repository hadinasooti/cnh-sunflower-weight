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Rectangle 1"/>
          <p:cNvSpPr/>
          <p:nvPr/>
        </p:nvSpPr>
        <p:spPr>
          <a:xfrm>
            <a:off x="7818120" y="0"/>
            <a:ext cx="4370832" cy="6858000"/>
          </a:xfrm>
          <a:prstGeom prst="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6583680" cy="320040"/>
          </a:xfrm>
          <a:prstGeom prst="rect">
            <a:avLst/>
          </a:prstGeom>
          <a:noFill/>
        </p:spPr>
        <p:txBody>
          <a:bodyPr wrap="square" lIns="54864" rIns="54864" tIns="36576" bIns="36576">
            <a:spAutoFit/>
          </a:bodyPr>
          <a:lstStyle/>
          <a:p>
            <a:pPr algn="l">
              <a:spcAft>
                <a:spcPts val="500"/>
              </a:spcAft>
              <a:defRPr sz="1300" b="1" i="0">
                <a:solidFill>
                  <a:srgbClr val="2D5B3F"/>
                </a:solidFill>
                <a:latin typeface="Aptos"/>
              </a:defRPr>
            </a:pPr>
            <a:r>
              <a:t>CNH DATA COLLECTION PROJECT</a:t>
            </a:r>
          </a:p>
        </p:txBody>
      </p:sp>
      <p:sp>
        <p:nvSpPr>
          <p:cNvPr id="4" name="TextBox 3"/>
          <p:cNvSpPr txBox="1"/>
          <p:nvPr/>
        </p:nvSpPr>
        <p:spPr>
          <a:xfrm>
            <a:off x="731520" y="1508760"/>
            <a:ext cx="6629400" cy="1417320"/>
          </a:xfrm>
          <a:prstGeom prst="rect">
            <a:avLst/>
          </a:prstGeom>
          <a:noFill/>
        </p:spPr>
        <p:txBody>
          <a:bodyPr wrap="square" lIns="54864" rIns="54864" tIns="36576" bIns="36576">
            <a:spAutoFit/>
          </a:bodyPr>
          <a:lstStyle/>
          <a:p>
            <a:pPr algn="l">
              <a:spcAft>
                <a:spcPts val="500"/>
              </a:spcAft>
              <a:defRPr sz="3400" b="1" i="0">
                <a:solidFill>
                  <a:srgbClr val="253027"/>
                </a:solidFill>
                <a:latin typeface="Aptos"/>
              </a:defRPr>
            </a:pPr>
            <a:r>
              <a:t>From sunflower seeds</a:t>
            </a:r>
          </a:p>
          <a:p>
            <a:pPr algn="l">
              <a:spcAft>
                <a:spcPts val="500"/>
              </a:spcAft>
              <a:defRPr sz="3400" b="1" i="0">
                <a:solidFill>
                  <a:srgbClr val="253027"/>
                </a:solidFill>
                <a:latin typeface="Aptos"/>
              </a:defRPr>
            </a:pPr>
            <a:r>
              <a:t>to a weight estimate</a:t>
            </a:r>
          </a:p>
        </p:txBody>
      </p:sp>
      <p:sp>
        <p:nvSpPr>
          <p:cNvPr id="5" name="TextBox 4"/>
          <p:cNvSpPr txBox="1"/>
          <p:nvPr/>
        </p:nvSpPr>
        <p:spPr>
          <a:xfrm>
            <a:off x="777240" y="3246120"/>
            <a:ext cx="6217920" cy="777240"/>
          </a:xfrm>
          <a:prstGeom prst="rect">
            <a:avLst/>
          </a:prstGeom>
          <a:noFill/>
        </p:spPr>
        <p:txBody>
          <a:bodyPr wrap="square" lIns="54864" rIns="54864" tIns="36576" bIns="36576">
            <a:spAutoFit/>
          </a:bodyPr>
          <a:lstStyle/>
          <a:p>
            <a:pPr algn="l">
              <a:spcAft>
                <a:spcPts val="500"/>
              </a:spcAft>
              <a:defRPr sz="1900" b="0" i="0">
                <a:solidFill>
                  <a:srgbClr val="687063"/>
                </a:solidFill>
                <a:latin typeface="Aptos"/>
              </a:defRPr>
            </a:pPr>
            <a:r>
              <a:t>Designing a repeatable photo-based measurement process</a:t>
            </a:r>
          </a:p>
        </p:txBody>
      </p:sp>
      <p:sp>
        <p:nvSpPr>
          <p:cNvPr id="6" name="TextBox 5"/>
          <p:cNvSpPr txBox="1"/>
          <p:nvPr/>
        </p:nvSpPr>
        <p:spPr>
          <a:xfrm>
            <a:off x="777240" y="4892040"/>
            <a:ext cx="6217920" cy="320040"/>
          </a:xfrm>
          <a:prstGeom prst="rect">
            <a:avLst/>
          </a:prstGeom>
          <a:noFill/>
        </p:spPr>
        <p:txBody>
          <a:bodyPr wrap="square" lIns="54864" rIns="54864" tIns="36576" bIns="36576">
            <a:spAutoFit/>
          </a:bodyPr>
          <a:lstStyle/>
          <a:p>
            <a:pPr algn="l">
              <a:spcAft>
                <a:spcPts val="500"/>
              </a:spcAft>
              <a:defRPr sz="1400" b="1" i="0">
                <a:solidFill>
                  <a:srgbClr val="2D5B3F"/>
                </a:solidFill>
                <a:latin typeface="Aptos"/>
              </a:defRPr>
            </a:pPr>
            <a:r>
              <a:t>Hadi Nasooti &amp; Jia  •  KU Leuven  •  October 2026</a:t>
            </a:r>
          </a:p>
        </p:txBody>
      </p:sp>
      <p:sp>
        <p:nvSpPr>
          <p:cNvPr id="7" name="TextBox 6"/>
          <p:cNvSpPr txBox="1"/>
          <p:nvPr/>
        </p:nvSpPr>
        <p:spPr>
          <a:xfrm>
            <a:off x="777240" y="5486400"/>
            <a:ext cx="6217920" cy="320040"/>
          </a:xfrm>
          <a:prstGeom prst="rect">
            <a:avLst/>
          </a:prstGeom>
          <a:noFill/>
        </p:spPr>
        <p:txBody>
          <a:bodyPr wrap="square" lIns="54864" rIns="54864" tIns="36576" bIns="36576">
            <a:spAutoFit/>
          </a:bodyPr>
          <a:lstStyle/>
          <a:p>
            <a:pPr algn="l">
              <a:spcAft>
                <a:spcPts val="500"/>
              </a:spcAft>
              <a:defRPr sz="1200" b="0" i="0">
                <a:solidFill>
                  <a:srgbClr val="687063"/>
                </a:solidFill>
                <a:latin typeface="Aptos"/>
              </a:defRPr>
            </a:pPr>
            <a:r>
              <a:t>Draft report: evidence, uncertainty, limitations and next steps</a:t>
            </a:r>
          </a:p>
        </p:txBody>
      </p:sp>
      <p:sp>
        <p:nvSpPr>
          <p:cNvPr id="8" name="Oval 7"/>
          <p:cNvSpPr/>
          <p:nvPr/>
        </p:nvSpPr>
        <p:spPr>
          <a:xfrm>
            <a:off x="10371582" y="1837029"/>
            <a:ext cx="340156" cy="623620"/>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rot="20250000">
            <a:off x="10320875" y="2091950"/>
            <a:ext cx="340156" cy="623620"/>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rot="18900000">
            <a:off x="10176473" y="2308061"/>
            <a:ext cx="340156" cy="623620"/>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rot="17550000">
            <a:off x="9960362" y="2452463"/>
            <a:ext cx="340156" cy="623620"/>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rot="16200000">
            <a:off x="9705441" y="2503170"/>
            <a:ext cx="340156" cy="623620"/>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rot="14850000">
            <a:off x="9450520" y="2452463"/>
            <a:ext cx="340156" cy="623620"/>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rot="13500000">
            <a:off x="9234409" y="2308061"/>
            <a:ext cx="340156" cy="623620"/>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rot="12150000">
            <a:off x="9090008" y="2091950"/>
            <a:ext cx="340156" cy="623620"/>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rot="10800000">
            <a:off x="9039301" y="1837029"/>
            <a:ext cx="340156" cy="623620"/>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rot="9450000">
            <a:off x="9090008" y="1582108"/>
            <a:ext cx="340156" cy="623620"/>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rot="8100000">
            <a:off x="9234409" y="1365997"/>
            <a:ext cx="340156" cy="623620"/>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6750000">
            <a:off x="9450520" y="1221596"/>
            <a:ext cx="340156" cy="623620"/>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5400000">
            <a:off x="9705441" y="1170889"/>
            <a:ext cx="340156" cy="623620"/>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rot="4050000">
            <a:off x="9960362" y="1221596"/>
            <a:ext cx="340156" cy="623620"/>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rot="2700000">
            <a:off x="10176473" y="1365997"/>
            <a:ext cx="340156" cy="623620"/>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rot="1350000">
            <a:off x="10320875" y="1582108"/>
            <a:ext cx="340156" cy="623620"/>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7804" y="1681124"/>
            <a:ext cx="935431" cy="935431"/>
          </a:xfrm>
          <a:prstGeom prst="ellipse">
            <a:avLst/>
          </a:prstGeom>
          <a:solidFill>
            <a:srgbClr val="5C3D23"/>
          </a:solidFill>
          <a:ln>
            <a:solidFill>
              <a:srgbClr val="5C3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16464" y="2120493"/>
            <a:ext cx="56692" cy="56692"/>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065034" y="2278778"/>
            <a:ext cx="56692" cy="56692"/>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30389" y="2376604"/>
            <a:ext cx="56692" cy="56692"/>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763958" y="2376604"/>
            <a:ext cx="56692" cy="56692"/>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29312" y="2278778"/>
            <a:ext cx="56692" cy="56692"/>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577882" y="2120493"/>
            <a:ext cx="56692" cy="56692"/>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29312" y="1962208"/>
            <a:ext cx="56692" cy="56692"/>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763958" y="1864382"/>
            <a:ext cx="56692" cy="56692"/>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930389" y="1864382"/>
            <a:ext cx="56692" cy="56692"/>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065034" y="1962208"/>
            <a:ext cx="56692" cy="56692"/>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75320" y="4846320"/>
            <a:ext cx="3200400" cy="411480"/>
          </a:xfrm>
          <a:prstGeom prst="rect">
            <a:avLst/>
          </a:prstGeom>
          <a:noFill/>
        </p:spPr>
        <p:txBody>
          <a:bodyPr wrap="square" lIns="54864" rIns="54864" tIns="36576" bIns="36576">
            <a:spAutoFit/>
          </a:bodyPr>
          <a:lstStyle/>
          <a:p>
            <a:pPr algn="ctr">
              <a:spcAft>
                <a:spcPts val="500"/>
              </a:spcAft>
              <a:defRPr sz="1300" b="1" i="0">
                <a:solidFill>
                  <a:srgbClr val="2D5B3F"/>
                </a:solidFill>
                <a:latin typeface="Aptos"/>
              </a:defRPr>
            </a:pPr>
            <a:r>
              <a:t>MEASURE • TEST • IMPROVE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The story in one slide</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OVERVIEW</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2</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Rounded Rectangle 6"/>
          <p:cNvSpPr/>
          <p:nvPr/>
        </p:nvSpPr>
        <p:spPr>
          <a:xfrm>
            <a:off x="640080" y="1188720"/>
            <a:ext cx="3474720" cy="1325880"/>
          </a:xfrm>
          <a:prstGeom prst="roundRect">
            <a:avLst/>
          </a:prstGeom>
          <a:solidFill>
            <a:srgbClr val="E2ECDB"/>
          </a:solidFill>
          <a:ln>
            <a:solidFill>
              <a:srgbClr val="E2E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298448"/>
            <a:ext cx="318211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Goal</a:t>
            </a:r>
          </a:p>
        </p:txBody>
      </p:sp>
      <p:sp>
        <p:nvSpPr>
          <p:cNvPr id="9" name="TextBox 8"/>
          <p:cNvSpPr txBox="1"/>
          <p:nvPr/>
        </p:nvSpPr>
        <p:spPr>
          <a:xfrm>
            <a:off x="786384" y="1664208"/>
            <a:ext cx="3182112" cy="75895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Estimate sunflower-seed pile weight from a photo using a provided detector.</a:t>
            </a:r>
          </a:p>
        </p:txBody>
      </p:sp>
      <p:sp>
        <p:nvSpPr>
          <p:cNvPr id="10" name="Rounded Rectangle 9"/>
          <p:cNvSpPr/>
          <p:nvPr/>
        </p:nvSpPr>
        <p:spPr>
          <a:xfrm>
            <a:off x="4343400" y="1188720"/>
            <a:ext cx="3474720" cy="132588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1298448"/>
            <a:ext cx="318211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Best feature</a:t>
            </a:r>
          </a:p>
        </p:txBody>
      </p:sp>
      <p:sp>
        <p:nvSpPr>
          <p:cNvPr id="12" name="TextBox 11"/>
          <p:cNvSpPr txBox="1"/>
          <p:nvPr/>
        </p:nvSpPr>
        <p:spPr>
          <a:xfrm>
            <a:off x="4489704" y="1664208"/>
            <a:ext cx="3182112" cy="75895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Count boxes classified as sunflower × calibrated grams-per-seed constant.</a:t>
            </a:r>
          </a:p>
        </p:txBody>
      </p:sp>
      <p:sp>
        <p:nvSpPr>
          <p:cNvPr id="13" name="Rounded Rectangle 12"/>
          <p:cNvSpPr/>
          <p:nvPr/>
        </p:nvSpPr>
        <p:spPr>
          <a:xfrm>
            <a:off x="8046720" y="1188720"/>
            <a:ext cx="3474720" cy="13258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3024" y="1298448"/>
            <a:ext cx="318211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Current evidence</a:t>
            </a:r>
          </a:p>
        </p:txBody>
      </p:sp>
      <p:sp>
        <p:nvSpPr>
          <p:cNvPr id="15" name="TextBox 14"/>
          <p:cNvSpPr txBox="1"/>
          <p:nvPr/>
        </p:nvSpPr>
        <p:spPr>
          <a:xfrm>
            <a:off x="8193024" y="1664208"/>
            <a:ext cx="3182112" cy="75895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8 original piles (10–24 g), teammate repeat and five exploratory larger piles.</a:t>
            </a:r>
          </a:p>
        </p:txBody>
      </p:sp>
      <p:sp>
        <p:nvSpPr>
          <p:cNvPr id="16" name="TextBox 15"/>
          <p:cNvSpPr txBox="1"/>
          <p:nvPr/>
        </p:nvSpPr>
        <p:spPr>
          <a:xfrm>
            <a:off x="777240" y="2971800"/>
            <a:ext cx="5303520" cy="320040"/>
          </a:xfrm>
          <a:prstGeom prst="rect">
            <a:avLst/>
          </a:prstGeom>
          <a:noFill/>
        </p:spPr>
        <p:txBody>
          <a:bodyPr wrap="square" lIns="54864" rIns="54864" tIns="36576" bIns="36576">
            <a:spAutoFit/>
          </a:bodyPr>
          <a:lstStyle/>
          <a:p>
            <a:pPr algn="l">
              <a:spcAft>
                <a:spcPts val="500"/>
              </a:spcAft>
              <a:defRPr sz="1900" b="1" i="0">
                <a:solidFill>
                  <a:srgbClr val="2D5B3F"/>
                </a:solidFill>
                <a:latin typeface="Aptos"/>
              </a:defRPr>
            </a:pPr>
            <a:r>
              <a:t>Key findings</a:t>
            </a:r>
          </a:p>
        </p:txBody>
      </p:sp>
      <p:sp>
        <p:nvSpPr>
          <p:cNvPr id="17" name="TextBox 16"/>
          <p:cNvSpPr txBox="1"/>
          <p:nvPr/>
        </p:nvSpPr>
        <p:spPr>
          <a:xfrm>
            <a:off x="822960" y="3429000"/>
            <a:ext cx="6949440" cy="2286000"/>
          </a:xfrm>
          <a:prstGeom prst="rect">
            <a:avLst/>
          </a:prstGeom>
          <a:noFill/>
        </p:spPr>
        <p:txBody>
          <a:bodyPr wrap="square" lIns="54864" rIns="54864" tIns="36576" bIns="36576">
            <a:spAutoFit/>
          </a:bodyPr>
          <a:lstStyle/>
          <a:p>
            <a:pPr algn="l">
              <a:spcAft>
                <a:spcPts val="500"/>
              </a:spcAft>
              <a:defRPr sz="1500" b="0" i="0">
                <a:solidFill>
                  <a:srgbClr val="253027"/>
                </a:solidFill>
                <a:latin typeface="Aptos"/>
              </a:defRPr>
            </a:pPr>
            <a:r>
              <a:t>•  0.05294 g/seed — calibrated on the original 8 piles.</a:t>
            </a:r>
          </a:p>
          <a:p>
            <a:pPr algn="l">
              <a:spcAft>
                <a:spcPts val="500"/>
              </a:spcAft>
              <a:defRPr sz="1500" b="0" i="0">
                <a:solidFill>
                  <a:srgbClr val="253027"/>
                </a:solidFill>
                <a:latin typeface="Aptos"/>
              </a:defRPr>
            </a:pPr>
            <a:r>
              <a:t>•  ±10.0% — 95% prediction interval for one new photo in the tested setup.</a:t>
            </a:r>
          </a:p>
          <a:p>
            <a:pPr algn="l">
              <a:spcAft>
                <a:spcPts val="500"/>
              </a:spcAft>
              <a:defRPr sz="1500" b="0" i="0">
                <a:solidFill>
                  <a:srgbClr val="253027"/>
                </a:solidFill>
                <a:latin typeface="Aptos"/>
              </a:defRPr>
            </a:pPr>
            <a:r>
              <a:t>•  4.0% — relative spread after image-scale standardisation.</a:t>
            </a:r>
          </a:p>
          <a:p>
            <a:pPr algn="l">
              <a:spcAft>
                <a:spcPts val="500"/>
              </a:spcAft>
              <a:defRPr sz="1500" b="0" i="0">
                <a:solidFill>
                  <a:srgbClr val="253027"/>
                </a:solidFill>
                <a:latin typeface="Aptos"/>
              </a:defRPr>
            </a:pPr>
            <a:r>
              <a:t>•  17–36% fewer detections when seeds touched.</a:t>
            </a:r>
          </a:p>
        </p:txBody>
      </p:sp>
      <p:sp>
        <p:nvSpPr>
          <p:cNvPr id="18" name="Oval 17"/>
          <p:cNvSpPr/>
          <p:nvPr/>
        </p:nvSpPr>
        <p:spPr>
          <a:xfrm>
            <a:off x="9674352" y="4136745"/>
            <a:ext cx="175564" cy="321868"/>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20250000">
            <a:off x="9648180" y="4268317"/>
            <a:ext cx="175564" cy="321868"/>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18900000">
            <a:off x="9573651" y="4379859"/>
            <a:ext cx="175564" cy="321868"/>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rot="17550000">
            <a:off x="9462109" y="4454388"/>
            <a:ext cx="175564" cy="321868"/>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rot="16200000">
            <a:off x="9330537" y="4480560"/>
            <a:ext cx="175564" cy="321868"/>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rot="14850000">
            <a:off x="9198965" y="4454388"/>
            <a:ext cx="175564" cy="321868"/>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rot="13500000">
            <a:off x="9087424" y="4379859"/>
            <a:ext cx="175564" cy="321868"/>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rot="12150000">
            <a:off x="9012894" y="4268317"/>
            <a:ext cx="175564" cy="321868"/>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rot="10800000">
            <a:off x="8986723" y="4136745"/>
            <a:ext cx="175564" cy="321868"/>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rot="9450000">
            <a:off x="9012894" y="4005173"/>
            <a:ext cx="175564" cy="321868"/>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rot="8100000">
            <a:off x="9087424" y="3893632"/>
            <a:ext cx="175564" cy="321868"/>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rot="6750000">
            <a:off x="9198965" y="3819102"/>
            <a:ext cx="175564" cy="321868"/>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rot="5400000">
            <a:off x="9330537" y="3792931"/>
            <a:ext cx="175564" cy="321868"/>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rot="4050000">
            <a:off x="9462109" y="3819102"/>
            <a:ext cx="175564" cy="321868"/>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rot="2700000">
            <a:off x="9573651" y="3893632"/>
            <a:ext cx="175564" cy="321868"/>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rot="1350000">
            <a:off x="9648180" y="4005173"/>
            <a:ext cx="175564" cy="321868"/>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176918" y="4056278"/>
            <a:ext cx="482803" cy="482803"/>
          </a:xfrm>
          <a:prstGeom prst="ellipse">
            <a:avLst/>
          </a:prstGeom>
          <a:solidFill>
            <a:srgbClr val="5C3D23"/>
          </a:solidFill>
          <a:ln>
            <a:solidFill>
              <a:srgbClr val="5C3D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542678" y="4283049"/>
            <a:ext cx="29260" cy="29260"/>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516133" y="4364745"/>
            <a:ext cx="29260" cy="29260"/>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446639" y="4415235"/>
            <a:ext cx="29260" cy="29260"/>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360739" y="4415235"/>
            <a:ext cx="29260" cy="29260"/>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291245" y="4364745"/>
            <a:ext cx="29260" cy="29260"/>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264700" y="4283049"/>
            <a:ext cx="29260" cy="29260"/>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291245" y="4201354"/>
            <a:ext cx="29260" cy="29260"/>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360739" y="4150863"/>
            <a:ext cx="29260" cy="29260"/>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446639" y="4150863"/>
            <a:ext cx="29260" cy="29260"/>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516133" y="4201354"/>
            <a:ext cx="29260" cy="29260"/>
          </a:xfrm>
          <a:prstGeom prst="ellipse">
            <a:avLst/>
          </a:prstGeom>
          <a:solidFill>
            <a:srgbClr val="D7AC65"/>
          </a:solidFill>
          <a:ln>
            <a:solidFill>
              <a:srgbClr val="D7AC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72400" y="5074920"/>
            <a:ext cx="3383280" cy="594360"/>
          </a:xfrm>
          <a:prstGeom prst="rect">
            <a:avLst/>
          </a:prstGeom>
          <a:noFill/>
        </p:spPr>
        <p:txBody>
          <a:bodyPr wrap="square" lIns="54864" rIns="54864" tIns="36576" bIns="36576">
            <a:spAutoFit/>
          </a:bodyPr>
          <a:lstStyle/>
          <a:p>
            <a:pPr algn="ctr">
              <a:spcAft>
                <a:spcPts val="500"/>
              </a:spcAft>
              <a:defRPr sz="1500" b="1" i="0">
                <a:solidFill>
                  <a:srgbClr val="2D5B3F"/>
                </a:solidFill>
                <a:latin typeface="Aptos"/>
              </a:defRPr>
            </a:pPr>
            <a:r>
              <a:t>Standardise the image and procedure before trusting the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Why estimate weight from a photo?</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PROBLEM</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3</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Rounded Rectangle 6"/>
          <p:cNvSpPr/>
          <p:nvPr/>
        </p:nvSpPr>
        <p:spPr>
          <a:xfrm>
            <a:off x="640080" y="1828800"/>
            <a:ext cx="2423160" cy="1600200"/>
          </a:xfrm>
          <a:prstGeom prst="roundRect">
            <a:avLst/>
          </a:prstGeom>
          <a:solidFill>
            <a:srgbClr val="E2ECDB"/>
          </a:solidFill>
          <a:ln>
            <a:solidFill>
              <a:srgbClr val="E2E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938528"/>
            <a:ext cx="213055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1  Spread</a:t>
            </a:r>
          </a:p>
        </p:txBody>
      </p:sp>
      <p:sp>
        <p:nvSpPr>
          <p:cNvPr id="9" name="TextBox 8"/>
          <p:cNvSpPr txBox="1"/>
          <p:nvPr/>
        </p:nvSpPr>
        <p:spPr>
          <a:xfrm>
            <a:off x="786384" y="2304288"/>
            <a:ext cx="2130552" cy="1033271"/>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Separate seeds on a plain white background</a:t>
            </a:r>
          </a:p>
        </p:txBody>
      </p:sp>
      <p:sp>
        <p:nvSpPr>
          <p:cNvPr id="10" name="TextBox 9"/>
          <p:cNvSpPr txBox="1"/>
          <p:nvPr/>
        </p:nvSpPr>
        <p:spPr>
          <a:xfrm>
            <a:off x="3108960" y="2423160"/>
            <a:ext cx="320040" cy="365760"/>
          </a:xfrm>
          <a:prstGeom prst="rect">
            <a:avLst/>
          </a:prstGeom>
          <a:noFill/>
        </p:spPr>
        <p:txBody>
          <a:bodyPr wrap="square" lIns="54864" rIns="54864" tIns="36576" bIns="36576">
            <a:spAutoFit/>
          </a:bodyPr>
          <a:lstStyle/>
          <a:p>
            <a:pPr algn="ctr">
              <a:spcAft>
                <a:spcPts val="500"/>
              </a:spcAft>
              <a:defRPr sz="2800" b="1" i="0">
                <a:solidFill>
                  <a:srgbClr val="DC8F14"/>
                </a:solidFill>
                <a:latin typeface="Aptos"/>
              </a:defRPr>
            </a:pPr>
            <a:r>
              <a:t>›</a:t>
            </a:r>
          </a:p>
        </p:txBody>
      </p:sp>
      <p:sp>
        <p:nvSpPr>
          <p:cNvPr id="11" name="Rounded Rectangle 10"/>
          <p:cNvSpPr/>
          <p:nvPr/>
        </p:nvSpPr>
        <p:spPr>
          <a:xfrm>
            <a:off x="3520439" y="1828800"/>
            <a:ext cx="2423160" cy="160020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66744" y="1938528"/>
            <a:ext cx="213055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2  Photograph</a:t>
            </a:r>
          </a:p>
        </p:txBody>
      </p:sp>
      <p:sp>
        <p:nvSpPr>
          <p:cNvPr id="13" name="TextBox 12"/>
          <p:cNvSpPr txBox="1"/>
          <p:nvPr/>
        </p:nvSpPr>
        <p:spPr>
          <a:xfrm>
            <a:off x="3666744" y="2304288"/>
            <a:ext cx="2130552" cy="1033271"/>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Markers visible; top-down and level</a:t>
            </a:r>
          </a:p>
        </p:txBody>
      </p:sp>
      <p:sp>
        <p:nvSpPr>
          <p:cNvPr id="14" name="TextBox 13"/>
          <p:cNvSpPr txBox="1"/>
          <p:nvPr/>
        </p:nvSpPr>
        <p:spPr>
          <a:xfrm>
            <a:off x="5989320" y="2423160"/>
            <a:ext cx="320040" cy="365760"/>
          </a:xfrm>
          <a:prstGeom prst="rect">
            <a:avLst/>
          </a:prstGeom>
          <a:noFill/>
        </p:spPr>
        <p:txBody>
          <a:bodyPr wrap="square" lIns="54864" rIns="54864" tIns="36576" bIns="36576">
            <a:spAutoFit/>
          </a:bodyPr>
          <a:lstStyle/>
          <a:p>
            <a:pPr algn="ctr">
              <a:spcAft>
                <a:spcPts val="500"/>
              </a:spcAft>
              <a:defRPr sz="2800" b="1" i="0">
                <a:solidFill>
                  <a:srgbClr val="DC8F14"/>
                </a:solidFill>
                <a:latin typeface="Aptos"/>
              </a:defRPr>
            </a:pPr>
            <a:r>
              <a:t>›</a:t>
            </a:r>
          </a:p>
        </p:txBody>
      </p:sp>
      <p:sp>
        <p:nvSpPr>
          <p:cNvPr id="15" name="Rounded Rectangle 14"/>
          <p:cNvSpPr/>
          <p:nvPr/>
        </p:nvSpPr>
        <p:spPr>
          <a:xfrm>
            <a:off x="6400800" y="1828800"/>
            <a:ext cx="2423160" cy="16002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4" y="1938528"/>
            <a:ext cx="213055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3  Detect</a:t>
            </a:r>
          </a:p>
        </p:txBody>
      </p:sp>
      <p:sp>
        <p:nvSpPr>
          <p:cNvPr id="17" name="TextBox 16"/>
          <p:cNvSpPr txBox="1"/>
          <p:nvPr/>
        </p:nvSpPr>
        <p:spPr>
          <a:xfrm>
            <a:off x="6547104" y="2304288"/>
            <a:ext cx="2130552" cy="1033271"/>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Count sunflower-labelled boxes</a:t>
            </a:r>
          </a:p>
        </p:txBody>
      </p:sp>
      <p:sp>
        <p:nvSpPr>
          <p:cNvPr id="18" name="TextBox 17"/>
          <p:cNvSpPr txBox="1"/>
          <p:nvPr/>
        </p:nvSpPr>
        <p:spPr>
          <a:xfrm>
            <a:off x="8869680" y="2423160"/>
            <a:ext cx="320040" cy="365760"/>
          </a:xfrm>
          <a:prstGeom prst="rect">
            <a:avLst/>
          </a:prstGeom>
          <a:noFill/>
        </p:spPr>
        <p:txBody>
          <a:bodyPr wrap="square" lIns="54864" rIns="54864" tIns="36576" bIns="36576">
            <a:spAutoFit/>
          </a:bodyPr>
          <a:lstStyle/>
          <a:p>
            <a:pPr algn="ctr">
              <a:spcAft>
                <a:spcPts val="500"/>
              </a:spcAft>
              <a:defRPr sz="2800" b="1" i="0">
                <a:solidFill>
                  <a:srgbClr val="DC8F14"/>
                </a:solidFill>
                <a:latin typeface="Aptos"/>
              </a:defRPr>
            </a:pPr>
            <a:r>
              <a:t>›</a:t>
            </a:r>
          </a:p>
        </p:txBody>
      </p:sp>
      <p:sp>
        <p:nvSpPr>
          <p:cNvPr id="19" name="Rounded Rectangle 18"/>
          <p:cNvSpPr/>
          <p:nvPr/>
        </p:nvSpPr>
        <p:spPr>
          <a:xfrm>
            <a:off x="9281159" y="1828800"/>
            <a:ext cx="2423160" cy="1600200"/>
          </a:xfrm>
          <a:prstGeom prst="roundRect">
            <a:avLst/>
          </a:prstGeom>
          <a:solidFill>
            <a:srgbClr val="E2ECDB"/>
          </a:solidFill>
          <a:ln>
            <a:solidFill>
              <a:srgbClr val="E2E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7463" y="1938528"/>
            <a:ext cx="213055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4  Estimate</a:t>
            </a:r>
          </a:p>
        </p:txBody>
      </p:sp>
      <p:sp>
        <p:nvSpPr>
          <p:cNvPr id="21" name="TextBox 20"/>
          <p:cNvSpPr txBox="1"/>
          <p:nvPr/>
        </p:nvSpPr>
        <p:spPr>
          <a:xfrm>
            <a:off x="9427463" y="2304288"/>
            <a:ext cx="2130552" cy="1033271"/>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Count × calibrated constant</a:t>
            </a:r>
          </a:p>
        </p:txBody>
      </p:sp>
      <p:sp>
        <p:nvSpPr>
          <p:cNvPr id="22" name="Rounded Rectangle 21"/>
          <p:cNvSpPr/>
          <p:nvPr/>
        </p:nvSpPr>
        <p:spPr>
          <a:xfrm>
            <a:off x="731520" y="4114800"/>
            <a:ext cx="5120640" cy="12344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4224528"/>
            <a:ext cx="4828031"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Client need</a:t>
            </a:r>
          </a:p>
        </p:txBody>
      </p:sp>
      <p:sp>
        <p:nvSpPr>
          <p:cNvPr id="24" name="TextBox 23"/>
          <p:cNvSpPr txBox="1"/>
          <p:nvPr/>
        </p:nvSpPr>
        <p:spPr>
          <a:xfrm>
            <a:off x="877824" y="4590288"/>
            <a:ext cx="4828031" cy="667512"/>
          </a:xfrm>
          <a:prstGeom prst="rect">
            <a:avLst/>
          </a:prstGeom>
          <a:noFill/>
        </p:spPr>
        <p:txBody>
          <a:bodyPr wrap="square" lIns="54864" rIns="54864" tIns="36576" bIns="36576">
            <a:spAutoFit/>
          </a:bodyPr>
          <a:lstStyle/>
          <a:p>
            <a:pPr algn="l">
              <a:spcAft>
                <a:spcPts val="500"/>
              </a:spcAft>
              <a:defRPr sz="1500" b="0" i="0">
                <a:solidFill>
                  <a:srgbClr val="253027"/>
                </a:solidFill>
                <a:latin typeface="Aptos"/>
              </a:defRPr>
            </a:pPr>
            <a:r>
              <a:t>A fast estimate with a defensible uncertainty range—not a perfect count of every seed.</a:t>
            </a:r>
          </a:p>
        </p:txBody>
      </p:sp>
      <p:sp>
        <p:nvSpPr>
          <p:cNvPr id="25" name="Rounded Rectangle 24"/>
          <p:cNvSpPr/>
          <p:nvPr/>
        </p:nvSpPr>
        <p:spPr>
          <a:xfrm>
            <a:off x="6172200" y="4114800"/>
            <a:ext cx="5120640" cy="123444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8504" y="4224528"/>
            <a:ext cx="4828031"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Course focus</a:t>
            </a:r>
          </a:p>
        </p:txBody>
      </p:sp>
      <p:sp>
        <p:nvSpPr>
          <p:cNvPr id="27" name="TextBox 26"/>
          <p:cNvSpPr txBox="1"/>
          <p:nvPr/>
        </p:nvSpPr>
        <p:spPr>
          <a:xfrm>
            <a:off x="6318504" y="4590288"/>
            <a:ext cx="4828031" cy="667512"/>
          </a:xfrm>
          <a:prstGeom prst="rect">
            <a:avLst/>
          </a:prstGeom>
          <a:noFill/>
        </p:spPr>
        <p:txBody>
          <a:bodyPr wrap="square" lIns="54864" rIns="54864" tIns="36576" bIns="36576">
            <a:spAutoFit/>
          </a:bodyPr>
          <a:lstStyle/>
          <a:p>
            <a:pPr algn="l">
              <a:spcAft>
                <a:spcPts val="500"/>
              </a:spcAft>
              <a:defRPr sz="1500" b="0" i="0">
                <a:solidFill>
                  <a:srgbClr val="253027"/>
                </a:solidFill>
                <a:latin typeface="Aptos"/>
              </a:defRPr>
            </a:pPr>
            <a:r>
              <a:t>Data-collection design, measured uncertainty and justified conclusions—not retraining the detector.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Plan and procedure</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METHOD</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4</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TextBox 6"/>
          <p:cNvSpPr txBox="1"/>
          <p:nvPr/>
        </p:nvSpPr>
        <p:spPr>
          <a:xfrm>
            <a:off x="731520" y="1143000"/>
            <a:ext cx="4754880" cy="320040"/>
          </a:xfrm>
          <a:prstGeom prst="rect">
            <a:avLst/>
          </a:prstGeom>
          <a:noFill/>
        </p:spPr>
        <p:txBody>
          <a:bodyPr wrap="square" lIns="54864" rIns="54864" tIns="36576" bIns="36576">
            <a:spAutoFit/>
          </a:bodyPr>
          <a:lstStyle/>
          <a:p>
            <a:pPr algn="l">
              <a:spcAft>
                <a:spcPts val="500"/>
              </a:spcAft>
              <a:defRPr sz="1900" b="1" i="0">
                <a:solidFill>
                  <a:srgbClr val="2D5B3F"/>
                </a:solidFill>
                <a:latin typeface="Aptos"/>
              </a:defRPr>
            </a:pPr>
            <a:r>
              <a:t>Design principles</a:t>
            </a:r>
          </a:p>
        </p:txBody>
      </p:sp>
      <p:sp>
        <p:nvSpPr>
          <p:cNvPr id="8" name="TextBox 7"/>
          <p:cNvSpPr txBox="1"/>
          <p:nvPr/>
        </p:nvSpPr>
        <p:spPr>
          <a:xfrm>
            <a:off x="777240" y="1600200"/>
            <a:ext cx="4983480" cy="2514600"/>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  One seed lot, one white background and the same balance.</a:t>
            </a:r>
          </a:p>
          <a:p>
            <a:pPr algn="l">
              <a:spcAft>
                <a:spcPts val="500"/>
              </a:spcAft>
              <a:defRPr sz="1400" b="0" i="0">
                <a:solidFill>
                  <a:srgbClr val="253027"/>
                </a:solidFill>
                <a:latin typeface="Aptos"/>
              </a:defRPr>
            </a:pPr>
            <a:r>
              <a:t>•  Cover a range of pile weights; unique IDs and collector/device recorded.</a:t>
            </a:r>
          </a:p>
          <a:p>
            <a:pPr algn="l">
              <a:spcAft>
                <a:spcPts val="500"/>
              </a:spcAft>
              <a:defRPr sz="1400" b="0" i="0">
                <a:solidFill>
                  <a:srgbClr val="253027"/>
                </a:solidFill>
                <a:latin typeface="Aptos"/>
              </a:defRPr>
            </a:pPr>
            <a:r>
              <a:t>•  Focus on spacing, scale/height and detector behaviour.</a:t>
            </a:r>
          </a:p>
          <a:p>
            <a:pPr algn="l">
              <a:spcAft>
                <a:spcPts val="500"/>
              </a:spcAft>
              <a:defRPr sz="1400" b="0" i="0">
                <a:solidFill>
                  <a:srgbClr val="253027"/>
                </a:solidFill>
                <a:latin typeface="Aptos"/>
              </a:defRPr>
            </a:pPr>
            <a:r>
              <a:t>•  Take a second photo after moving the phone away and back.</a:t>
            </a:r>
          </a:p>
        </p:txBody>
      </p:sp>
      <p:sp>
        <p:nvSpPr>
          <p:cNvPr id="9" name="TextBox 8"/>
          <p:cNvSpPr txBox="1"/>
          <p:nvPr/>
        </p:nvSpPr>
        <p:spPr>
          <a:xfrm>
            <a:off x="6080760" y="1143000"/>
            <a:ext cx="4846320" cy="320040"/>
          </a:xfrm>
          <a:prstGeom prst="rect">
            <a:avLst/>
          </a:prstGeom>
          <a:noFill/>
        </p:spPr>
        <p:txBody>
          <a:bodyPr wrap="square" lIns="54864" rIns="54864" tIns="36576" bIns="36576">
            <a:spAutoFit/>
          </a:bodyPr>
          <a:lstStyle/>
          <a:p>
            <a:pPr algn="l">
              <a:spcAft>
                <a:spcPts val="500"/>
              </a:spcAft>
              <a:defRPr sz="1900" b="1" i="0">
                <a:solidFill>
                  <a:srgbClr val="2D5B3F"/>
                </a:solidFill>
                <a:latin typeface="Aptos"/>
              </a:defRPr>
            </a:pPr>
            <a:r>
              <a:t>Procedure controls</a:t>
            </a:r>
          </a:p>
        </p:txBody>
      </p:sp>
      <p:sp>
        <p:nvSpPr>
          <p:cNvPr id="10" name="TextBox 9"/>
          <p:cNvSpPr txBox="1"/>
          <p:nvPr/>
        </p:nvSpPr>
        <p:spPr>
          <a:xfrm>
            <a:off x="6126480" y="1600200"/>
            <a:ext cx="5166360" cy="2606040"/>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  TARE before every weighing; record before and after.</a:t>
            </a:r>
          </a:p>
          <a:p>
            <a:pPr algn="l">
              <a:spcAft>
                <a:spcPts val="500"/>
              </a:spcAft>
              <a:defRPr sz="1400" b="0" i="0">
                <a:solidFill>
                  <a:srgbClr val="253027"/>
                </a:solidFill>
                <a:latin typeface="Aptos"/>
              </a:defRPr>
            </a:pPr>
            <a:r>
              <a:t>•  No seed may touch another; keep pile compact.</a:t>
            </a:r>
          </a:p>
          <a:p>
            <a:pPr algn="l">
              <a:spcAft>
                <a:spcPts val="500"/>
              </a:spcAft>
              <a:defRPr sz="1400" b="0" i="0">
                <a:solidFill>
                  <a:srgbClr val="253027"/>
                </a:solidFill>
                <a:latin typeface="Aptos"/>
              </a:defRPr>
            </a:pPr>
            <a:r>
              <a:t>•  Two 50 mm markers flat, fully visible, ≥3 cm from seeds.</a:t>
            </a:r>
          </a:p>
          <a:p>
            <a:pPr algn="l">
              <a:spcAft>
                <a:spcPts val="500"/>
              </a:spcAft>
              <a:defRPr sz="1400" b="0" i="0">
                <a:solidFill>
                  <a:srgbClr val="253027"/>
                </a:solidFill>
                <a:latin typeface="Aptos"/>
              </a:defRPr>
            </a:pPr>
            <a:r>
              <a:t>•  1× main camera, top-down, about 40 cm; phone level.</a:t>
            </a:r>
          </a:p>
          <a:p>
            <a:pPr algn="l">
              <a:spcAft>
                <a:spcPts val="500"/>
              </a:spcAft>
              <a:defRPr sz="1400" b="0" i="0">
                <a:solidFill>
                  <a:srgbClr val="253027"/>
                </a:solidFill>
                <a:latin typeface="Aptos"/>
              </a:defRPr>
            </a:pPr>
            <a:r>
              <a:t>•  Label note photographed separately; no notes, hands or objects in seed photos.</a:t>
            </a:r>
          </a:p>
        </p:txBody>
      </p:sp>
      <p:sp>
        <p:nvSpPr>
          <p:cNvPr id="11" name="Rounded Rectangle 10"/>
          <p:cNvSpPr/>
          <p:nvPr/>
        </p:nvSpPr>
        <p:spPr>
          <a:xfrm>
            <a:off x="777240" y="4572000"/>
            <a:ext cx="10424160" cy="914400"/>
          </a:xfrm>
          <a:prstGeom prst="roundRect">
            <a:avLst/>
          </a:prstGeom>
          <a:solidFill>
            <a:srgbClr val="E2ECDB"/>
          </a:solidFill>
          <a:ln>
            <a:solidFill>
              <a:srgbClr val="E2E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4681728"/>
            <a:ext cx="1013155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Why these rules?</a:t>
            </a:r>
          </a:p>
        </p:txBody>
      </p:sp>
      <p:sp>
        <p:nvSpPr>
          <p:cNvPr id="13" name="TextBox 12"/>
          <p:cNvSpPr txBox="1"/>
          <p:nvPr/>
        </p:nvSpPr>
        <p:spPr>
          <a:xfrm>
            <a:off x="923544" y="5047488"/>
            <a:ext cx="10131552" cy="347472"/>
          </a:xfrm>
          <a:prstGeom prst="rect">
            <a:avLst/>
          </a:prstGeom>
          <a:noFill/>
        </p:spPr>
        <p:txBody>
          <a:bodyPr wrap="square" lIns="54864" rIns="54864" tIns="36576" bIns="36576">
            <a:spAutoFit/>
          </a:bodyPr>
          <a:lstStyle/>
          <a:p>
            <a:pPr algn="l">
              <a:spcAft>
                <a:spcPts val="500"/>
              </a:spcAft>
              <a:defRPr sz="1500" b="0" i="0">
                <a:solidFill>
                  <a:srgbClr val="253027"/>
                </a:solidFill>
                <a:latin typeface="Aptos"/>
              </a:defRPr>
            </a:pPr>
            <a:r>
              <a:t>Each responds to a measured problem: zero drift, missed touching seeds, changing scale, false boxes and inconsistent framing.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What data did we collect?</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DATASET</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5</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Rounded Rectangle 6"/>
          <p:cNvSpPr/>
          <p:nvPr/>
        </p:nvSpPr>
        <p:spPr>
          <a:xfrm>
            <a:off x="685800" y="1234440"/>
            <a:ext cx="3429000" cy="14173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1344168"/>
            <a:ext cx="313639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Pilot • Hadi • 17 Oct</a:t>
            </a:r>
          </a:p>
        </p:txBody>
      </p:sp>
      <p:sp>
        <p:nvSpPr>
          <p:cNvPr id="9" name="TextBox 8"/>
          <p:cNvSpPr txBox="1"/>
          <p:nvPr/>
        </p:nvSpPr>
        <p:spPr>
          <a:xfrm>
            <a:off x="832104" y="1709928"/>
            <a:ext cx="3136392" cy="85039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Initial tests: a 25 g pile, repeated/touching layouts, and three hand-counted batches of 200 seeds.</a:t>
            </a:r>
          </a:p>
        </p:txBody>
      </p:sp>
      <p:sp>
        <p:nvSpPr>
          <p:cNvPr id="10" name="Rounded Rectangle 9"/>
          <p:cNvSpPr/>
          <p:nvPr/>
        </p:nvSpPr>
        <p:spPr>
          <a:xfrm>
            <a:off x="4389120" y="1234440"/>
            <a:ext cx="3429000" cy="1417320"/>
          </a:xfrm>
          <a:prstGeom prst="roundRect">
            <a:avLst/>
          </a:prstGeom>
          <a:solidFill>
            <a:srgbClr val="E2ECDB"/>
          </a:solidFill>
          <a:ln>
            <a:solidFill>
              <a:srgbClr val="E2E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35424" y="1344168"/>
            <a:ext cx="313639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Joint camera comparison • 19 Oct</a:t>
            </a:r>
          </a:p>
        </p:txBody>
      </p:sp>
      <p:sp>
        <p:nvSpPr>
          <p:cNvPr id="12" name="TextBox 11"/>
          <p:cNvSpPr txBox="1"/>
          <p:nvPr/>
        </p:nvSpPr>
        <p:spPr>
          <a:xfrm>
            <a:off x="4535424" y="1709928"/>
            <a:ext cx="3136392" cy="85039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Both team members used the same pile with both phones to explore camera/person differences (Gauge R&amp;R design).</a:t>
            </a:r>
          </a:p>
        </p:txBody>
      </p:sp>
      <p:sp>
        <p:nvSpPr>
          <p:cNvPr id="13" name="Rounded Rectangle 12"/>
          <p:cNvSpPr/>
          <p:nvPr/>
        </p:nvSpPr>
        <p:spPr>
          <a:xfrm>
            <a:off x="8092440" y="1234440"/>
            <a:ext cx="3429000" cy="141732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1344168"/>
            <a:ext cx="313639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Main collection + procedure repeat • 19–21 Oct</a:t>
            </a:r>
          </a:p>
        </p:txBody>
      </p:sp>
      <p:sp>
        <p:nvSpPr>
          <p:cNvPr id="15" name="TextBox 14"/>
          <p:cNvSpPr txBox="1"/>
          <p:nvPr/>
        </p:nvSpPr>
        <p:spPr>
          <a:xfrm>
            <a:off x="8238744" y="1709928"/>
            <a:ext cx="3136392" cy="850392"/>
          </a:xfrm>
          <a:prstGeom prst="rect">
            <a:avLst/>
          </a:prstGeom>
          <a:noFill/>
        </p:spPr>
        <p:txBody>
          <a:bodyPr wrap="square" lIns="54864" rIns="54864" tIns="36576" bIns="36576">
            <a:spAutoFit/>
          </a:bodyPr>
          <a:lstStyle/>
          <a:p>
            <a:pPr algn="l">
              <a:spcAft>
                <a:spcPts val="500"/>
              </a:spcAft>
              <a:defRPr sz="1200" b="0" i="0">
                <a:solidFill>
                  <a:srgbClr val="253027"/>
                </a:solidFill>
                <a:latin typeface="Aptos"/>
              </a:defRPr>
            </a:pPr>
            <a:r>
              <a:t>Hadi collected P01–P08 on 19 Oct. Jia followed the same written procedure for Task 4 on 21 Oct (P01–P04), then collected P09–P13 as exploratory larger piles.</a:t>
            </a:r>
          </a:p>
        </p:txBody>
      </p:sp>
      <p:sp>
        <p:nvSpPr>
          <p:cNvPr id="16" name="TextBox 15"/>
          <p:cNvSpPr txBox="1"/>
          <p:nvPr/>
        </p:nvSpPr>
        <p:spPr>
          <a:xfrm>
            <a:off x="777240" y="3063240"/>
            <a:ext cx="3383280" cy="502920"/>
          </a:xfrm>
          <a:prstGeom prst="rect">
            <a:avLst/>
          </a:prstGeom>
          <a:noFill/>
        </p:spPr>
        <p:txBody>
          <a:bodyPr wrap="square" lIns="54864" rIns="54864" tIns="36576" bIns="36576">
            <a:spAutoFit/>
          </a:bodyPr>
          <a:lstStyle/>
          <a:p>
            <a:pPr algn="l">
              <a:spcAft>
                <a:spcPts val="500"/>
              </a:spcAft>
              <a:defRPr sz="2200" b="1" i="0">
                <a:solidFill>
                  <a:srgbClr val="253027"/>
                </a:solidFill>
                <a:latin typeface="Aptos"/>
              </a:defRPr>
            </a:pPr>
            <a:r>
              <a:t>18 new photo rows</a:t>
            </a:r>
          </a:p>
        </p:txBody>
      </p:sp>
      <p:sp>
        <p:nvSpPr>
          <p:cNvPr id="17" name="TextBox 16"/>
          <p:cNvSpPr txBox="1"/>
          <p:nvPr/>
        </p:nvSpPr>
        <p:spPr>
          <a:xfrm>
            <a:off x="822960" y="3657600"/>
            <a:ext cx="3383280" cy="320040"/>
          </a:xfrm>
          <a:prstGeom prst="rect">
            <a:avLst/>
          </a:prstGeom>
          <a:noFill/>
        </p:spPr>
        <p:txBody>
          <a:bodyPr wrap="square" lIns="54864" rIns="54864" tIns="36576" bIns="36576">
            <a:spAutoFit/>
          </a:bodyPr>
          <a:lstStyle/>
          <a:p>
            <a:pPr algn="l">
              <a:spcAft>
                <a:spcPts val="500"/>
              </a:spcAft>
              <a:defRPr sz="1300" b="0" i="0">
                <a:solidFill>
                  <a:srgbClr val="687063"/>
                </a:solidFill>
                <a:latin typeface="Aptos"/>
              </a:defRPr>
            </a:pPr>
            <a:r>
              <a:t>Appended to samples.csv</a:t>
            </a:r>
          </a:p>
        </p:txBody>
      </p:sp>
      <p:sp>
        <p:nvSpPr>
          <p:cNvPr id="18" name="TextBox 17"/>
          <p:cNvSpPr txBox="1"/>
          <p:nvPr/>
        </p:nvSpPr>
        <p:spPr>
          <a:xfrm>
            <a:off x="4389120" y="3063240"/>
            <a:ext cx="6766560" cy="2103120"/>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  The original calibration and ±10% prediction interval use Hadi's 8 piles in the 10–24 g range.</a:t>
            </a:r>
          </a:p>
          <a:p>
            <a:pPr algn="l">
              <a:spcAft>
                <a:spcPts val="500"/>
              </a:spcAft>
              <a:defRPr sz="1400" b="0" i="0">
                <a:solidFill>
                  <a:srgbClr val="253027"/>
                </a:solidFill>
                <a:latin typeface="Aptos"/>
              </a:defRPr>
            </a:pPr>
            <a:r>
              <a:t>•  Jia's Task 4 uses another phone/person; it is a procedure repeat, not automatically a new calibration.</a:t>
            </a:r>
          </a:p>
          <a:p>
            <a:pPr algn="l">
              <a:spcAft>
                <a:spcPts val="500"/>
              </a:spcAft>
              <a:defRPr sz="1400" b="0" i="0">
                <a:solidFill>
                  <a:srgbClr val="253027"/>
                </a:solidFill>
                <a:latin typeface="Aptos"/>
              </a:defRPr>
            </a:pPr>
            <a:r>
              <a:t>•  P09–P13 extend the observed weight range, but remain exploratory until detection results and validation are analysed.</a:t>
            </a:r>
          </a:p>
        </p:txBody>
      </p:sp>
      <p:sp>
        <p:nvSpPr>
          <p:cNvPr id="19" name="TextBox 18"/>
          <p:cNvSpPr txBox="1"/>
          <p:nvPr/>
        </p:nvSpPr>
        <p:spPr>
          <a:xfrm>
            <a:off x="822960" y="5257800"/>
            <a:ext cx="10515600" cy="411480"/>
          </a:xfrm>
          <a:prstGeom prst="rect">
            <a:avLst/>
          </a:prstGeom>
          <a:noFill/>
        </p:spPr>
        <p:txBody>
          <a:bodyPr wrap="square" lIns="54864" rIns="54864" tIns="36576" bIns="36576">
            <a:spAutoFit/>
          </a:bodyPr>
          <a:lstStyle/>
          <a:p>
            <a:pPr algn="l">
              <a:spcAft>
                <a:spcPts val="500"/>
              </a:spcAft>
              <a:defRPr sz="1300" b="1" i="0">
                <a:solidFill>
                  <a:srgbClr val="A94631"/>
                </a:solidFill>
                <a:latin typeface="Aptos"/>
              </a:defRPr>
            </a:pPr>
            <a:r>
              <a:t>P14 and P15 were not completed; they are not counted as measured samples.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Errors we could measure directly</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FINDINGS</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6</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TextBox 6"/>
          <p:cNvSpPr txBox="1"/>
          <p:nvPr/>
        </p:nvSpPr>
        <p:spPr>
          <a:xfrm>
            <a:off x="731520" y="1143000"/>
            <a:ext cx="5303520" cy="320040"/>
          </a:xfrm>
          <a:prstGeom prst="rect">
            <a:avLst/>
          </a:prstGeom>
          <a:noFill/>
        </p:spPr>
        <p:txBody>
          <a:bodyPr wrap="square" lIns="54864" rIns="54864" tIns="36576" bIns="36576">
            <a:spAutoFit/>
          </a:bodyPr>
          <a:lstStyle/>
          <a:p>
            <a:pPr algn="l">
              <a:spcAft>
                <a:spcPts val="500"/>
              </a:spcAft>
              <a:defRPr sz="1900" b="1" i="0">
                <a:solidFill>
                  <a:srgbClr val="2D5B3F"/>
                </a:solidFill>
                <a:latin typeface="Aptos"/>
              </a:defRPr>
            </a:pPr>
            <a:r>
              <a:t>Controlled tests</a:t>
            </a:r>
          </a:p>
        </p:txBody>
      </p:sp>
      <p:sp>
        <p:nvSpPr>
          <p:cNvPr id="8" name="TextBox 7"/>
          <p:cNvSpPr txBox="1"/>
          <p:nvPr/>
        </p:nvSpPr>
        <p:spPr>
          <a:xfrm>
            <a:off x="777240" y="1783080"/>
            <a:ext cx="2240280" cy="256032"/>
          </a:xfrm>
          <a:prstGeom prst="rect">
            <a:avLst/>
          </a:prstGeom>
          <a:noFill/>
        </p:spPr>
        <p:txBody>
          <a:bodyPr wrap="square" lIns="54864" rIns="54864" tIns="36576" bIns="36576">
            <a:spAutoFit/>
          </a:bodyPr>
          <a:lstStyle/>
          <a:p>
            <a:pPr algn="l">
              <a:spcAft>
                <a:spcPts val="500"/>
              </a:spcAft>
              <a:defRPr sz="1200" b="1" i="0">
                <a:solidFill>
                  <a:srgbClr val="253027"/>
                </a:solidFill>
                <a:latin typeface="Aptos"/>
              </a:defRPr>
            </a:pPr>
            <a:r>
              <a:t>Touching seeds (pilot)</a:t>
            </a:r>
          </a:p>
        </p:txBody>
      </p:sp>
      <p:sp>
        <p:nvSpPr>
          <p:cNvPr id="9" name="Rounded Rectangle 8"/>
          <p:cNvSpPr/>
          <p:nvPr/>
        </p:nvSpPr>
        <p:spPr>
          <a:xfrm>
            <a:off x="3017520" y="1819656"/>
            <a:ext cx="2468879" cy="201168"/>
          </a:xfrm>
          <a:prstGeom prst="roundRect">
            <a:avLst/>
          </a:prstGeom>
          <a:solidFill>
            <a:srgbClr val="E2E1D8"/>
          </a:solidFill>
          <a:ln>
            <a:solidFill>
              <a:srgbClr val="E2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17520" y="1819656"/>
            <a:ext cx="1975103" cy="201168"/>
          </a:xfrm>
          <a:prstGeom prst="roundRect">
            <a:avLst/>
          </a:prstGeom>
          <a:solidFill>
            <a:srgbClr val="A94631"/>
          </a:solidFill>
          <a:ln>
            <a:solidFill>
              <a:srgbClr val="A946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13831" y="1773936"/>
            <a:ext cx="566928" cy="246888"/>
          </a:xfrm>
          <a:prstGeom prst="rect">
            <a:avLst/>
          </a:prstGeom>
          <a:noFill/>
        </p:spPr>
        <p:txBody>
          <a:bodyPr wrap="square" lIns="54864" rIns="54864" tIns="36576" bIns="36576">
            <a:spAutoFit/>
          </a:bodyPr>
          <a:lstStyle/>
          <a:p>
            <a:pPr algn="r">
              <a:spcAft>
                <a:spcPts val="500"/>
              </a:spcAft>
              <a:defRPr sz="1100" b="1" i="0">
                <a:solidFill>
                  <a:srgbClr val="2D5B3F"/>
                </a:solidFill>
                <a:latin typeface="Aptos"/>
              </a:defRPr>
            </a:pPr>
            <a:r>
              <a:t>~32% fewer</a:t>
            </a:r>
          </a:p>
        </p:txBody>
      </p:sp>
      <p:sp>
        <p:nvSpPr>
          <p:cNvPr id="12" name="TextBox 11"/>
          <p:cNvSpPr txBox="1"/>
          <p:nvPr/>
        </p:nvSpPr>
        <p:spPr>
          <a:xfrm>
            <a:off x="777240" y="2423160"/>
            <a:ext cx="2240280" cy="256032"/>
          </a:xfrm>
          <a:prstGeom prst="rect">
            <a:avLst/>
          </a:prstGeom>
          <a:noFill/>
        </p:spPr>
        <p:txBody>
          <a:bodyPr wrap="square" lIns="54864" rIns="54864" tIns="36576" bIns="36576">
            <a:spAutoFit/>
          </a:bodyPr>
          <a:lstStyle/>
          <a:p>
            <a:pPr algn="l">
              <a:spcAft>
                <a:spcPts val="500"/>
              </a:spcAft>
              <a:defRPr sz="1200" b="1" i="0">
                <a:solidFill>
                  <a:srgbClr val="253027"/>
                </a:solidFill>
                <a:latin typeface="Aptos"/>
              </a:defRPr>
            </a:pPr>
            <a:r>
              <a:t>Touching seeds (main)</a:t>
            </a:r>
          </a:p>
        </p:txBody>
      </p:sp>
      <p:sp>
        <p:nvSpPr>
          <p:cNvPr id="13" name="Rounded Rectangle 12"/>
          <p:cNvSpPr/>
          <p:nvPr/>
        </p:nvSpPr>
        <p:spPr>
          <a:xfrm>
            <a:off x="3017520" y="2459736"/>
            <a:ext cx="2468879" cy="201168"/>
          </a:xfrm>
          <a:prstGeom prst="roundRect">
            <a:avLst/>
          </a:prstGeom>
          <a:solidFill>
            <a:srgbClr val="E2E1D8"/>
          </a:solidFill>
          <a:ln>
            <a:solidFill>
              <a:srgbClr val="E2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17520" y="2459736"/>
            <a:ext cx="1049274" cy="201168"/>
          </a:xfrm>
          <a:prstGeom prst="roundRect">
            <a:avLst/>
          </a:prstGeom>
          <a:solidFill>
            <a:srgbClr val="A94631"/>
          </a:solidFill>
          <a:ln>
            <a:solidFill>
              <a:srgbClr val="A946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13831" y="2414016"/>
            <a:ext cx="566928" cy="246888"/>
          </a:xfrm>
          <a:prstGeom prst="rect">
            <a:avLst/>
          </a:prstGeom>
          <a:noFill/>
        </p:spPr>
        <p:txBody>
          <a:bodyPr wrap="square" lIns="54864" rIns="54864" tIns="36576" bIns="36576">
            <a:spAutoFit/>
          </a:bodyPr>
          <a:lstStyle/>
          <a:p>
            <a:pPr algn="r">
              <a:spcAft>
                <a:spcPts val="500"/>
              </a:spcAft>
              <a:defRPr sz="1100" b="1" i="0">
                <a:solidFill>
                  <a:srgbClr val="2D5B3F"/>
                </a:solidFill>
                <a:latin typeface="Aptos"/>
              </a:defRPr>
            </a:pPr>
            <a:r>
              <a:t>~17% fewer</a:t>
            </a:r>
          </a:p>
        </p:txBody>
      </p:sp>
      <p:sp>
        <p:nvSpPr>
          <p:cNvPr id="16" name="TextBox 15"/>
          <p:cNvSpPr txBox="1"/>
          <p:nvPr/>
        </p:nvSpPr>
        <p:spPr>
          <a:xfrm>
            <a:off x="777240" y="3063240"/>
            <a:ext cx="2240280" cy="256032"/>
          </a:xfrm>
          <a:prstGeom prst="rect">
            <a:avLst/>
          </a:prstGeom>
          <a:noFill/>
        </p:spPr>
        <p:txBody>
          <a:bodyPr wrap="square" lIns="54864" rIns="54864" tIns="36576" bIns="36576">
            <a:spAutoFit/>
          </a:bodyPr>
          <a:lstStyle/>
          <a:p>
            <a:pPr algn="l">
              <a:spcAft>
                <a:spcPts val="500"/>
              </a:spcAft>
              <a:defRPr sz="1200" b="1" i="0">
                <a:solidFill>
                  <a:srgbClr val="253027"/>
                </a:solidFill>
                <a:latin typeface="Aptos"/>
              </a:defRPr>
            </a:pPr>
            <a:r>
              <a:t>Detector bias on batches</a:t>
            </a:r>
          </a:p>
        </p:txBody>
      </p:sp>
      <p:sp>
        <p:nvSpPr>
          <p:cNvPr id="17" name="Rounded Rectangle 16"/>
          <p:cNvSpPr/>
          <p:nvPr/>
        </p:nvSpPr>
        <p:spPr>
          <a:xfrm>
            <a:off x="3017520" y="3099816"/>
            <a:ext cx="2468879" cy="201168"/>
          </a:xfrm>
          <a:prstGeom prst="roundRect">
            <a:avLst/>
          </a:prstGeom>
          <a:solidFill>
            <a:srgbClr val="E2E1D8"/>
          </a:solidFill>
          <a:ln>
            <a:solidFill>
              <a:srgbClr val="E2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17520" y="3099816"/>
            <a:ext cx="49377" cy="201168"/>
          </a:xfrm>
          <a:prstGeom prst="roundRect">
            <a:avLst/>
          </a:prstGeom>
          <a:solidFill>
            <a:srgbClr val="2D5B3F"/>
          </a:solidFill>
          <a:ln>
            <a:solidFill>
              <a:srgbClr val="2D5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13831" y="3054096"/>
            <a:ext cx="566928" cy="246888"/>
          </a:xfrm>
          <a:prstGeom prst="rect">
            <a:avLst/>
          </a:prstGeom>
          <a:noFill/>
        </p:spPr>
        <p:txBody>
          <a:bodyPr wrap="square" lIns="54864" rIns="54864" tIns="36576" bIns="36576">
            <a:spAutoFit/>
          </a:bodyPr>
          <a:lstStyle/>
          <a:p>
            <a:pPr algn="r">
              <a:spcAft>
                <a:spcPts val="500"/>
              </a:spcAft>
              <a:defRPr sz="1100" b="1" i="0">
                <a:solidFill>
                  <a:srgbClr val="2D5B3F"/>
                </a:solidFill>
                <a:latin typeface="Aptos"/>
              </a:defRPr>
            </a:pPr>
            <a:r>
              <a:t>~0.8%</a:t>
            </a:r>
          </a:p>
        </p:txBody>
      </p:sp>
      <p:sp>
        <p:nvSpPr>
          <p:cNvPr id="20" name="TextBox 19"/>
          <p:cNvSpPr txBox="1"/>
          <p:nvPr/>
        </p:nvSpPr>
        <p:spPr>
          <a:xfrm>
            <a:off x="777240" y="3703320"/>
            <a:ext cx="2240280" cy="256032"/>
          </a:xfrm>
          <a:prstGeom prst="rect">
            <a:avLst/>
          </a:prstGeom>
          <a:noFill/>
        </p:spPr>
        <p:txBody>
          <a:bodyPr wrap="square" lIns="54864" rIns="54864" tIns="36576" bIns="36576">
            <a:spAutoFit/>
          </a:bodyPr>
          <a:lstStyle/>
          <a:p>
            <a:pPr algn="l">
              <a:spcAft>
                <a:spcPts val="500"/>
              </a:spcAft>
              <a:defRPr sz="1200" b="1" i="0">
                <a:solidFill>
                  <a:srgbClr val="253027"/>
                </a:solidFill>
                <a:latin typeface="Aptos"/>
              </a:defRPr>
            </a:pPr>
            <a:r>
              <a:t>Balance error at 17 g</a:t>
            </a:r>
          </a:p>
        </p:txBody>
      </p:sp>
      <p:sp>
        <p:nvSpPr>
          <p:cNvPr id="21" name="Rounded Rectangle 20"/>
          <p:cNvSpPr/>
          <p:nvPr/>
        </p:nvSpPr>
        <p:spPr>
          <a:xfrm>
            <a:off x="3017520" y="3739896"/>
            <a:ext cx="2468879" cy="201168"/>
          </a:xfrm>
          <a:prstGeom prst="roundRect">
            <a:avLst/>
          </a:prstGeom>
          <a:solidFill>
            <a:srgbClr val="E2E1D8"/>
          </a:solidFill>
          <a:ln>
            <a:solidFill>
              <a:srgbClr val="E2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17520" y="3739896"/>
            <a:ext cx="104927" cy="201168"/>
          </a:xfrm>
          <a:prstGeom prst="roundRect">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13831" y="3694176"/>
            <a:ext cx="566928" cy="246888"/>
          </a:xfrm>
          <a:prstGeom prst="rect">
            <a:avLst/>
          </a:prstGeom>
          <a:noFill/>
        </p:spPr>
        <p:txBody>
          <a:bodyPr wrap="square" lIns="54864" rIns="54864" tIns="36576" bIns="36576">
            <a:spAutoFit/>
          </a:bodyPr>
          <a:lstStyle/>
          <a:p>
            <a:pPr algn="r">
              <a:spcAft>
                <a:spcPts val="500"/>
              </a:spcAft>
              <a:defRPr sz="1100" b="1" i="0">
                <a:solidFill>
                  <a:srgbClr val="2D5B3F"/>
                </a:solidFill>
                <a:latin typeface="Aptos"/>
              </a:defRPr>
            </a:pPr>
            <a:r>
              <a:t>1.7%</a:t>
            </a:r>
          </a:p>
        </p:txBody>
      </p:sp>
      <p:sp>
        <p:nvSpPr>
          <p:cNvPr id="24" name="Rounded Rectangle 23"/>
          <p:cNvSpPr/>
          <p:nvPr/>
        </p:nvSpPr>
        <p:spPr>
          <a:xfrm>
            <a:off x="6400800" y="1417320"/>
            <a:ext cx="4800600" cy="1051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47104" y="1527048"/>
            <a:ext cx="450799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Zero drift</a:t>
            </a:r>
          </a:p>
        </p:txBody>
      </p:sp>
      <p:sp>
        <p:nvSpPr>
          <p:cNvPr id="26" name="TextBox 25"/>
          <p:cNvSpPr txBox="1"/>
          <p:nvPr/>
        </p:nvSpPr>
        <p:spPr>
          <a:xfrm>
            <a:off x="6547104" y="1892808"/>
            <a:ext cx="4507992" cy="484631"/>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Without fresh TARE, the coin check read +1 g; after TARE, 47.0 g read 47 g.</a:t>
            </a:r>
          </a:p>
        </p:txBody>
      </p:sp>
      <p:sp>
        <p:nvSpPr>
          <p:cNvPr id="27" name="Rounded Rectangle 26"/>
          <p:cNvSpPr/>
          <p:nvPr/>
        </p:nvSpPr>
        <p:spPr>
          <a:xfrm>
            <a:off x="6400800" y="2697480"/>
            <a:ext cx="4800600" cy="1051560"/>
          </a:xfrm>
          <a:prstGeom prst="roundRect">
            <a:avLst/>
          </a:prstGeom>
          <a:solidFill>
            <a:srgbClr val="E2ECDB"/>
          </a:solidFill>
          <a:ln>
            <a:solidFill>
              <a:srgbClr val="E2E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47104" y="2807208"/>
            <a:ext cx="450799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Repeat weighing</a:t>
            </a:r>
          </a:p>
        </p:txBody>
      </p:sp>
      <p:sp>
        <p:nvSpPr>
          <p:cNvPr id="29" name="TextBox 28"/>
          <p:cNvSpPr txBox="1"/>
          <p:nvPr/>
        </p:nvSpPr>
        <p:spPr>
          <a:xfrm>
            <a:off x="6547104" y="3172968"/>
            <a:ext cx="4507992" cy="484631"/>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A 25 g pile read 25 g in five lift-and-replace weighings; no variation visible at 1 g resolution.</a:t>
            </a:r>
          </a:p>
        </p:txBody>
      </p:sp>
      <p:sp>
        <p:nvSpPr>
          <p:cNvPr id="30" name="Rounded Rectangle 29"/>
          <p:cNvSpPr/>
          <p:nvPr/>
        </p:nvSpPr>
        <p:spPr>
          <a:xfrm>
            <a:off x="6400800" y="3977639"/>
            <a:ext cx="4800600" cy="118872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47104" y="4087368"/>
            <a:ext cx="450799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False positives</a:t>
            </a:r>
          </a:p>
        </p:txBody>
      </p:sp>
      <p:sp>
        <p:nvSpPr>
          <p:cNvPr id="32" name="TextBox 31"/>
          <p:cNvSpPr txBox="1"/>
          <p:nvPr/>
        </p:nvSpPr>
        <p:spPr>
          <a:xfrm>
            <a:off x="6547104" y="4453127"/>
            <a:ext cx="4507992" cy="62179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Boxes appeared on ruler digits, handwriting and trousers. Counting sunflower boxes only reduces this risk.</a:t>
            </a:r>
          </a:p>
        </p:txBody>
      </p:sp>
      <p:sp>
        <p:nvSpPr>
          <p:cNvPr id="33" name="TextBox 32"/>
          <p:cNvSpPr txBox="1"/>
          <p:nvPr/>
        </p:nvSpPr>
        <p:spPr>
          <a:xfrm>
            <a:off x="822960" y="5074920"/>
            <a:ext cx="5212080" cy="502920"/>
          </a:xfrm>
          <a:prstGeom prst="rect">
            <a:avLst/>
          </a:prstGeom>
          <a:noFill/>
        </p:spPr>
        <p:txBody>
          <a:bodyPr wrap="square" lIns="54864" rIns="54864" tIns="36576" bIns="36576">
            <a:spAutoFit/>
          </a:bodyPr>
          <a:lstStyle/>
          <a:p>
            <a:pPr algn="l">
              <a:spcAft>
                <a:spcPts val="500"/>
              </a:spcAft>
              <a:defRPr sz="1200" b="0" i="1">
                <a:solidFill>
                  <a:srgbClr val="687063"/>
                </a:solidFill>
                <a:latin typeface="Aptos"/>
              </a:defRPr>
            </a:pPr>
            <a:r>
              <a:t>A 1 g display step limits precision even when repeated readings look stable.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Feature choice: count sunflower boxes</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MODEL</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7</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TextBox 6"/>
          <p:cNvSpPr txBox="1"/>
          <p:nvPr/>
        </p:nvSpPr>
        <p:spPr>
          <a:xfrm>
            <a:off x="731520" y="1097280"/>
            <a:ext cx="5212080" cy="320040"/>
          </a:xfrm>
          <a:prstGeom prst="rect">
            <a:avLst/>
          </a:prstGeom>
          <a:noFill/>
        </p:spPr>
        <p:txBody>
          <a:bodyPr wrap="square" lIns="54864" rIns="54864" tIns="36576" bIns="36576">
            <a:spAutoFit/>
          </a:bodyPr>
          <a:lstStyle/>
          <a:p>
            <a:pPr algn="l">
              <a:spcAft>
                <a:spcPts val="500"/>
              </a:spcAft>
              <a:defRPr sz="1800" b="1" i="0">
                <a:solidFill>
                  <a:srgbClr val="2D5B3F"/>
                </a:solidFill>
                <a:latin typeface="Aptos"/>
              </a:defRPr>
            </a:pPr>
            <a:r>
              <a:t>Candidate feature evidence • 8 piles</a:t>
            </a:r>
          </a:p>
        </p:txBody>
      </p:sp>
      <p:sp>
        <p:nvSpPr>
          <p:cNvPr id="8" name="Rectangle 7"/>
          <p:cNvSpPr/>
          <p:nvPr/>
        </p:nvSpPr>
        <p:spPr>
          <a:xfrm>
            <a:off x="731520" y="1600200"/>
            <a:ext cx="2880360" cy="457200"/>
          </a:xfrm>
          <a:prstGeom prst="rect">
            <a:avLst/>
          </a:prstGeom>
          <a:solidFill>
            <a:srgbClr val="2D5B3F"/>
          </a:solidFill>
          <a:ln>
            <a:solidFill>
              <a:srgbClr val="2D5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673352"/>
            <a:ext cx="2770632" cy="365760"/>
          </a:xfrm>
          <a:prstGeom prst="rect">
            <a:avLst/>
          </a:prstGeom>
          <a:noFill/>
        </p:spPr>
        <p:txBody>
          <a:bodyPr wrap="square" lIns="54864" rIns="54864" tIns="36576" bIns="36576">
            <a:spAutoFit/>
          </a:bodyPr>
          <a:lstStyle/>
          <a:p>
            <a:pPr algn="l">
              <a:spcAft>
                <a:spcPts val="500"/>
              </a:spcAft>
              <a:defRPr sz="1100" b="1" i="0">
                <a:solidFill>
                  <a:srgbClr val="FFFFFF"/>
                </a:solidFill>
                <a:latin typeface="Aptos"/>
              </a:defRPr>
            </a:pPr>
            <a:r>
              <a:t>Feature</a:t>
            </a:r>
          </a:p>
        </p:txBody>
      </p:sp>
      <p:sp>
        <p:nvSpPr>
          <p:cNvPr id="10" name="Rectangle 9"/>
          <p:cNvSpPr/>
          <p:nvPr/>
        </p:nvSpPr>
        <p:spPr>
          <a:xfrm>
            <a:off x="3611880" y="1600200"/>
            <a:ext cx="1005840" cy="457200"/>
          </a:xfrm>
          <a:prstGeom prst="rect">
            <a:avLst/>
          </a:prstGeom>
          <a:solidFill>
            <a:srgbClr val="2D5B3F"/>
          </a:solidFill>
          <a:ln>
            <a:solidFill>
              <a:srgbClr val="2D5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1673352"/>
            <a:ext cx="896112" cy="365760"/>
          </a:xfrm>
          <a:prstGeom prst="rect">
            <a:avLst/>
          </a:prstGeom>
          <a:noFill/>
        </p:spPr>
        <p:txBody>
          <a:bodyPr wrap="square" lIns="54864" rIns="54864" tIns="36576" bIns="36576">
            <a:spAutoFit/>
          </a:bodyPr>
          <a:lstStyle/>
          <a:p>
            <a:pPr algn="l">
              <a:spcAft>
                <a:spcPts val="500"/>
              </a:spcAft>
              <a:defRPr sz="1100" b="1" i="0">
                <a:solidFill>
                  <a:srgbClr val="FFFFFF"/>
                </a:solidFill>
                <a:latin typeface="Aptos"/>
              </a:defRPr>
            </a:pPr>
            <a:r>
              <a:t>r</a:t>
            </a:r>
          </a:p>
        </p:txBody>
      </p:sp>
      <p:sp>
        <p:nvSpPr>
          <p:cNvPr id="12" name="Rectangle 11"/>
          <p:cNvSpPr/>
          <p:nvPr/>
        </p:nvSpPr>
        <p:spPr>
          <a:xfrm>
            <a:off x="4617720" y="1600200"/>
            <a:ext cx="1508760" cy="457200"/>
          </a:xfrm>
          <a:prstGeom prst="rect">
            <a:avLst/>
          </a:prstGeom>
          <a:solidFill>
            <a:srgbClr val="2D5B3F"/>
          </a:solidFill>
          <a:ln>
            <a:solidFill>
              <a:srgbClr val="2D5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72584" y="1673352"/>
            <a:ext cx="1399031" cy="365760"/>
          </a:xfrm>
          <a:prstGeom prst="rect">
            <a:avLst/>
          </a:prstGeom>
          <a:noFill/>
        </p:spPr>
        <p:txBody>
          <a:bodyPr wrap="square" lIns="54864" rIns="54864" tIns="36576" bIns="36576">
            <a:spAutoFit/>
          </a:bodyPr>
          <a:lstStyle/>
          <a:p>
            <a:pPr algn="l">
              <a:spcAft>
                <a:spcPts val="500"/>
              </a:spcAft>
              <a:defRPr sz="1100" b="1" i="0">
                <a:solidFill>
                  <a:srgbClr val="FFFFFF"/>
                </a:solidFill>
                <a:latin typeface="Aptos"/>
              </a:defRPr>
            </a:pPr>
            <a:r>
              <a:t>Relative spread</a:t>
            </a:r>
          </a:p>
        </p:txBody>
      </p:sp>
      <p:sp>
        <p:nvSpPr>
          <p:cNvPr id="14" name="Rectangle 13"/>
          <p:cNvSpPr/>
          <p:nvPr/>
        </p:nvSpPr>
        <p:spPr>
          <a:xfrm>
            <a:off x="731520" y="2057400"/>
            <a:ext cx="288036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2130552"/>
            <a:ext cx="2770632"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All boxes count</a:t>
            </a:r>
          </a:p>
        </p:txBody>
      </p:sp>
      <p:sp>
        <p:nvSpPr>
          <p:cNvPr id="16" name="Rectangle 15"/>
          <p:cNvSpPr/>
          <p:nvPr/>
        </p:nvSpPr>
        <p:spPr>
          <a:xfrm>
            <a:off x="3611880" y="2057400"/>
            <a:ext cx="100584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66744" y="2130552"/>
            <a:ext cx="896112"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0.990</a:t>
            </a:r>
          </a:p>
        </p:txBody>
      </p:sp>
      <p:sp>
        <p:nvSpPr>
          <p:cNvPr id="18" name="Rectangle 17"/>
          <p:cNvSpPr/>
          <p:nvPr/>
        </p:nvSpPr>
        <p:spPr>
          <a:xfrm>
            <a:off x="4617720" y="2057400"/>
            <a:ext cx="150876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72584" y="2130552"/>
            <a:ext cx="1399031"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3.7%</a:t>
            </a:r>
          </a:p>
        </p:txBody>
      </p:sp>
      <p:sp>
        <p:nvSpPr>
          <p:cNvPr id="20" name="Rectangle 19"/>
          <p:cNvSpPr/>
          <p:nvPr/>
        </p:nvSpPr>
        <p:spPr>
          <a:xfrm>
            <a:off x="731520" y="2514600"/>
            <a:ext cx="2880360" cy="457200"/>
          </a:xfrm>
          <a:prstGeom prst="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2587752"/>
            <a:ext cx="2770632"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Sunflower boxes count</a:t>
            </a:r>
          </a:p>
        </p:txBody>
      </p:sp>
      <p:sp>
        <p:nvSpPr>
          <p:cNvPr id="22" name="Rectangle 21"/>
          <p:cNvSpPr/>
          <p:nvPr/>
        </p:nvSpPr>
        <p:spPr>
          <a:xfrm>
            <a:off x="3611880" y="2514600"/>
            <a:ext cx="1005840" cy="457200"/>
          </a:xfrm>
          <a:prstGeom prst="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66744" y="2587752"/>
            <a:ext cx="896112"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0.989</a:t>
            </a:r>
          </a:p>
        </p:txBody>
      </p:sp>
      <p:sp>
        <p:nvSpPr>
          <p:cNvPr id="24" name="Rectangle 23"/>
          <p:cNvSpPr/>
          <p:nvPr/>
        </p:nvSpPr>
        <p:spPr>
          <a:xfrm>
            <a:off x="4617720" y="2514600"/>
            <a:ext cx="1508760" cy="457200"/>
          </a:xfrm>
          <a:prstGeom prst="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72584" y="2587752"/>
            <a:ext cx="1399031"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4.0%</a:t>
            </a:r>
          </a:p>
        </p:txBody>
      </p:sp>
      <p:sp>
        <p:nvSpPr>
          <p:cNvPr id="26" name="Rectangle 25"/>
          <p:cNvSpPr/>
          <p:nvPr/>
        </p:nvSpPr>
        <p:spPr>
          <a:xfrm>
            <a:off x="731520" y="2971800"/>
            <a:ext cx="288036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3044952"/>
            <a:ext cx="2770632"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Sunflower box area (mm²)</a:t>
            </a:r>
          </a:p>
        </p:txBody>
      </p:sp>
      <p:sp>
        <p:nvSpPr>
          <p:cNvPr id="28" name="Rectangle 27"/>
          <p:cNvSpPr/>
          <p:nvPr/>
        </p:nvSpPr>
        <p:spPr>
          <a:xfrm>
            <a:off x="3611880" y="2971800"/>
            <a:ext cx="100584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66744" y="3044952"/>
            <a:ext cx="896112"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0.985</a:t>
            </a:r>
          </a:p>
        </p:txBody>
      </p:sp>
      <p:sp>
        <p:nvSpPr>
          <p:cNvPr id="30" name="Rectangle 29"/>
          <p:cNvSpPr/>
          <p:nvPr/>
        </p:nvSpPr>
        <p:spPr>
          <a:xfrm>
            <a:off x="4617720" y="2971800"/>
            <a:ext cx="150876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72584" y="3044952"/>
            <a:ext cx="1399031"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5.4%</a:t>
            </a:r>
          </a:p>
        </p:txBody>
      </p:sp>
      <p:sp>
        <p:nvSpPr>
          <p:cNvPr id="32" name="Rectangle 31"/>
          <p:cNvSpPr/>
          <p:nvPr/>
        </p:nvSpPr>
        <p:spPr>
          <a:xfrm>
            <a:off x="731520" y="3429000"/>
            <a:ext cx="288036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3502152"/>
            <a:ext cx="2770632"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Sunflower box area (px²)</a:t>
            </a:r>
          </a:p>
        </p:txBody>
      </p:sp>
      <p:sp>
        <p:nvSpPr>
          <p:cNvPr id="34" name="Rectangle 33"/>
          <p:cNvSpPr/>
          <p:nvPr/>
        </p:nvSpPr>
        <p:spPr>
          <a:xfrm>
            <a:off x="3611880" y="3429000"/>
            <a:ext cx="100584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66744" y="3502152"/>
            <a:ext cx="896112"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0.900</a:t>
            </a:r>
          </a:p>
        </p:txBody>
      </p:sp>
      <p:sp>
        <p:nvSpPr>
          <p:cNvPr id="36" name="Rectangle 35"/>
          <p:cNvSpPr/>
          <p:nvPr/>
        </p:nvSpPr>
        <p:spPr>
          <a:xfrm>
            <a:off x="4617720" y="3429000"/>
            <a:ext cx="150876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72584" y="3502152"/>
            <a:ext cx="1399031"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11.6%</a:t>
            </a:r>
          </a:p>
        </p:txBody>
      </p:sp>
      <p:sp>
        <p:nvSpPr>
          <p:cNvPr id="38" name="Rectangle 37"/>
          <p:cNvSpPr/>
          <p:nvPr/>
        </p:nvSpPr>
        <p:spPr>
          <a:xfrm>
            <a:off x="731520" y="3886200"/>
            <a:ext cx="288036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3959352"/>
            <a:ext cx="2770632"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Mean box area (px²)</a:t>
            </a:r>
          </a:p>
        </p:txBody>
      </p:sp>
      <p:sp>
        <p:nvSpPr>
          <p:cNvPr id="40" name="Rectangle 39"/>
          <p:cNvSpPr/>
          <p:nvPr/>
        </p:nvSpPr>
        <p:spPr>
          <a:xfrm>
            <a:off x="3611880" y="3886200"/>
            <a:ext cx="100584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66744" y="3959352"/>
            <a:ext cx="896112"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−0.271</a:t>
            </a:r>
          </a:p>
        </p:txBody>
      </p:sp>
      <p:sp>
        <p:nvSpPr>
          <p:cNvPr id="42" name="Rectangle 41"/>
          <p:cNvSpPr/>
          <p:nvPr/>
        </p:nvSpPr>
        <p:spPr>
          <a:xfrm>
            <a:off x="4617720" y="3886200"/>
            <a:ext cx="1508760" cy="4572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72584" y="3959352"/>
            <a:ext cx="1399031" cy="365760"/>
          </a:xfrm>
          <a:prstGeom prst="rect">
            <a:avLst/>
          </a:prstGeom>
          <a:noFill/>
        </p:spPr>
        <p:txBody>
          <a:bodyPr wrap="square" lIns="54864" rIns="54864" tIns="36576" bIns="36576">
            <a:spAutoFit/>
          </a:bodyPr>
          <a:lstStyle/>
          <a:p>
            <a:pPr algn="l">
              <a:spcAft>
                <a:spcPts val="500"/>
              </a:spcAft>
              <a:defRPr sz="1100" b="0" i="0">
                <a:solidFill>
                  <a:srgbClr val="253027"/>
                </a:solidFill>
                <a:latin typeface="Aptos"/>
              </a:defRPr>
            </a:pPr>
            <a:r>
              <a:t>35.7%</a:t>
            </a:r>
          </a:p>
        </p:txBody>
      </p:sp>
      <p:sp>
        <p:nvSpPr>
          <p:cNvPr id="44" name="Rounded Rectangle 43"/>
          <p:cNvSpPr/>
          <p:nvPr/>
        </p:nvSpPr>
        <p:spPr>
          <a:xfrm>
            <a:off x="6583680" y="1600200"/>
            <a:ext cx="4709160" cy="1188720"/>
          </a:xfrm>
          <a:prstGeom prst="roundRect">
            <a:avLst/>
          </a:prstGeom>
          <a:solidFill>
            <a:srgbClr val="E2ECDB"/>
          </a:solidFill>
          <a:ln>
            <a:solidFill>
              <a:srgbClr val="E2E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29984" y="1709928"/>
            <a:ext cx="441655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Chosen model</a:t>
            </a:r>
          </a:p>
        </p:txBody>
      </p:sp>
      <p:sp>
        <p:nvSpPr>
          <p:cNvPr id="46" name="TextBox 45"/>
          <p:cNvSpPr txBox="1"/>
          <p:nvPr/>
        </p:nvSpPr>
        <p:spPr>
          <a:xfrm>
            <a:off x="6729984" y="2075688"/>
            <a:ext cx="4416552" cy="621792"/>
          </a:xfrm>
          <a:prstGeom prst="rect">
            <a:avLst/>
          </a:prstGeom>
          <a:noFill/>
        </p:spPr>
        <p:txBody>
          <a:bodyPr wrap="square" lIns="54864" rIns="54864" tIns="36576" bIns="36576">
            <a:spAutoFit/>
          </a:bodyPr>
          <a:lstStyle/>
          <a:p>
            <a:pPr algn="l">
              <a:spcAft>
                <a:spcPts val="500"/>
              </a:spcAft>
              <a:defRPr sz="1600" b="0" i="0">
                <a:solidFill>
                  <a:srgbClr val="253027"/>
                </a:solidFill>
                <a:latin typeface="Aptos"/>
              </a:defRPr>
            </a:pPr>
            <a:r>
              <a:t>Estimated weight = sunflower-box count × 0.05294 g/seed</a:t>
            </a:r>
          </a:p>
        </p:txBody>
      </p:sp>
      <p:sp>
        <p:nvSpPr>
          <p:cNvPr id="47" name="Rounded Rectangle 46"/>
          <p:cNvSpPr/>
          <p:nvPr/>
        </p:nvSpPr>
        <p:spPr>
          <a:xfrm>
            <a:off x="6583680" y="3017520"/>
            <a:ext cx="4709160" cy="12344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29984" y="3127248"/>
            <a:ext cx="441655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Why not pixel area?</a:t>
            </a:r>
          </a:p>
        </p:txBody>
      </p:sp>
      <p:sp>
        <p:nvSpPr>
          <p:cNvPr id="49" name="TextBox 48"/>
          <p:cNvSpPr txBox="1"/>
          <p:nvPr/>
        </p:nvSpPr>
        <p:spPr>
          <a:xfrm>
            <a:off x="6729984" y="3493008"/>
            <a:ext cx="4416552" cy="66751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Pixel area changes with camera height. Marker-calibrated mm² is better, but count has the lowest relative spread among useful candidates.</a:t>
            </a:r>
          </a:p>
        </p:txBody>
      </p:sp>
      <p:sp>
        <p:nvSpPr>
          <p:cNvPr id="50" name="Rounded Rectangle 49"/>
          <p:cNvSpPr/>
          <p:nvPr/>
        </p:nvSpPr>
        <p:spPr>
          <a:xfrm>
            <a:off x="6583680" y="4480560"/>
            <a:ext cx="4709160" cy="96012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29984" y="4590288"/>
            <a:ext cx="441655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Why sunflower-only?</a:t>
            </a:r>
          </a:p>
        </p:txBody>
      </p:sp>
      <p:sp>
        <p:nvSpPr>
          <p:cNvPr id="52" name="TextBox 51"/>
          <p:cNvSpPr txBox="1"/>
          <p:nvPr/>
        </p:nvSpPr>
        <p:spPr>
          <a:xfrm>
            <a:off x="6729984" y="4956048"/>
            <a:ext cx="4416552" cy="39319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It avoids false boxes from other classes on notes and markers.</a:t>
            </a:r>
          </a:p>
        </p:txBody>
      </p:sp>
      <p:sp>
        <p:nvSpPr>
          <p:cNvPr id="53" name="TextBox 52"/>
          <p:cNvSpPr txBox="1"/>
          <p:nvPr/>
        </p:nvSpPr>
        <p:spPr>
          <a:xfrm>
            <a:off x="777240" y="4800600"/>
            <a:ext cx="5120640" cy="640080"/>
          </a:xfrm>
          <a:prstGeom prst="rect">
            <a:avLst/>
          </a:prstGeom>
          <a:noFill/>
        </p:spPr>
        <p:txBody>
          <a:bodyPr wrap="square" lIns="54864" rIns="54864" tIns="36576" bIns="36576">
            <a:spAutoFit/>
          </a:bodyPr>
          <a:lstStyle/>
          <a:p>
            <a:pPr algn="l">
              <a:spcAft>
                <a:spcPts val="500"/>
              </a:spcAft>
              <a:defRPr sz="1200" b="0" i="1">
                <a:solidFill>
                  <a:srgbClr val="687063"/>
                </a:solidFill>
                <a:latin typeface="Aptos"/>
              </a:defRPr>
            </a:pPr>
            <a:r>
              <a:t>High correlations partly reflect the wide weight range; relative spread is more useful for comparing features.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Major improvement: standardise image scale</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CALIBRATION</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8</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Rounded Rectangle 6"/>
          <p:cNvSpPr/>
          <p:nvPr/>
        </p:nvSpPr>
        <p:spPr>
          <a:xfrm>
            <a:off x="731520" y="1325880"/>
            <a:ext cx="4983480" cy="164592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435607"/>
            <a:ext cx="469087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Photos as taken</a:t>
            </a:r>
          </a:p>
        </p:txBody>
      </p:sp>
      <p:sp>
        <p:nvSpPr>
          <p:cNvPr id="9" name="TextBox 8"/>
          <p:cNvSpPr txBox="1"/>
          <p:nvPr/>
        </p:nvSpPr>
        <p:spPr>
          <a:xfrm>
            <a:off x="877824" y="1801368"/>
            <a:ext cx="4690872" cy="107899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Grams per seed: 0.0542 mean</a:t>
            </a:r>
          </a:p>
          <a:p>
            <a:pPr algn="l">
              <a:spcAft>
                <a:spcPts val="500"/>
              </a:spcAft>
              <a:defRPr sz="1400" b="0" i="0">
                <a:solidFill>
                  <a:srgbClr val="253027"/>
                </a:solidFill>
                <a:latin typeface="Aptos"/>
              </a:defRPr>
            </a:pPr>
            <a:r>
              <a:t>Relative SD: 5.9%</a:t>
            </a:r>
          </a:p>
          <a:p>
            <a:pPr algn="l">
              <a:spcAft>
                <a:spcPts val="500"/>
              </a:spcAft>
              <a:defRPr sz="1400" b="0" i="0">
                <a:solidFill>
                  <a:srgbClr val="253027"/>
                </a:solidFill>
                <a:latin typeface="Aptos"/>
              </a:defRPr>
            </a:pPr>
            <a:r>
              <a:t>Correlation with mm/px: +0.63</a:t>
            </a:r>
          </a:p>
          <a:p>
            <a:pPr algn="l">
              <a:spcAft>
                <a:spcPts val="500"/>
              </a:spcAft>
              <a:defRPr sz="1400" b="0" i="0">
                <a:solidFill>
                  <a:srgbClr val="253027"/>
                </a:solidFill>
                <a:latin typeface="Aptos"/>
              </a:defRPr>
            </a:pPr>
            <a:r>
              <a:t>Mean A–B difference: 3.0%</a:t>
            </a:r>
          </a:p>
        </p:txBody>
      </p:sp>
      <p:sp>
        <p:nvSpPr>
          <p:cNvPr id="10" name="Rounded Rectangle 9"/>
          <p:cNvSpPr/>
          <p:nvPr/>
        </p:nvSpPr>
        <p:spPr>
          <a:xfrm>
            <a:off x="6217920" y="1325880"/>
            <a:ext cx="4983480" cy="1645920"/>
          </a:xfrm>
          <a:prstGeom prst="roundRect">
            <a:avLst/>
          </a:prstGeom>
          <a:solidFill>
            <a:srgbClr val="E2ECDB"/>
          </a:solidFill>
          <a:ln>
            <a:solidFill>
              <a:srgbClr val="E2E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64224" y="1435607"/>
            <a:ext cx="469087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Fixed scale = 0.110 mm/px</a:t>
            </a:r>
          </a:p>
        </p:txBody>
      </p:sp>
      <p:sp>
        <p:nvSpPr>
          <p:cNvPr id="12" name="TextBox 11"/>
          <p:cNvSpPr txBox="1"/>
          <p:nvPr/>
        </p:nvSpPr>
        <p:spPr>
          <a:xfrm>
            <a:off x="6364224" y="1801368"/>
            <a:ext cx="4690872" cy="107899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Grams per seed: 0.0529 mean</a:t>
            </a:r>
          </a:p>
          <a:p>
            <a:pPr algn="l">
              <a:spcAft>
                <a:spcPts val="500"/>
              </a:spcAft>
              <a:defRPr sz="1400" b="0" i="0">
                <a:solidFill>
                  <a:srgbClr val="253027"/>
                </a:solidFill>
                <a:latin typeface="Aptos"/>
              </a:defRPr>
            </a:pPr>
            <a:r>
              <a:t>Relative SD: 4.0%</a:t>
            </a:r>
          </a:p>
          <a:p>
            <a:pPr algn="l">
              <a:spcAft>
                <a:spcPts val="500"/>
              </a:spcAft>
              <a:defRPr sz="1400" b="0" i="0">
                <a:solidFill>
                  <a:srgbClr val="253027"/>
                </a:solidFill>
                <a:latin typeface="Aptos"/>
              </a:defRPr>
            </a:pPr>
            <a:r>
              <a:t>Correlation with mm/px: +0.04</a:t>
            </a:r>
          </a:p>
          <a:p>
            <a:pPr algn="l">
              <a:spcAft>
                <a:spcPts val="500"/>
              </a:spcAft>
              <a:defRPr sz="1400" b="0" i="0">
                <a:solidFill>
                  <a:srgbClr val="253027"/>
                </a:solidFill>
                <a:latin typeface="Aptos"/>
              </a:defRPr>
            </a:pPr>
            <a:r>
              <a:t>Mean A–B difference: 1.2%</a:t>
            </a:r>
          </a:p>
        </p:txBody>
      </p:sp>
      <p:sp>
        <p:nvSpPr>
          <p:cNvPr id="13" name="TextBox 12"/>
          <p:cNvSpPr txBox="1"/>
          <p:nvPr/>
        </p:nvSpPr>
        <p:spPr>
          <a:xfrm>
            <a:off x="822960" y="3657600"/>
            <a:ext cx="2240280" cy="256032"/>
          </a:xfrm>
          <a:prstGeom prst="rect">
            <a:avLst/>
          </a:prstGeom>
          <a:noFill/>
        </p:spPr>
        <p:txBody>
          <a:bodyPr wrap="square" lIns="54864" rIns="54864" tIns="36576" bIns="36576">
            <a:spAutoFit/>
          </a:bodyPr>
          <a:lstStyle/>
          <a:p>
            <a:pPr algn="l">
              <a:spcAft>
                <a:spcPts val="500"/>
              </a:spcAft>
              <a:defRPr sz="1200" b="1" i="0">
                <a:solidFill>
                  <a:srgbClr val="253027"/>
                </a:solidFill>
                <a:latin typeface="Aptos"/>
              </a:defRPr>
            </a:pPr>
            <a:r>
              <a:t>As taken</a:t>
            </a:r>
          </a:p>
        </p:txBody>
      </p:sp>
      <p:sp>
        <p:nvSpPr>
          <p:cNvPr id="14" name="Rounded Rectangle 13"/>
          <p:cNvSpPr/>
          <p:nvPr/>
        </p:nvSpPr>
        <p:spPr>
          <a:xfrm>
            <a:off x="3063240" y="3694176"/>
            <a:ext cx="1920240" cy="201168"/>
          </a:xfrm>
          <a:prstGeom prst="roundRect">
            <a:avLst/>
          </a:prstGeom>
          <a:solidFill>
            <a:srgbClr val="E2E1D8"/>
          </a:solidFill>
          <a:ln>
            <a:solidFill>
              <a:srgbClr val="E2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063240" y="3694176"/>
            <a:ext cx="1618488" cy="201168"/>
          </a:xfrm>
          <a:prstGeom prst="roundRect">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10912" y="3648456"/>
            <a:ext cx="566928" cy="246888"/>
          </a:xfrm>
          <a:prstGeom prst="rect">
            <a:avLst/>
          </a:prstGeom>
          <a:noFill/>
        </p:spPr>
        <p:txBody>
          <a:bodyPr wrap="square" lIns="54864" rIns="54864" tIns="36576" bIns="36576">
            <a:spAutoFit/>
          </a:bodyPr>
          <a:lstStyle/>
          <a:p>
            <a:pPr algn="r">
              <a:spcAft>
                <a:spcPts val="500"/>
              </a:spcAft>
              <a:defRPr sz="1100" b="1" i="0">
                <a:solidFill>
                  <a:srgbClr val="2D5B3F"/>
                </a:solidFill>
                <a:latin typeface="Aptos"/>
              </a:defRPr>
            </a:pPr>
            <a:r>
              <a:t>5.9%</a:t>
            </a:r>
          </a:p>
        </p:txBody>
      </p:sp>
      <p:sp>
        <p:nvSpPr>
          <p:cNvPr id="17" name="TextBox 16"/>
          <p:cNvSpPr txBox="1"/>
          <p:nvPr/>
        </p:nvSpPr>
        <p:spPr>
          <a:xfrm>
            <a:off x="822960" y="4297680"/>
            <a:ext cx="2240280" cy="256032"/>
          </a:xfrm>
          <a:prstGeom prst="rect">
            <a:avLst/>
          </a:prstGeom>
          <a:noFill/>
        </p:spPr>
        <p:txBody>
          <a:bodyPr wrap="square" lIns="54864" rIns="54864" tIns="36576" bIns="36576">
            <a:spAutoFit/>
          </a:bodyPr>
          <a:lstStyle/>
          <a:p>
            <a:pPr algn="l">
              <a:spcAft>
                <a:spcPts val="500"/>
              </a:spcAft>
              <a:defRPr sz="1200" b="1" i="0">
                <a:solidFill>
                  <a:srgbClr val="253027"/>
                </a:solidFill>
                <a:latin typeface="Aptos"/>
              </a:defRPr>
            </a:pPr>
            <a:r>
              <a:t>Fixed scale</a:t>
            </a:r>
          </a:p>
        </p:txBody>
      </p:sp>
      <p:sp>
        <p:nvSpPr>
          <p:cNvPr id="18" name="Rounded Rectangle 17"/>
          <p:cNvSpPr/>
          <p:nvPr/>
        </p:nvSpPr>
        <p:spPr>
          <a:xfrm>
            <a:off x="3063240" y="4334256"/>
            <a:ext cx="1920240" cy="201168"/>
          </a:xfrm>
          <a:prstGeom prst="roundRect">
            <a:avLst/>
          </a:prstGeom>
          <a:solidFill>
            <a:srgbClr val="E2E1D8"/>
          </a:solidFill>
          <a:ln>
            <a:solidFill>
              <a:srgbClr val="E2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063240" y="4334256"/>
            <a:ext cx="1097280" cy="201168"/>
          </a:xfrm>
          <a:prstGeom prst="roundRect">
            <a:avLst/>
          </a:prstGeom>
          <a:solidFill>
            <a:srgbClr val="2D5B3F"/>
          </a:solidFill>
          <a:ln>
            <a:solidFill>
              <a:srgbClr val="2D5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10912" y="4288536"/>
            <a:ext cx="566928" cy="246888"/>
          </a:xfrm>
          <a:prstGeom prst="rect">
            <a:avLst/>
          </a:prstGeom>
          <a:noFill/>
        </p:spPr>
        <p:txBody>
          <a:bodyPr wrap="square" lIns="54864" rIns="54864" tIns="36576" bIns="36576">
            <a:spAutoFit/>
          </a:bodyPr>
          <a:lstStyle/>
          <a:p>
            <a:pPr algn="r">
              <a:spcAft>
                <a:spcPts val="500"/>
              </a:spcAft>
              <a:defRPr sz="1100" b="1" i="0">
                <a:solidFill>
                  <a:srgbClr val="2D5B3F"/>
                </a:solidFill>
                <a:latin typeface="Aptos"/>
              </a:defRPr>
            </a:pPr>
            <a:r>
              <a:t>4.0%</a:t>
            </a:r>
          </a:p>
        </p:txBody>
      </p:sp>
      <p:sp>
        <p:nvSpPr>
          <p:cNvPr id="21" name="Rounded Rectangle 20"/>
          <p:cNvSpPr/>
          <p:nvPr/>
        </p:nvSpPr>
        <p:spPr>
          <a:xfrm>
            <a:off x="6126480" y="3566160"/>
            <a:ext cx="5029200" cy="150876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72784" y="3675887"/>
            <a:ext cx="473659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Interpretation</a:t>
            </a:r>
          </a:p>
        </p:txBody>
      </p:sp>
      <p:sp>
        <p:nvSpPr>
          <p:cNvPr id="23" name="TextBox 22"/>
          <p:cNvSpPr txBox="1"/>
          <p:nvPr/>
        </p:nvSpPr>
        <p:spPr>
          <a:xfrm>
            <a:off x="6272784" y="4041648"/>
            <a:ext cx="4736592" cy="941831"/>
          </a:xfrm>
          <a:prstGeom prst="rect">
            <a:avLst/>
          </a:prstGeom>
          <a:noFill/>
        </p:spPr>
        <p:txBody>
          <a:bodyPr wrap="square" lIns="54864" rIns="54864" tIns="36576" bIns="36576">
            <a:spAutoFit/>
          </a:bodyPr>
          <a:lstStyle/>
          <a:p>
            <a:pPr algn="l">
              <a:spcAft>
                <a:spcPts val="500"/>
              </a:spcAft>
              <a:defRPr sz="1500" b="0" i="0">
                <a:solidFill>
                  <a:srgbClr val="253027"/>
                </a:solidFill>
                <a:latin typeface="Aptos"/>
              </a:defRPr>
            </a:pPr>
            <a:r>
              <a:t>Marker-based scaling reduces the camera-height effect and makes counts more comparable. The fixed scale is built into the app.</a:t>
            </a:r>
          </a:p>
        </p:txBody>
      </p:sp>
      <p:sp>
        <p:nvSpPr>
          <p:cNvPr id="24" name="TextBox 23"/>
          <p:cNvSpPr txBox="1"/>
          <p:nvPr/>
        </p:nvSpPr>
        <p:spPr>
          <a:xfrm>
            <a:off x="822960" y="5394960"/>
            <a:ext cx="10424160" cy="365760"/>
          </a:xfrm>
          <a:prstGeom prst="rect">
            <a:avLst/>
          </a:prstGeom>
          <a:noFill/>
        </p:spPr>
        <p:txBody>
          <a:bodyPr wrap="square" lIns="54864" rIns="54864" tIns="36576" bIns="36576">
            <a:spAutoFit/>
          </a:bodyPr>
          <a:lstStyle/>
          <a:p>
            <a:pPr algn="l">
              <a:spcAft>
                <a:spcPts val="500"/>
              </a:spcAft>
              <a:defRPr sz="1300" b="0" i="1">
                <a:solidFill>
                  <a:srgbClr val="687063"/>
                </a:solidFill>
                <a:latin typeface="Aptos"/>
              </a:defRPr>
            </a:pPr>
            <a:r>
              <a:t>With fixed scale, the 12 MP test stayed within about 2% of the full-resolution count.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What does ±10% mean?</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UNCERTAINTY</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9</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TextBox 6"/>
          <p:cNvSpPr txBox="1"/>
          <p:nvPr/>
        </p:nvSpPr>
        <p:spPr>
          <a:xfrm>
            <a:off x="731520" y="1143000"/>
            <a:ext cx="4480560" cy="411480"/>
          </a:xfrm>
          <a:prstGeom prst="rect">
            <a:avLst/>
          </a:prstGeom>
          <a:noFill/>
        </p:spPr>
        <p:txBody>
          <a:bodyPr wrap="square" lIns="54864" rIns="54864" tIns="36576" bIns="36576">
            <a:spAutoFit/>
          </a:bodyPr>
          <a:lstStyle/>
          <a:p>
            <a:pPr algn="l">
              <a:spcAft>
                <a:spcPts val="500"/>
              </a:spcAft>
              <a:defRPr sz="2100" b="1" i="0">
                <a:solidFill>
                  <a:srgbClr val="2D5B3F"/>
                </a:solidFill>
                <a:latin typeface="Aptos"/>
              </a:defRPr>
            </a:pPr>
            <a:r>
              <a:t>95% prediction interval</a:t>
            </a:r>
          </a:p>
        </p:txBody>
      </p:sp>
      <p:sp>
        <p:nvSpPr>
          <p:cNvPr id="8" name="TextBox 7"/>
          <p:cNvSpPr txBox="1"/>
          <p:nvPr/>
        </p:nvSpPr>
        <p:spPr>
          <a:xfrm>
            <a:off x="731520" y="1691640"/>
            <a:ext cx="4800600" cy="960120"/>
          </a:xfrm>
          <a:prstGeom prst="rect">
            <a:avLst/>
          </a:prstGeom>
          <a:noFill/>
        </p:spPr>
        <p:txBody>
          <a:bodyPr wrap="square" lIns="54864" rIns="54864" tIns="36576" bIns="36576">
            <a:spAutoFit/>
          </a:bodyPr>
          <a:lstStyle/>
          <a:p>
            <a:pPr algn="l">
              <a:spcAft>
                <a:spcPts val="500"/>
              </a:spcAft>
              <a:defRPr sz="1600" b="0" i="0">
                <a:solidFill>
                  <a:srgbClr val="253027"/>
                </a:solidFill>
                <a:latin typeface="Aptos"/>
              </a:defRPr>
            </a:pPr>
            <a:r>
              <a:t>For one new photo in the tested setup, the true weight is expected to fall within the interval about 19 times out of 20.</a:t>
            </a:r>
          </a:p>
        </p:txBody>
      </p:sp>
      <p:sp>
        <p:nvSpPr>
          <p:cNvPr id="9" name="Rectangle 8"/>
          <p:cNvSpPr/>
          <p:nvPr/>
        </p:nvSpPr>
        <p:spPr>
          <a:xfrm>
            <a:off x="914400" y="3154680"/>
            <a:ext cx="4709160" cy="256032"/>
          </a:xfrm>
          <a:prstGeom prst="rect">
            <a:avLst/>
          </a:prstGeom>
          <a:solidFill>
            <a:srgbClr val="E2ECDB"/>
          </a:solidFill>
          <a:ln>
            <a:solidFill>
              <a:srgbClr val="E2E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35808" y="3090672"/>
            <a:ext cx="475488" cy="384048"/>
          </a:xfrm>
          <a:prstGeom prst="rect">
            <a:avLst/>
          </a:prstGeom>
          <a:solidFill>
            <a:srgbClr val="2D5B3F"/>
          </a:solidFill>
          <a:ln>
            <a:solidFill>
              <a:srgbClr val="2D5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566160"/>
            <a:ext cx="914400" cy="274320"/>
          </a:xfrm>
          <a:prstGeom prst="rect">
            <a:avLst/>
          </a:prstGeom>
          <a:noFill/>
        </p:spPr>
        <p:txBody>
          <a:bodyPr wrap="square" lIns="54864" rIns="54864" tIns="36576" bIns="36576">
            <a:spAutoFit/>
          </a:bodyPr>
          <a:lstStyle/>
          <a:p>
            <a:pPr algn="l">
              <a:spcAft>
                <a:spcPts val="500"/>
              </a:spcAft>
              <a:defRPr sz="1300" b="1" i="0">
                <a:solidFill>
                  <a:srgbClr val="2D5B3F"/>
                </a:solidFill>
                <a:latin typeface="Aptos"/>
              </a:defRPr>
            </a:pPr>
            <a:r>
              <a:t>−10%</a:t>
            </a:r>
          </a:p>
        </p:txBody>
      </p:sp>
      <p:sp>
        <p:nvSpPr>
          <p:cNvPr id="12" name="TextBox 11"/>
          <p:cNvSpPr txBox="1"/>
          <p:nvPr/>
        </p:nvSpPr>
        <p:spPr>
          <a:xfrm>
            <a:off x="2743200" y="3566160"/>
            <a:ext cx="1097280" cy="274320"/>
          </a:xfrm>
          <a:prstGeom prst="rect">
            <a:avLst/>
          </a:prstGeom>
          <a:noFill/>
        </p:spPr>
        <p:txBody>
          <a:bodyPr wrap="square" lIns="54864" rIns="54864" tIns="36576" bIns="36576">
            <a:spAutoFit/>
          </a:bodyPr>
          <a:lstStyle/>
          <a:p>
            <a:pPr algn="ctr">
              <a:spcAft>
                <a:spcPts val="500"/>
              </a:spcAft>
              <a:defRPr sz="1300" b="1" i="0">
                <a:solidFill>
                  <a:srgbClr val="2D5B3F"/>
                </a:solidFill>
                <a:latin typeface="Aptos"/>
              </a:defRPr>
            </a:pPr>
            <a:r>
              <a:t>Estimate</a:t>
            </a:r>
          </a:p>
        </p:txBody>
      </p:sp>
      <p:sp>
        <p:nvSpPr>
          <p:cNvPr id="13" name="TextBox 12"/>
          <p:cNvSpPr txBox="1"/>
          <p:nvPr/>
        </p:nvSpPr>
        <p:spPr>
          <a:xfrm>
            <a:off x="4754880" y="3566160"/>
            <a:ext cx="914400" cy="274320"/>
          </a:xfrm>
          <a:prstGeom prst="rect">
            <a:avLst/>
          </a:prstGeom>
          <a:noFill/>
        </p:spPr>
        <p:txBody>
          <a:bodyPr wrap="square" lIns="54864" rIns="54864" tIns="36576" bIns="36576">
            <a:spAutoFit/>
          </a:bodyPr>
          <a:lstStyle/>
          <a:p>
            <a:pPr algn="r">
              <a:spcAft>
                <a:spcPts val="500"/>
              </a:spcAft>
              <a:defRPr sz="1300" b="1" i="0">
                <a:solidFill>
                  <a:srgbClr val="2D5B3F"/>
                </a:solidFill>
                <a:latin typeface="Aptos"/>
              </a:defRPr>
            </a:pPr>
            <a:r>
              <a:t>+10%</a:t>
            </a:r>
          </a:p>
        </p:txBody>
      </p:sp>
      <p:sp>
        <p:nvSpPr>
          <p:cNvPr id="14" name="Rounded Rectangle 13"/>
          <p:cNvSpPr/>
          <p:nvPr/>
        </p:nvSpPr>
        <p:spPr>
          <a:xfrm>
            <a:off x="6400800" y="1234440"/>
            <a:ext cx="4800600" cy="105156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47104" y="1344168"/>
            <a:ext cx="450799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Calibration basis</a:t>
            </a:r>
          </a:p>
        </p:txBody>
      </p:sp>
      <p:sp>
        <p:nvSpPr>
          <p:cNvPr id="16" name="TextBox 15"/>
          <p:cNvSpPr txBox="1"/>
          <p:nvPr/>
        </p:nvSpPr>
        <p:spPr>
          <a:xfrm>
            <a:off x="6547104" y="1709928"/>
            <a:ext cx="4507992" cy="484631"/>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8 original piles, 10–24 g; constant = 0.05294 g/seed.</a:t>
            </a:r>
          </a:p>
        </p:txBody>
      </p:sp>
      <p:sp>
        <p:nvSpPr>
          <p:cNvPr id="17" name="Rounded Rectangle 16"/>
          <p:cNvSpPr/>
          <p:nvPr/>
        </p:nvSpPr>
        <p:spPr>
          <a:xfrm>
            <a:off x="6400800" y="2514600"/>
            <a:ext cx="4800600" cy="132588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7104" y="2624328"/>
            <a:ext cx="450799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Bound itself is uncertain</a:t>
            </a:r>
          </a:p>
        </p:txBody>
      </p:sp>
      <p:sp>
        <p:nvSpPr>
          <p:cNvPr id="19" name="TextBox 18"/>
          <p:cNvSpPr txBox="1"/>
          <p:nvPr/>
        </p:nvSpPr>
        <p:spPr>
          <a:xfrm>
            <a:off x="6547104" y="2990088"/>
            <a:ext cx="4507992" cy="75895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With only 8 piles, the true spread could plausibly be 0.66–2.0× the estimate.</a:t>
            </a:r>
          </a:p>
        </p:txBody>
      </p:sp>
      <p:sp>
        <p:nvSpPr>
          <p:cNvPr id="20" name="Rounded Rectangle 19"/>
          <p:cNvSpPr/>
          <p:nvPr/>
        </p:nvSpPr>
        <p:spPr>
          <a:xfrm>
            <a:off x="6400800" y="4114800"/>
            <a:ext cx="4800600" cy="1234440"/>
          </a:xfrm>
          <a:prstGeom prst="roundRect">
            <a:avLst/>
          </a:prstGeom>
          <a:solidFill>
            <a:srgbClr val="F9E4DB"/>
          </a:solidFill>
          <a:ln>
            <a:solidFill>
              <a:srgbClr val="F9E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47104" y="4224528"/>
            <a:ext cx="450799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15-pile projection</a:t>
            </a:r>
          </a:p>
        </p:txBody>
      </p:sp>
      <p:sp>
        <p:nvSpPr>
          <p:cNvPr id="22" name="TextBox 21"/>
          <p:cNvSpPr txBox="1"/>
          <p:nvPr/>
        </p:nvSpPr>
        <p:spPr>
          <a:xfrm>
            <a:off x="6547104" y="4590288"/>
            <a:ext cx="4507992" cy="66751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With the same spread, the interval might be about ±8.8%. This is hypothetical; P14/P15 were not completed.</a:t>
            </a:r>
          </a:p>
        </p:txBody>
      </p:sp>
      <p:sp>
        <p:nvSpPr>
          <p:cNvPr id="23" name="TextBox 22"/>
          <p:cNvSpPr txBox="1"/>
          <p:nvPr/>
        </p:nvSpPr>
        <p:spPr>
          <a:xfrm>
            <a:off x="777240" y="5029200"/>
            <a:ext cx="5120640" cy="548640"/>
          </a:xfrm>
          <a:prstGeom prst="rect">
            <a:avLst/>
          </a:prstGeom>
          <a:noFill/>
        </p:spPr>
        <p:txBody>
          <a:bodyPr wrap="square" lIns="54864" rIns="54864" tIns="36576" bIns="36576">
            <a:spAutoFit/>
          </a:bodyPr>
          <a:lstStyle/>
          <a:p>
            <a:pPr algn="l">
              <a:spcAft>
                <a:spcPts val="500"/>
              </a:spcAft>
              <a:defRPr sz="1300" b="0" i="1">
                <a:solidFill>
                  <a:srgbClr val="687063"/>
                </a:solidFill>
                <a:latin typeface="Aptos"/>
              </a:defRPr>
            </a:pPr>
            <a:r>
              <a:t>Do not present ±10% as a universal guarantee for other phones, seed lots or weights.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Error budget: explaining the 4% spread</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UNCERTAINTY</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10</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TextBox 6"/>
          <p:cNvSpPr txBox="1"/>
          <p:nvPr/>
        </p:nvSpPr>
        <p:spPr>
          <a:xfrm>
            <a:off x="731520" y="1097280"/>
            <a:ext cx="5577840" cy="365760"/>
          </a:xfrm>
          <a:prstGeom prst="rect">
            <a:avLst/>
          </a:prstGeom>
          <a:noFill/>
        </p:spPr>
        <p:txBody>
          <a:bodyPr wrap="square" lIns="54864" rIns="54864" tIns="36576" bIns="36576">
            <a:spAutoFit/>
          </a:bodyPr>
          <a:lstStyle/>
          <a:p>
            <a:pPr algn="l">
              <a:spcAft>
                <a:spcPts val="500"/>
              </a:spcAft>
              <a:defRPr sz="1700" b="1" i="0">
                <a:solidFill>
                  <a:srgbClr val="2D5B3F"/>
                </a:solidFill>
                <a:latin typeface="Aptos"/>
              </a:defRPr>
            </a:pPr>
            <a:r>
              <a:t>Relative standard errors at mean pile weight 17 g</a:t>
            </a:r>
          </a:p>
        </p:txBody>
      </p:sp>
      <p:sp>
        <p:nvSpPr>
          <p:cNvPr id="8" name="TextBox 7"/>
          <p:cNvSpPr txBox="1"/>
          <p:nvPr/>
        </p:nvSpPr>
        <p:spPr>
          <a:xfrm>
            <a:off x="822960" y="1737360"/>
            <a:ext cx="2240280" cy="256032"/>
          </a:xfrm>
          <a:prstGeom prst="rect">
            <a:avLst/>
          </a:prstGeom>
          <a:noFill/>
        </p:spPr>
        <p:txBody>
          <a:bodyPr wrap="square" lIns="54864" rIns="54864" tIns="36576" bIns="36576">
            <a:spAutoFit/>
          </a:bodyPr>
          <a:lstStyle/>
          <a:p>
            <a:pPr algn="l">
              <a:spcAft>
                <a:spcPts val="500"/>
              </a:spcAft>
              <a:defRPr sz="1200" b="1" i="0">
                <a:solidFill>
                  <a:srgbClr val="253027"/>
                </a:solidFill>
                <a:latin typeface="Aptos"/>
              </a:defRPr>
            </a:pPr>
            <a:r>
              <a:t>Balance</a:t>
            </a:r>
          </a:p>
        </p:txBody>
      </p:sp>
      <p:sp>
        <p:nvSpPr>
          <p:cNvPr id="9" name="Rounded Rectangle 8"/>
          <p:cNvSpPr/>
          <p:nvPr/>
        </p:nvSpPr>
        <p:spPr>
          <a:xfrm>
            <a:off x="3063240" y="1773936"/>
            <a:ext cx="2743199" cy="201168"/>
          </a:xfrm>
          <a:prstGeom prst="roundRect">
            <a:avLst/>
          </a:prstGeom>
          <a:solidFill>
            <a:srgbClr val="E2E1D8"/>
          </a:solidFill>
          <a:ln>
            <a:solidFill>
              <a:srgbClr val="E2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63240" y="1773936"/>
            <a:ext cx="1036319" cy="201168"/>
          </a:xfrm>
          <a:prstGeom prst="roundRect">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33872" y="1728216"/>
            <a:ext cx="566928" cy="246888"/>
          </a:xfrm>
          <a:prstGeom prst="rect">
            <a:avLst/>
          </a:prstGeom>
          <a:noFill/>
        </p:spPr>
        <p:txBody>
          <a:bodyPr wrap="square" lIns="54864" rIns="54864" tIns="36576" bIns="36576">
            <a:spAutoFit/>
          </a:bodyPr>
          <a:lstStyle/>
          <a:p>
            <a:pPr algn="r">
              <a:spcAft>
                <a:spcPts val="500"/>
              </a:spcAft>
              <a:defRPr sz="1100" b="1" i="0">
                <a:solidFill>
                  <a:srgbClr val="2D5B3F"/>
                </a:solidFill>
                <a:latin typeface="Aptos"/>
              </a:defRPr>
            </a:pPr>
            <a:r>
              <a:t>1.7%</a:t>
            </a:r>
          </a:p>
        </p:txBody>
      </p:sp>
      <p:sp>
        <p:nvSpPr>
          <p:cNvPr id="12" name="TextBox 11"/>
          <p:cNvSpPr txBox="1"/>
          <p:nvPr/>
        </p:nvSpPr>
        <p:spPr>
          <a:xfrm>
            <a:off x="822960" y="2377440"/>
            <a:ext cx="2240280" cy="256032"/>
          </a:xfrm>
          <a:prstGeom prst="rect">
            <a:avLst/>
          </a:prstGeom>
          <a:noFill/>
        </p:spPr>
        <p:txBody>
          <a:bodyPr wrap="square" lIns="54864" rIns="54864" tIns="36576" bIns="36576">
            <a:spAutoFit/>
          </a:bodyPr>
          <a:lstStyle/>
          <a:p>
            <a:pPr algn="l">
              <a:spcAft>
                <a:spcPts val="500"/>
              </a:spcAft>
              <a:defRPr sz="1200" b="1" i="0">
                <a:solidFill>
                  <a:srgbClr val="253027"/>
                </a:solidFill>
                <a:latin typeface="Aptos"/>
              </a:defRPr>
            </a:pPr>
            <a:r>
              <a:t>Detector</a:t>
            </a:r>
          </a:p>
        </p:txBody>
      </p:sp>
      <p:sp>
        <p:nvSpPr>
          <p:cNvPr id="13" name="Rounded Rectangle 12"/>
          <p:cNvSpPr/>
          <p:nvPr/>
        </p:nvSpPr>
        <p:spPr>
          <a:xfrm>
            <a:off x="3063240" y="2414016"/>
            <a:ext cx="2743199" cy="201168"/>
          </a:xfrm>
          <a:prstGeom prst="roundRect">
            <a:avLst/>
          </a:prstGeom>
          <a:solidFill>
            <a:srgbClr val="E2E1D8"/>
          </a:solidFill>
          <a:ln>
            <a:solidFill>
              <a:srgbClr val="E2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63240" y="2414016"/>
            <a:ext cx="609599" cy="201168"/>
          </a:xfrm>
          <a:prstGeom prst="roundRect">
            <a:avLst/>
          </a:prstGeom>
          <a:solidFill>
            <a:srgbClr val="2D5B3F"/>
          </a:solidFill>
          <a:ln>
            <a:solidFill>
              <a:srgbClr val="2D5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33872" y="2368296"/>
            <a:ext cx="566928" cy="246888"/>
          </a:xfrm>
          <a:prstGeom prst="rect">
            <a:avLst/>
          </a:prstGeom>
          <a:noFill/>
        </p:spPr>
        <p:txBody>
          <a:bodyPr wrap="square" lIns="54864" rIns="54864" tIns="36576" bIns="36576">
            <a:spAutoFit/>
          </a:bodyPr>
          <a:lstStyle/>
          <a:p>
            <a:pPr algn="r">
              <a:spcAft>
                <a:spcPts val="500"/>
              </a:spcAft>
              <a:defRPr sz="1100" b="1" i="0">
                <a:solidFill>
                  <a:srgbClr val="2D5B3F"/>
                </a:solidFill>
                <a:latin typeface="Aptos"/>
              </a:defRPr>
            </a:pPr>
            <a:r>
              <a:t>1.0%</a:t>
            </a:r>
          </a:p>
        </p:txBody>
      </p:sp>
      <p:sp>
        <p:nvSpPr>
          <p:cNvPr id="16" name="TextBox 15"/>
          <p:cNvSpPr txBox="1"/>
          <p:nvPr/>
        </p:nvSpPr>
        <p:spPr>
          <a:xfrm>
            <a:off x="822960" y="3017520"/>
            <a:ext cx="2240280" cy="256032"/>
          </a:xfrm>
          <a:prstGeom prst="rect">
            <a:avLst/>
          </a:prstGeom>
          <a:noFill/>
        </p:spPr>
        <p:txBody>
          <a:bodyPr wrap="square" lIns="54864" rIns="54864" tIns="36576" bIns="36576">
            <a:spAutoFit/>
          </a:bodyPr>
          <a:lstStyle/>
          <a:p>
            <a:pPr algn="l">
              <a:spcAft>
                <a:spcPts val="500"/>
              </a:spcAft>
              <a:defRPr sz="1200" b="1" i="0">
                <a:solidFill>
                  <a:srgbClr val="253027"/>
                </a:solidFill>
                <a:latin typeface="Aptos"/>
              </a:defRPr>
            </a:pPr>
            <a:r>
              <a:t>Unexplained remainder</a:t>
            </a:r>
          </a:p>
        </p:txBody>
      </p:sp>
      <p:sp>
        <p:nvSpPr>
          <p:cNvPr id="17" name="Rounded Rectangle 16"/>
          <p:cNvSpPr/>
          <p:nvPr/>
        </p:nvSpPr>
        <p:spPr>
          <a:xfrm>
            <a:off x="3063240" y="3054096"/>
            <a:ext cx="2743199" cy="201168"/>
          </a:xfrm>
          <a:prstGeom prst="roundRect">
            <a:avLst/>
          </a:prstGeom>
          <a:solidFill>
            <a:srgbClr val="E2E1D8"/>
          </a:solidFill>
          <a:ln>
            <a:solidFill>
              <a:srgbClr val="E2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063240" y="3054096"/>
            <a:ext cx="2072639" cy="201168"/>
          </a:xfrm>
          <a:prstGeom prst="roundRect">
            <a:avLst/>
          </a:prstGeom>
          <a:solidFill>
            <a:srgbClr val="A94631"/>
          </a:solidFill>
          <a:ln>
            <a:solidFill>
              <a:srgbClr val="A946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33872" y="3008376"/>
            <a:ext cx="566928" cy="246888"/>
          </a:xfrm>
          <a:prstGeom prst="rect">
            <a:avLst/>
          </a:prstGeom>
          <a:noFill/>
        </p:spPr>
        <p:txBody>
          <a:bodyPr wrap="square" lIns="54864" rIns="54864" tIns="36576" bIns="36576">
            <a:spAutoFit/>
          </a:bodyPr>
          <a:lstStyle/>
          <a:p>
            <a:pPr algn="r">
              <a:spcAft>
                <a:spcPts val="500"/>
              </a:spcAft>
              <a:defRPr sz="1100" b="1" i="0">
                <a:solidFill>
                  <a:srgbClr val="2D5B3F"/>
                </a:solidFill>
                <a:latin typeface="Aptos"/>
              </a:defRPr>
            </a:pPr>
            <a:r>
              <a:t>3.4%</a:t>
            </a:r>
          </a:p>
        </p:txBody>
      </p:sp>
      <p:sp>
        <p:nvSpPr>
          <p:cNvPr id="20" name="TextBox 19"/>
          <p:cNvSpPr txBox="1"/>
          <p:nvPr/>
        </p:nvSpPr>
        <p:spPr>
          <a:xfrm>
            <a:off x="822960" y="3657600"/>
            <a:ext cx="2240280" cy="256032"/>
          </a:xfrm>
          <a:prstGeom prst="rect">
            <a:avLst/>
          </a:prstGeom>
          <a:noFill/>
        </p:spPr>
        <p:txBody>
          <a:bodyPr wrap="square" lIns="54864" rIns="54864" tIns="36576" bIns="36576">
            <a:spAutoFit/>
          </a:bodyPr>
          <a:lstStyle/>
          <a:p>
            <a:pPr algn="l">
              <a:spcAft>
                <a:spcPts val="500"/>
              </a:spcAft>
              <a:defRPr sz="1200" b="1" i="0">
                <a:solidFill>
                  <a:srgbClr val="253027"/>
                </a:solidFill>
                <a:latin typeface="Aptos"/>
              </a:defRPr>
            </a:pPr>
            <a:r>
              <a:t>Observed spread (top-down)</a:t>
            </a:r>
          </a:p>
        </p:txBody>
      </p:sp>
      <p:sp>
        <p:nvSpPr>
          <p:cNvPr id="21" name="Rounded Rectangle 20"/>
          <p:cNvSpPr/>
          <p:nvPr/>
        </p:nvSpPr>
        <p:spPr>
          <a:xfrm>
            <a:off x="3063240" y="3694176"/>
            <a:ext cx="2743199" cy="201168"/>
          </a:xfrm>
          <a:prstGeom prst="roundRect">
            <a:avLst/>
          </a:prstGeom>
          <a:solidFill>
            <a:srgbClr val="E2E1D8"/>
          </a:solidFill>
          <a:ln>
            <a:solidFill>
              <a:srgbClr val="E2E1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63240" y="3694176"/>
            <a:ext cx="2438399" cy="201168"/>
          </a:xfrm>
          <a:prstGeom prst="round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33872" y="3648456"/>
            <a:ext cx="566928" cy="246888"/>
          </a:xfrm>
          <a:prstGeom prst="rect">
            <a:avLst/>
          </a:prstGeom>
          <a:noFill/>
        </p:spPr>
        <p:txBody>
          <a:bodyPr wrap="square" lIns="54864" rIns="54864" tIns="36576" bIns="36576">
            <a:spAutoFit/>
          </a:bodyPr>
          <a:lstStyle/>
          <a:p>
            <a:pPr algn="r">
              <a:spcAft>
                <a:spcPts val="500"/>
              </a:spcAft>
              <a:defRPr sz="1100" b="1" i="0">
                <a:solidFill>
                  <a:srgbClr val="2D5B3F"/>
                </a:solidFill>
                <a:latin typeface="Aptos"/>
              </a:defRPr>
            </a:pPr>
            <a:r>
              <a:t>4.0%</a:t>
            </a:r>
          </a:p>
        </p:txBody>
      </p:sp>
      <p:sp>
        <p:nvSpPr>
          <p:cNvPr id="24" name="Rounded Rectangle 23"/>
          <p:cNvSpPr/>
          <p:nvPr/>
        </p:nvSpPr>
        <p:spPr>
          <a:xfrm>
            <a:off x="6858000" y="1463040"/>
            <a:ext cx="4389120" cy="109728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04304" y="1572768"/>
            <a:ext cx="4096511"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Variance shares</a:t>
            </a:r>
          </a:p>
        </p:txBody>
      </p:sp>
      <p:sp>
        <p:nvSpPr>
          <p:cNvPr id="26" name="TextBox 25"/>
          <p:cNvSpPr txBox="1"/>
          <p:nvPr/>
        </p:nvSpPr>
        <p:spPr>
          <a:xfrm>
            <a:off x="7004304" y="1938528"/>
            <a:ext cx="4096511" cy="53035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Balance 18% • Detector 7% • Unexplained 75%</a:t>
            </a:r>
          </a:p>
        </p:txBody>
      </p:sp>
      <p:sp>
        <p:nvSpPr>
          <p:cNvPr id="27" name="Rounded Rectangle 26"/>
          <p:cNvSpPr/>
          <p:nvPr/>
        </p:nvSpPr>
        <p:spPr>
          <a:xfrm>
            <a:off x="6858000" y="2788920"/>
            <a:ext cx="4389120" cy="128016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04304" y="2898648"/>
            <a:ext cx="4096511"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Not measurable yet</a:t>
            </a:r>
          </a:p>
        </p:txBody>
      </p:sp>
      <p:sp>
        <p:nvSpPr>
          <p:cNvPr id="29" name="TextBox 28"/>
          <p:cNvSpPr txBox="1"/>
          <p:nvPr/>
        </p:nvSpPr>
        <p:spPr>
          <a:xfrm>
            <a:off x="7004304" y="3264408"/>
            <a:ext cx="4096511" cy="713231"/>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Three 200-seed batches all read 11 g at 1 g resolution; seed-to-seed variation could not be resolved.</a:t>
            </a:r>
          </a:p>
        </p:txBody>
      </p:sp>
      <p:sp>
        <p:nvSpPr>
          <p:cNvPr id="30" name="Rounded Rectangle 29"/>
          <p:cNvSpPr/>
          <p:nvPr/>
        </p:nvSpPr>
        <p:spPr>
          <a:xfrm>
            <a:off x="6858000" y="4343400"/>
            <a:ext cx="4389120" cy="1097280"/>
          </a:xfrm>
          <a:prstGeom prst="roundRect">
            <a:avLst/>
          </a:prstGeom>
          <a:solidFill>
            <a:srgbClr val="F9E4DB"/>
          </a:solidFill>
          <a:ln>
            <a:solidFill>
              <a:srgbClr val="F9E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04304" y="4453128"/>
            <a:ext cx="4096511"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Interpretation</a:t>
            </a:r>
          </a:p>
        </p:txBody>
      </p:sp>
      <p:sp>
        <p:nvSpPr>
          <p:cNvPr id="32" name="TextBox 31"/>
          <p:cNvSpPr txBox="1"/>
          <p:nvPr/>
        </p:nvSpPr>
        <p:spPr>
          <a:xfrm>
            <a:off x="7004304" y="4818888"/>
            <a:ext cx="4096511" cy="53035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Most variation is not explained by the measured stages.</a:t>
            </a:r>
          </a:p>
        </p:txBody>
      </p:sp>
      <p:sp>
        <p:nvSpPr>
          <p:cNvPr id="33" name="TextBox 32"/>
          <p:cNvSpPr txBox="1"/>
          <p:nvPr/>
        </p:nvSpPr>
        <p:spPr>
          <a:xfrm>
            <a:off x="822960" y="5074920"/>
            <a:ext cx="5669280" cy="502920"/>
          </a:xfrm>
          <a:prstGeom prst="rect">
            <a:avLst/>
          </a:prstGeom>
          <a:noFill/>
        </p:spPr>
        <p:txBody>
          <a:bodyPr wrap="square" lIns="54864" rIns="54864" tIns="36576" bIns="36576">
            <a:spAutoFit/>
          </a:bodyPr>
          <a:lstStyle/>
          <a:p>
            <a:pPr algn="l">
              <a:spcAft>
                <a:spcPts val="500"/>
              </a:spcAft>
              <a:defRPr sz="1200" b="0" i="1">
                <a:solidFill>
                  <a:srgbClr val="687063"/>
                </a:solidFill>
                <a:latin typeface="Aptos"/>
              </a:defRPr>
            </a:pPr>
            <a:r>
              <a:t>Remainder = √(4.0² − 1.7² − 1.0²) ≈ 3.4%.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Teammate repeat: useful but not clean yet</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REPEATABILITY</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11</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TextBox 6"/>
          <p:cNvSpPr txBox="1"/>
          <p:nvPr/>
        </p:nvSpPr>
        <p:spPr>
          <a:xfrm>
            <a:off x="777240" y="1325880"/>
            <a:ext cx="4937760" cy="2377440"/>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  Jia used an iPhone 14 (1×); original main collection used Hadi's iPhone 15 Pro.</a:t>
            </a:r>
          </a:p>
          <a:p>
            <a:pPr algn="l">
              <a:spcAft>
                <a:spcPts val="500"/>
              </a:spcAft>
              <a:defRPr sz="1400" b="0" i="0">
                <a:solidFill>
                  <a:srgbClr val="253027"/>
                </a:solidFill>
                <a:latin typeface="Aptos"/>
              </a:defRPr>
            </a:pPr>
            <a:r>
              <a:t>•  Task 4: P01–P04, two photos per pile; 8 records.</a:t>
            </a:r>
          </a:p>
          <a:p>
            <a:pPr algn="l">
              <a:spcAft>
                <a:spcPts val="500"/>
              </a:spcAft>
              <a:defRPr sz="1400" b="0" i="0">
                <a:solidFill>
                  <a:srgbClr val="253027"/>
                </a:solidFill>
                <a:latin typeface="Aptos"/>
              </a:defRPr>
            </a:pPr>
            <a:r>
              <a:t>•  P09–P13: five additional piles, two photos each.</a:t>
            </a:r>
          </a:p>
          <a:p>
            <a:pPr algn="l">
              <a:spcAft>
                <a:spcPts val="500"/>
              </a:spcAft>
              <a:defRPr sz="1400" b="0" i="0">
                <a:solidFill>
                  <a:srgbClr val="253027"/>
                </a:solidFill>
                <a:latin typeface="Aptos"/>
              </a:defRPr>
            </a:pPr>
            <a:r>
              <a:t>•  All 18 new photo rows have been appended to samples.csv.</a:t>
            </a:r>
          </a:p>
        </p:txBody>
      </p:sp>
      <p:sp>
        <p:nvSpPr>
          <p:cNvPr id="8" name="TextBox 7"/>
          <p:cNvSpPr txBox="1"/>
          <p:nvPr/>
        </p:nvSpPr>
        <p:spPr>
          <a:xfrm>
            <a:off x="6172200" y="1143000"/>
            <a:ext cx="4846320" cy="320040"/>
          </a:xfrm>
          <a:prstGeom prst="rect">
            <a:avLst/>
          </a:prstGeom>
          <a:noFill/>
        </p:spPr>
        <p:txBody>
          <a:bodyPr wrap="square" lIns="54864" rIns="54864" tIns="36576" bIns="36576">
            <a:spAutoFit/>
          </a:bodyPr>
          <a:lstStyle/>
          <a:p>
            <a:pPr algn="l">
              <a:spcAft>
                <a:spcPts val="500"/>
              </a:spcAft>
              <a:defRPr sz="1800" b="1" i="0">
                <a:solidFill>
                  <a:srgbClr val="2D5B3F"/>
                </a:solidFill>
                <a:latin typeface="Aptos"/>
              </a:defRPr>
            </a:pPr>
            <a:r>
              <a:t>Task 4 weighing notes</a:t>
            </a:r>
          </a:p>
        </p:txBody>
      </p:sp>
      <p:sp>
        <p:nvSpPr>
          <p:cNvPr id="9" name="Rectangle 8"/>
          <p:cNvSpPr/>
          <p:nvPr/>
        </p:nvSpPr>
        <p:spPr>
          <a:xfrm>
            <a:off x="6217920" y="1600200"/>
            <a:ext cx="1051560" cy="429768"/>
          </a:xfrm>
          <a:prstGeom prst="rect">
            <a:avLst/>
          </a:prstGeom>
          <a:solidFill>
            <a:srgbClr val="2D5B3F"/>
          </a:solidFill>
          <a:ln>
            <a:solidFill>
              <a:srgbClr val="2D5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4496" y="1664208"/>
            <a:ext cx="978407" cy="338328"/>
          </a:xfrm>
          <a:prstGeom prst="rect">
            <a:avLst/>
          </a:prstGeom>
          <a:noFill/>
        </p:spPr>
        <p:txBody>
          <a:bodyPr wrap="square" lIns="54864" rIns="54864" tIns="36576" bIns="36576">
            <a:spAutoFit/>
          </a:bodyPr>
          <a:lstStyle/>
          <a:p>
            <a:pPr algn="l">
              <a:spcAft>
                <a:spcPts val="500"/>
              </a:spcAft>
              <a:defRPr sz="1000" b="1" i="0">
                <a:solidFill>
                  <a:srgbClr val="FFFFFF"/>
                </a:solidFill>
                <a:latin typeface="Aptos"/>
              </a:defRPr>
            </a:pPr>
            <a:r>
              <a:t>Pile</a:t>
            </a:r>
          </a:p>
        </p:txBody>
      </p:sp>
      <p:sp>
        <p:nvSpPr>
          <p:cNvPr id="11" name="Rectangle 10"/>
          <p:cNvSpPr/>
          <p:nvPr/>
        </p:nvSpPr>
        <p:spPr>
          <a:xfrm>
            <a:off x="7269479" y="1600200"/>
            <a:ext cx="1143000" cy="429768"/>
          </a:xfrm>
          <a:prstGeom prst="rect">
            <a:avLst/>
          </a:prstGeom>
          <a:solidFill>
            <a:srgbClr val="2D5B3F"/>
          </a:solidFill>
          <a:ln>
            <a:solidFill>
              <a:srgbClr val="2D5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06055" y="1664208"/>
            <a:ext cx="1069848" cy="338328"/>
          </a:xfrm>
          <a:prstGeom prst="rect">
            <a:avLst/>
          </a:prstGeom>
          <a:noFill/>
        </p:spPr>
        <p:txBody>
          <a:bodyPr wrap="square" lIns="54864" rIns="54864" tIns="36576" bIns="36576">
            <a:spAutoFit/>
          </a:bodyPr>
          <a:lstStyle/>
          <a:p>
            <a:pPr algn="l">
              <a:spcAft>
                <a:spcPts val="500"/>
              </a:spcAft>
              <a:defRPr sz="1000" b="1" i="0">
                <a:solidFill>
                  <a:srgbClr val="FFFFFF"/>
                </a:solidFill>
                <a:latin typeface="Aptos"/>
              </a:defRPr>
            </a:pPr>
            <a:r>
              <a:t>Before</a:t>
            </a:r>
          </a:p>
        </p:txBody>
      </p:sp>
      <p:sp>
        <p:nvSpPr>
          <p:cNvPr id="13" name="Rectangle 12"/>
          <p:cNvSpPr/>
          <p:nvPr/>
        </p:nvSpPr>
        <p:spPr>
          <a:xfrm>
            <a:off x="8412480" y="1600200"/>
            <a:ext cx="1325880" cy="429768"/>
          </a:xfrm>
          <a:prstGeom prst="rect">
            <a:avLst/>
          </a:prstGeom>
          <a:solidFill>
            <a:srgbClr val="2D5B3F"/>
          </a:solidFill>
          <a:ln>
            <a:solidFill>
              <a:srgbClr val="2D5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49055" y="1664208"/>
            <a:ext cx="1252728" cy="338328"/>
          </a:xfrm>
          <a:prstGeom prst="rect">
            <a:avLst/>
          </a:prstGeom>
          <a:noFill/>
        </p:spPr>
        <p:txBody>
          <a:bodyPr wrap="square" lIns="54864" rIns="54864" tIns="36576" bIns="36576">
            <a:spAutoFit/>
          </a:bodyPr>
          <a:lstStyle/>
          <a:p>
            <a:pPr algn="l">
              <a:spcAft>
                <a:spcPts val="500"/>
              </a:spcAft>
              <a:defRPr sz="1000" b="1" i="0">
                <a:solidFill>
                  <a:srgbClr val="FFFFFF"/>
                </a:solidFill>
                <a:latin typeface="Aptos"/>
              </a:defRPr>
            </a:pPr>
            <a:r>
              <a:t>After used</a:t>
            </a:r>
          </a:p>
        </p:txBody>
      </p:sp>
      <p:sp>
        <p:nvSpPr>
          <p:cNvPr id="15" name="Rectangle 14"/>
          <p:cNvSpPr/>
          <p:nvPr/>
        </p:nvSpPr>
        <p:spPr>
          <a:xfrm>
            <a:off x="9738359" y="1600200"/>
            <a:ext cx="1280160" cy="429768"/>
          </a:xfrm>
          <a:prstGeom prst="rect">
            <a:avLst/>
          </a:prstGeom>
          <a:solidFill>
            <a:srgbClr val="2D5B3F"/>
          </a:solidFill>
          <a:ln>
            <a:solidFill>
              <a:srgbClr val="2D5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74935" y="1664208"/>
            <a:ext cx="1207007" cy="338328"/>
          </a:xfrm>
          <a:prstGeom prst="rect">
            <a:avLst/>
          </a:prstGeom>
          <a:noFill/>
        </p:spPr>
        <p:txBody>
          <a:bodyPr wrap="square" lIns="54864" rIns="54864" tIns="36576" bIns="36576">
            <a:spAutoFit/>
          </a:bodyPr>
          <a:lstStyle/>
          <a:p>
            <a:pPr algn="l">
              <a:spcAft>
                <a:spcPts val="500"/>
              </a:spcAft>
              <a:defRPr sz="1000" b="1" i="0">
                <a:solidFill>
                  <a:srgbClr val="FFFFFF"/>
                </a:solidFill>
                <a:latin typeface="Aptos"/>
              </a:defRPr>
            </a:pPr>
            <a:r>
              <a:t>Difference</a:t>
            </a:r>
          </a:p>
        </p:txBody>
      </p:sp>
      <p:sp>
        <p:nvSpPr>
          <p:cNvPr id="17" name="Rectangle 16"/>
          <p:cNvSpPr/>
          <p:nvPr/>
        </p:nvSpPr>
        <p:spPr>
          <a:xfrm>
            <a:off x="6217920" y="2029967"/>
            <a:ext cx="105156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4496" y="2093975"/>
            <a:ext cx="978407"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P01</a:t>
            </a:r>
          </a:p>
        </p:txBody>
      </p:sp>
      <p:sp>
        <p:nvSpPr>
          <p:cNvPr id="19" name="Rectangle 18"/>
          <p:cNvSpPr/>
          <p:nvPr/>
        </p:nvSpPr>
        <p:spPr>
          <a:xfrm>
            <a:off x="7269479" y="2029967"/>
            <a:ext cx="114300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06055" y="2093975"/>
            <a:ext cx="1069848"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10 g</a:t>
            </a:r>
          </a:p>
        </p:txBody>
      </p:sp>
      <p:sp>
        <p:nvSpPr>
          <p:cNvPr id="21" name="Rectangle 20"/>
          <p:cNvSpPr/>
          <p:nvPr/>
        </p:nvSpPr>
        <p:spPr>
          <a:xfrm>
            <a:off x="8412480" y="2029967"/>
            <a:ext cx="132588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49055" y="2093975"/>
            <a:ext cx="1252728"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11 g</a:t>
            </a:r>
          </a:p>
        </p:txBody>
      </p:sp>
      <p:sp>
        <p:nvSpPr>
          <p:cNvPr id="23" name="Rectangle 22"/>
          <p:cNvSpPr/>
          <p:nvPr/>
        </p:nvSpPr>
        <p:spPr>
          <a:xfrm>
            <a:off x="9738359" y="2029967"/>
            <a:ext cx="128016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74935" y="2093975"/>
            <a:ext cx="1207007"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+1 g</a:t>
            </a:r>
          </a:p>
        </p:txBody>
      </p:sp>
      <p:sp>
        <p:nvSpPr>
          <p:cNvPr id="25" name="Rectangle 24"/>
          <p:cNvSpPr/>
          <p:nvPr/>
        </p:nvSpPr>
        <p:spPr>
          <a:xfrm>
            <a:off x="6217920" y="2459736"/>
            <a:ext cx="1051560" cy="429768"/>
          </a:xfrm>
          <a:prstGeom prst="rect">
            <a:avLst/>
          </a:prstGeom>
          <a:solidFill>
            <a:srgbClr val="F9E4DB"/>
          </a:solidFill>
          <a:ln>
            <a:solidFill>
              <a:srgbClr val="F9E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523744"/>
            <a:ext cx="978407"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P02</a:t>
            </a:r>
          </a:p>
        </p:txBody>
      </p:sp>
      <p:sp>
        <p:nvSpPr>
          <p:cNvPr id="27" name="Rectangle 26"/>
          <p:cNvSpPr/>
          <p:nvPr/>
        </p:nvSpPr>
        <p:spPr>
          <a:xfrm>
            <a:off x="7269479" y="2459736"/>
            <a:ext cx="1143000" cy="429768"/>
          </a:xfrm>
          <a:prstGeom prst="rect">
            <a:avLst/>
          </a:prstGeom>
          <a:solidFill>
            <a:srgbClr val="F9E4DB"/>
          </a:solidFill>
          <a:ln>
            <a:solidFill>
              <a:srgbClr val="F9E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06055" y="2523744"/>
            <a:ext cx="1069848"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14 g</a:t>
            </a:r>
          </a:p>
        </p:txBody>
      </p:sp>
      <p:sp>
        <p:nvSpPr>
          <p:cNvPr id="29" name="Rectangle 28"/>
          <p:cNvSpPr/>
          <p:nvPr/>
        </p:nvSpPr>
        <p:spPr>
          <a:xfrm>
            <a:off x="8412480" y="2459736"/>
            <a:ext cx="1325880" cy="429768"/>
          </a:xfrm>
          <a:prstGeom prst="rect">
            <a:avLst/>
          </a:prstGeom>
          <a:solidFill>
            <a:srgbClr val="F9E4DB"/>
          </a:solidFill>
          <a:ln>
            <a:solidFill>
              <a:srgbClr val="F9E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49055" y="2523744"/>
            <a:ext cx="1252728"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12 g</a:t>
            </a:r>
          </a:p>
        </p:txBody>
      </p:sp>
      <p:sp>
        <p:nvSpPr>
          <p:cNvPr id="31" name="Rectangle 30"/>
          <p:cNvSpPr/>
          <p:nvPr/>
        </p:nvSpPr>
        <p:spPr>
          <a:xfrm>
            <a:off x="9738359" y="2459736"/>
            <a:ext cx="1280160" cy="429768"/>
          </a:xfrm>
          <a:prstGeom prst="rect">
            <a:avLst/>
          </a:prstGeom>
          <a:solidFill>
            <a:srgbClr val="F9E4DB"/>
          </a:solidFill>
          <a:ln>
            <a:solidFill>
              <a:srgbClr val="F9E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74935" y="2523744"/>
            <a:ext cx="1207007"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−2 g</a:t>
            </a:r>
          </a:p>
        </p:txBody>
      </p:sp>
      <p:sp>
        <p:nvSpPr>
          <p:cNvPr id="33" name="Rectangle 32"/>
          <p:cNvSpPr/>
          <p:nvPr/>
        </p:nvSpPr>
        <p:spPr>
          <a:xfrm>
            <a:off x="6217920" y="2889504"/>
            <a:ext cx="105156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4496" y="2953512"/>
            <a:ext cx="978407"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P03</a:t>
            </a:r>
          </a:p>
        </p:txBody>
      </p:sp>
      <p:sp>
        <p:nvSpPr>
          <p:cNvPr id="35" name="Rectangle 34"/>
          <p:cNvSpPr/>
          <p:nvPr/>
        </p:nvSpPr>
        <p:spPr>
          <a:xfrm>
            <a:off x="7269479" y="2889504"/>
            <a:ext cx="114300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06055" y="2953512"/>
            <a:ext cx="1069848"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Not numeric</a:t>
            </a:r>
          </a:p>
        </p:txBody>
      </p:sp>
      <p:sp>
        <p:nvSpPr>
          <p:cNvPr id="37" name="Rectangle 36"/>
          <p:cNvSpPr/>
          <p:nvPr/>
        </p:nvSpPr>
        <p:spPr>
          <a:xfrm>
            <a:off x="8412480" y="2889504"/>
            <a:ext cx="132588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49055" y="2953512"/>
            <a:ext cx="1252728"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18 g*</a:t>
            </a:r>
          </a:p>
        </p:txBody>
      </p:sp>
      <p:sp>
        <p:nvSpPr>
          <p:cNvPr id="39" name="Rectangle 38"/>
          <p:cNvSpPr/>
          <p:nvPr/>
        </p:nvSpPr>
        <p:spPr>
          <a:xfrm>
            <a:off x="9738359" y="2889504"/>
            <a:ext cx="128016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74935" y="2953512"/>
            <a:ext cx="1207007"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Unresolved</a:t>
            </a:r>
          </a:p>
        </p:txBody>
      </p:sp>
      <p:sp>
        <p:nvSpPr>
          <p:cNvPr id="41" name="Rectangle 40"/>
          <p:cNvSpPr/>
          <p:nvPr/>
        </p:nvSpPr>
        <p:spPr>
          <a:xfrm>
            <a:off x="6217920" y="3319272"/>
            <a:ext cx="105156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4496" y="3383279"/>
            <a:ext cx="978407"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P04</a:t>
            </a:r>
          </a:p>
        </p:txBody>
      </p:sp>
      <p:sp>
        <p:nvSpPr>
          <p:cNvPr id="43" name="Rectangle 42"/>
          <p:cNvSpPr/>
          <p:nvPr/>
        </p:nvSpPr>
        <p:spPr>
          <a:xfrm>
            <a:off x="7269479" y="3319272"/>
            <a:ext cx="114300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06055" y="3383279"/>
            <a:ext cx="1069848"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22 g</a:t>
            </a:r>
          </a:p>
        </p:txBody>
      </p:sp>
      <p:sp>
        <p:nvSpPr>
          <p:cNvPr id="45" name="Rectangle 44"/>
          <p:cNvSpPr/>
          <p:nvPr/>
        </p:nvSpPr>
        <p:spPr>
          <a:xfrm>
            <a:off x="8412480" y="3319272"/>
            <a:ext cx="132588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49055" y="3383279"/>
            <a:ext cx="1252728"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23 g</a:t>
            </a:r>
          </a:p>
        </p:txBody>
      </p:sp>
      <p:sp>
        <p:nvSpPr>
          <p:cNvPr id="47" name="Rectangle 46"/>
          <p:cNvSpPr/>
          <p:nvPr/>
        </p:nvSpPr>
        <p:spPr>
          <a:xfrm>
            <a:off x="9738359" y="3319272"/>
            <a:ext cx="1280160" cy="42976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74935" y="3383279"/>
            <a:ext cx="1207007" cy="338328"/>
          </a:xfrm>
          <a:prstGeom prst="rect">
            <a:avLst/>
          </a:prstGeom>
          <a:noFill/>
        </p:spPr>
        <p:txBody>
          <a:bodyPr wrap="square" lIns="54864" rIns="54864" tIns="36576" bIns="36576">
            <a:spAutoFit/>
          </a:bodyPr>
          <a:lstStyle/>
          <a:p>
            <a:pPr algn="l">
              <a:spcAft>
                <a:spcPts val="500"/>
              </a:spcAft>
              <a:defRPr sz="1000" b="0" i="0">
                <a:solidFill>
                  <a:srgbClr val="253027"/>
                </a:solidFill>
                <a:latin typeface="Aptos"/>
              </a:defRPr>
            </a:pPr>
            <a:r>
              <a:t>+1 g</a:t>
            </a:r>
          </a:p>
        </p:txBody>
      </p:sp>
      <p:sp>
        <p:nvSpPr>
          <p:cNvPr id="49" name="TextBox 48"/>
          <p:cNvSpPr txBox="1"/>
          <p:nvPr/>
        </p:nvSpPr>
        <p:spPr>
          <a:xfrm>
            <a:off x="6263640" y="3886200"/>
            <a:ext cx="4937760" cy="411480"/>
          </a:xfrm>
          <a:prstGeom prst="rect">
            <a:avLst/>
          </a:prstGeom>
          <a:noFill/>
        </p:spPr>
        <p:txBody>
          <a:bodyPr wrap="square" lIns="54864" rIns="54864" tIns="36576" bIns="36576">
            <a:spAutoFit/>
          </a:bodyPr>
          <a:lstStyle/>
          <a:p>
            <a:pPr algn="l">
              <a:spcAft>
                <a:spcPts val="500"/>
              </a:spcAft>
              <a:defRPr sz="1000" b="0" i="1">
                <a:solidFill>
                  <a:srgbClr val="687063"/>
                </a:solidFill>
                <a:latin typeface="Aptos"/>
              </a:defRPr>
            </a:pPr>
            <a:r>
              <a:t>*P03 numeric before/after readings not recorded.</a:t>
            </a:r>
          </a:p>
        </p:txBody>
      </p:sp>
      <p:sp>
        <p:nvSpPr>
          <p:cNvPr id="50" name="Rounded Rectangle 49"/>
          <p:cNvSpPr/>
          <p:nvPr/>
        </p:nvSpPr>
        <p:spPr>
          <a:xfrm>
            <a:off x="777240" y="4343400"/>
            <a:ext cx="10469880" cy="123444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3544" y="4453128"/>
            <a:ext cx="1017727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Deviations to disclose</a:t>
            </a:r>
          </a:p>
        </p:txBody>
      </p:sp>
      <p:sp>
        <p:nvSpPr>
          <p:cNvPr id="52" name="TextBox 51"/>
          <p:cNvSpPr txBox="1"/>
          <p:nvPr/>
        </p:nvSpPr>
        <p:spPr>
          <a:xfrm>
            <a:off x="923544" y="4818888"/>
            <a:ext cx="10177272" cy="66751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Sticker notes remain visible; photos were not retaken. Camera height varied about 35–45 cm. P02 differs by 2 g before/after and needs checking.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Exploratory larger piles and limits</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LIMITATIONS</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12</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TextBox 6"/>
          <p:cNvSpPr txBox="1"/>
          <p:nvPr/>
        </p:nvSpPr>
        <p:spPr>
          <a:xfrm>
            <a:off x="731520" y="1097280"/>
            <a:ext cx="5120640" cy="365760"/>
          </a:xfrm>
          <a:prstGeom prst="rect">
            <a:avLst/>
          </a:prstGeom>
          <a:noFill/>
        </p:spPr>
        <p:txBody>
          <a:bodyPr wrap="square" lIns="54864" rIns="54864" tIns="36576" bIns="36576">
            <a:spAutoFit/>
          </a:bodyPr>
          <a:lstStyle/>
          <a:p>
            <a:pPr algn="l">
              <a:spcAft>
                <a:spcPts val="500"/>
              </a:spcAft>
              <a:defRPr sz="1800" b="1" i="0">
                <a:solidFill>
                  <a:srgbClr val="2D5B3F"/>
                </a:solidFill>
                <a:latin typeface="Aptos"/>
              </a:defRPr>
            </a:pPr>
            <a:r>
              <a:t>After-weights recorded for P09–P13</a:t>
            </a:r>
          </a:p>
        </p:txBody>
      </p:sp>
      <p:sp>
        <p:nvSpPr>
          <p:cNvPr id="8" name="Oval 7"/>
          <p:cNvSpPr/>
          <p:nvPr/>
        </p:nvSpPr>
        <p:spPr>
          <a:xfrm>
            <a:off x="868680" y="1828800"/>
            <a:ext cx="713232" cy="713232"/>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713232" cy="228600"/>
          </a:xfrm>
          <a:prstGeom prst="rect">
            <a:avLst/>
          </a:prstGeom>
          <a:noFill/>
        </p:spPr>
        <p:txBody>
          <a:bodyPr wrap="square" lIns="54864" rIns="54864" tIns="36576" bIns="36576">
            <a:spAutoFit/>
          </a:bodyPr>
          <a:lstStyle/>
          <a:p>
            <a:pPr algn="ctr">
              <a:spcAft>
                <a:spcPts val="500"/>
              </a:spcAft>
              <a:defRPr sz="1500" b="1" i="0">
                <a:solidFill>
                  <a:srgbClr val="253027"/>
                </a:solidFill>
                <a:latin typeface="Aptos"/>
              </a:defRPr>
            </a:pPr>
            <a:r>
              <a:t>27</a:t>
            </a:r>
          </a:p>
        </p:txBody>
      </p:sp>
      <p:sp>
        <p:nvSpPr>
          <p:cNvPr id="10" name="TextBox 9"/>
          <p:cNvSpPr txBox="1"/>
          <p:nvPr/>
        </p:nvSpPr>
        <p:spPr>
          <a:xfrm>
            <a:off x="868680" y="2651760"/>
            <a:ext cx="713232" cy="228600"/>
          </a:xfrm>
          <a:prstGeom prst="rect">
            <a:avLst/>
          </a:prstGeom>
          <a:noFill/>
        </p:spPr>
        <p:txBody>
          <a:bodyPr wrap="square" lIns="54864" rIns="54864" tIns="36576" bIns="36576">
            <a:spAutoFit/>
          </a:bodyPr>
          <a:lstStyle/>
          <a:p>
            <a:pPr algn="ctr">
              <a:spcAft>
                <a:spcPts val="500"/>
              </a:spcAft>
              <a:defRPr sz="1100" b="1" i="0">
                <a:solidFill>
                  <a:srgbClr val="2D5B3F"/>
                </a:solidFill>
                <a:latin typeface="Aptos"/>
              </a:defRPr>
            </a:pPr>
            <a:r>
              <a:t>P09</a:t>
            </a:r>
          </a:p>
        </p:txBody>
      </p:sp>
      <p:sp>
        <p:nvSpPr>
          <p:cNvPr id="11" name="Oval 10"/>
          <p:cNvSpPr/>
          <p:nvPr/>
        </p:nvSpPr>
        <p:spPr>
          <a:xfrm>
            <a:off x="1920239" y="1828800"/>
            <a:ext cx="713232" cy="713232"/>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20239" y="2057400"/>
            <a:ext cx="713232" cy="228600"/>
          </a:xfrm>
          <a:prstGeom prst="rect">
            <a:avLst/>
          </a:prstGeom>
          <a:noFill/>
        </p:spPr>
        <p:txBody>
          <a:bodyPr wrap="square" lIns="54864" rIns="54864" tIns="36576" bIns="36576">
            <a:spAutoFit/>
          </a:bodyPr>
          <a:lstStyle/>
          <a:p>
            <a:pPr algn="ctr">
              <a:spcAft>
                <a:spcPts val="500"/>
              </a:spcAft>
              <a:defRPr sz="1500" b="1" i="0">
                <a:solidFill>
                  <a:srgbClr val="253027"/>
                </a:solidFill>
                <a:latin typeface="Aptos"/>
              </a:defRPr>
            </a:pPr>
            <a:r>
              <a:t>28</a:t>
            </a:r>
          </a:p>
        </p:txBody>
      </p:sp>
      <p:sp>
        <p:nvSpPr>
          <p:cNvPr id="13" name="TextBox 12"/>
          <p:cNvSpPr txBox="1"/>
          <p:nvPr/>
        </p:nvSpPr>
        <p:spPr>
          <a:xfrm>
            <a:off x="1920239" y="2651760"/>
            <a:ext cx="713232" cy="228600"/>
          </a:xfrm>
          <a:prstGeom prst="rect">
            <a:avLst/>
          </a:prstGeom>
          <a:noFill/>
        </p:spPr>
        <p:txBody>
          <a:bodyPr wrap="square" lIns="54864" rIns="54864" tIns="36576" bIns="36576">
            <a:spAutoFit/>
          </a:bodyPr>
          <a:lstStyle/>
          <a:p>
            <a:pPr algn="ctr">
              <a:spcAft>
                <a:spcPts val="500"/>
              </a:spcAft>
              <a:defRPr sz="1100" b="1" i="0">
                <a:solidFill>
                  <a:srgbClr val="2D5B3F"/>
                </a:solidFill>
                <a:latin typeface="Aptos"/>
              </a:defRPr>
            </a:pPr>
            <a:r>
              <a:t>P10</a:t>
            </a:r>
          </a:p>
        </p:txBody>
      </p:sp>
      <p:sp>
        <p:nvSpPr>
          <p:cNvPr id="14" name="Oval 13"/>
          <p:cNvSpPr/>
          <p:nvPr/>
        </p:nvSpPr>
        <p:spPr>
          <a:xfrm>
            <a:off x="2971800" y="1828800"/>
            <a:ext cx="713232" cy="713232"/>
          </a:xfrm>
          <a:prstGeom prst="ellipse">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71800" y="2057400"/>
            <a:ext cx="713232" cy="228600"/>
          </a:xfrm>
          <a:prstGeom prst="rect">
            <a:avLst/>
          </a:prstGeom>
          <a:noFill/>
        </p:spPr>
        <p:txBody>
          <a:bodyPr wrap="square" lIns="54864" rIns="54864" tIns="36576" bIns="36576">
            <a:spAutoFit/>
          </a:bodyPr>
          <a:lstStyle/>
          <a:p>
            <a:pPr algn="ctr">
              <a:spcAft>
                <a:spcPts val="500"/>
              </a:spcAft>
              <a:defRPr sz="1500" b="1" i="0">
                <a:solidFill>
                  <a:srgbClr val="253027"/>
                </a:solidFill>
                <a:latin typeface="Aptos"/>
              </a:defRPr>
            </a:pPr>
            <a:r>
              <a:t>29</a:t>
            </a:r>
          </a:p>
        </p:txBody>
      </p:sp>
      <p:sp>
        <p:nvSpPr>
          <p:cNvPr id="16" name="TextBox 15"/>
          <p:cNvSpPr txBox="1"/>
          <p:nvPr/>
        </p:nvSpPr>
        <p:spPr>
          <a:xfrm>
            <a:off x="2971800" y="2651760"/>
            <a:ext cx="713232" cy="228600"/>
          </a:xfrm>
          <a:prstGeom prst="rect">
            <a:avLst/>
          </a:prstGeom>
          <a:noFill/>
        </p:spPr>
        <p:txBody>
          <a:bodyPr wrap="square" lIns="54864" rIns="54864" tIns="36576" bIns="36576">
            <a:spAutoFit/>
          </a:bodyPr>
          <a:lstStyle/>
          <a:p>
            <a:pPr algn="ctr">
              <a:spcAft>
                <a:spcPts val="500"/>
              </a:spcAft>
              <a:defRPr sz="1100" b="1" i="0">
                <a:solidFill>
                  <a:srgbClr val="2D5B3F"/>
                </a:solidFill>
                <a:latin typeface="Aptos"/>
              </a:defRPr>
            </a:pPr>
            <a:r>
              <a:t>P11</a:t>
            </a:r>
          </a:p>
        </p:txBody>
      </p:sp>
      <p:sp>
        <p:nvSpPr>
          <p:cNvPr id="17" name="Oval 16"/>
          <p:cNvSpPr/>
          <p:nvPr/>
        </p:nvSpPr>
        <p:spPr>
          <a:xfrm>
            <a:off x="4023359" y="1828800"/>
            <a:ext cx="713232" cy="713232"/>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23359" y="2057400"/>
            <a:ext cx="713232" cy="228600"/>
          </a:xfrm>
          <a:prstGeom prst="rect">
            <a:avLst/>
          </a:prstGeom>
          <a:noFill/>
        </p:spPr>
        <p:txBody>
          <a:bodyPr wrap="square" lIns="54864" rIns="54864" tIns="36576" bIns="36576">
            <a:spAutoFit/>
          </a:bodyPr>
          <a:lstStyle/>
          <a:p>
            <a:pPr algn="ctr">
              <a:spcAft>
                <a:spcPts val="500"/>
              </a:spcAft>
              <a:defRPr sz="1500" b="1" i="0">
                <a:solidFill>
                  <a:srgbClr val="253027"/>
                </a:solidFill>
                <a:latin typeface="Aptos"/>
              </a:defRPr>
            </a:pPr>
            <a:r>
              <a:t>32</a:t>
            </a:r>
          </a:p>
        </p:txBody>
      </p:sp>
      <p:sp>
        <p:nvSpPr>
          <p:cNvPr id="19" name="TextBox 18"/>
          <p:cNvSpPr txBox="1"/>
          <p:nvPr/>
        </p:nvSpPr>
        <p:spPr>
          <a:xfrm>
            <a:off x="4023359" y="2651760"/>
            <a:ext cx="713232" cy="228600"/>
          </a:xfrm>
          <a:prstGeom prst="rect">
            <a:avLst/>
          </a:prstGeom>
          <a:noFill/>
        </p:spPr>
        <p:txBody>
          <a:bodyPr wrap="square" lIns="54864" rIns="54864" tIns="36576" bIns="36576">
            <a:spAutoFit/>
          </a:bodyPr>
          <a:lstStyle/>
          <a:p>
            <a:pPr algn="ctr">
              <a:spcAft>
                <a:spcPts val="500"/>
              </a:spcAft>
              <a:defRPr sz="1100" b="1" i="0">
                <a:solidFill>
                  <a:srgbClr val="2D5B3F"/>
                </a:solidFill>
                <a:latin typeface="Aptos"/>
              </a:defRPr>
            </a:pPr>
            <a:r>
              <a:t>P12</a:t>
            </a:r>
          </a:p>
        </p:txBody>
      </p:sp>
      <p:sp>
        <p:nvSpPr>
          <p:cNvPr id="20" name="Oval 19"/>
          <p:cNvSpPr/>
          <p:nvPr/>
        </p:nvSpPr>
        <p:spPr>
          <a:xfrm>
            <a:off x="5074920" y="1828800"/>
            <a:ext cx="713232" cy="713232"/>
          </a:xfrm>
          <a:prstGeom prst="ellipse">
            <a:avLst/>
          </a:prstGeom>
          <a:solidFill>
            <a:srgbClr val="DC8F14"/>
          </a:solidFill>
          <a:ln>
            <a:solidFill>
              <a:srgbClr val="DC8F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74920" y="2057400"/>
            <a:ext cx="713232" cy="228600"/>
          </a:xfrm>
          <a:prstGeom prst="rect">
            <a:avLst/>
          </a:prstGeom>
          <a:noFill/>
        </p:spPr>
        <p:txBody>
          <a:bodyPr wrap="square" lIns="54864" rIns="54864" tIns="36576" bIns="36576">
            <a:spAutoFit/>
          </a:bodyPr>
          <a:lstStyle/>
          <a:p>
            <a:pPr algn="ctr">
              <a:spcAft>
                <a:spcPts val="500"/>
              </a:spcAft>
              <a:defRPr sz="1500" b="1" i="0">
                <a:solidFill>
                  <a:srgbClr val="253027"/>
                </a:solidFill>
                <a:latin typeface="Aptos"/>
              </a:defRPr>
            </a:pPr>
            <a:r>
              <a:t>34</a:t>
            </a:r>
          </a:p>
        </p:txBody>
      </p:sp>
      <p:sp>
        <p:nvSpPr>
          <p:cNvPr id="22" name="TextBox 21"/>
          <p:cNvSpPr txBox="1"/>
          <p:nvPr/>
        </p:nvSpPr>
        <p:spPr>
          <a:xfrm>
            <a:off x="5074920" y="2651760"/>
            <a:ext cx="713232" cy="228600"/>
          </a:xfrm>
          <a:prstGeom prst="rect">
            <a:avLst/>
          </a:prstGeom>
          <a:noFill/>
        </p:spPr>
        <p:txBody>
          <a:bodyPr wrap="square" lIns="54864" rIns="54864" tIns="36576" bIns="36576">
            <a:spAutoFit/>
          </a:bodyPr>
          <a:lstStyle/>
          <a:p>
            <a:pPr algn="ctr">
              <a:spcAft>
                <a:spcPts val="500"/>
              </a:spcAft>
              <a:defRPr sz="1100" b="1" i="0">
                <a:solidFill>
                  <a:srgbClr val="2D5B3F"/>
                </a:solidFill>
                <a:latin typeface="Aptos"/>
              </a:defRPr>
            </a:pPr>
            <a:r>
              <a:t>P13</a:t>
            </a:r>
          </a:p>
        </p:txBody>
      </p:sp>
      <p:sp>
        <p:nvSpPr>
          <p:cNvPr id="23" name="TextBox 22"/>
          <p:cNvSpPr txBox="1"/>
          <p:nvPr/>
        </p:nvSpPr>
        <p:spPr>
          <a:xfrm>
            <a:off x="777240" y="3154680"/>
            <a:ext cx="5120640" cy="548640"/>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Observed range extends to 27–34 g, but these data have not been used to refit or validate the model.</a:t>
            </a:r>
          </a:p>
        </p:txBody>
      </p:sp>
      <p:sp>
        <p:nvSpPr>
          <p:cNvPr id="24" name="Rounded Rectangle 23"/>
          <p:cNvSpPr/>
          <p:nvPr/>
        </p:nvSpPr>
        <p:spPr>
          <a:xfrm>
            <a:off x="6217920" y="1371600"/>
            <a:ext cx="4983480" cy="1188720"/>
          </a:xfrm>
          <a:prstGeom prst="roundRect">
            <a:avLst/>
          </a:prstGeom>
          <a:solidFill>
            <a:srgbClr val="F9E4DB"/>
          </a:solidFill>
          <a:ln>
            <a:solidFill>
              <a:srgbClr val="F9E4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64224" y="1481328"/>
            <a:ext cx="469087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P14 / P15</a:t>
            </a:r>
          </a:p>
        </p:txBody>
      </p:sp>
      <p:sp>
        <p:nvSpPr>
          <p:cNvPr id="26" name="TextBox 25"/>
          <p:cNvSpPr txBox="1"/>
          <p:nvPr/>
        </p:nvSpPr>
        <p:spPr>
          <a:xfrm>
            <a:off x="6364224" y="1847088"/>
            <a:ext cx="4690872" cy="62179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Not completed. A preliminary visual check suggested the pile might exceed the image area at the allowed height; no formal fit test was done.</a:t>
            </a:r>
          </a:p>
        </p:txBody>
      </p:sp>
      <p:sp>
        <p:nvSpPr>
          <p:cNvPr id="27" name="Rounded Rectangle 26"/>
          <p:cNvSpPr/>
          <p:nvPr/>
        </p:nvSpPr>
        <p:spPr>
          <a:xfrm>
            <a:off x="6217920" y="2834640"/>
            <a:ext cx="4983480" cy="118872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64224" y="2944368"/>
            <a:ext cx="469087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What we can claim</a:t>
            </a:r>
          </a:p>
        </p:txBody>
      </p:sp>
      <p:sp>
        <p:nvSpPr>
          <p:cNvPr id="29" name="TextBox 28"/>
          <p:cNvSpPr txBox="1"/>
          <p:nvPr/>
        </p:nvSpPr>
        <p:spPr>
          <a:xfrm>
            <a:off x="6364224" y="3310128"/>
            <a:ext cx="4690872" cy="62179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The practical stopping point is a qualitative observation, not a verified maximum imageable weight.</a:t>
            </a:r>
          </a:p>
        </p:txBody>
      </p:sp>
      <p:sp>
        <p:nvSpPr>
          <p:cNvPr id="30" name="Rounded Rectangle 29"/>
          <p:cNvSpPr/>
          <p:nvPr/>
        </p:nvSpPr>
        <p:spPr>
          <a:xfrm>
            <a:off x="777240" y="4343400"/>
            <a:ext cx="10424160" cy="1005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3544" y="4453128"/>
            <a:ext cx="1013155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Range limitation</a:t>
            </a:r>
          </a:p>
        </p:txBody>
      </p:sp>
      <p:sp>
        <p:nvSpPr>
          <p:cNvPr id="32" name="TextBox 31"/>
          <p:cNvSpPr txBox="1"/>
          <p:nvPr/>
        </p:nvSpPr>
        <p:spPr>
          <a:xfrm>
            <a:off x="923544" y="4818888"/>
            <a:ext cx="10131552" cy="43891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The original ±10% interval is calibrated for 10–24 g. Larger samples should be labelled exploratory until the model is re-evaluated.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What we would change next time</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IMPROVEMENTS</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13</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Rounded Rectangle 6"/>
          <p:cNvSpPr/>
          <p:nvPr/>
        </p:nvSpPr>
        <p:spPr>
          <a:xfrm>
            <a:off x="731520" y="1188720"/>
            <a:ext cx="352044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298448"/>
            <a:ext cx="322783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1 • Measure with and without hulls</a:t>
            </a:r>
          </a:p>
        </p:txBody>
      </p:sp>
      <p:sp>
        <p:nvSpPr>
          <p:cNvPr id="9" name="TextBox 8"/>
          <p:cNvSpPr txBox="1"/>
          <p:nvPr/>
        </p:nvSpPr>
        <p:spPr>
          <a:xfrm>
            <a:off x="877824" y="1664208"/>
            <a:ext cx="3227832" cy="80467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Sunflower seeds may need a hulled-versus-unhulled weight comparison. We only measured seeds with their hulls this time because dehulling every sample was too time-consuming.</a:t>
            </a:r>
          </a:p>
        </p:txBody>
      </p:sp>
      <p:sp>
        <p:nvSpPr>
          <p:cNvPr id="10" name="Rounded Rectangle 9"/>
          <p:cNvSpPr/>
          <p:nvPr/>
        </p:nvSpPr>
        <p:spPr>
          <a:xfrm>
            <a:off x="4343400" y="1188720"/>
            <a:ext cx="3520440" cy="1371600"/>
          </a:xfrm>
          <a:prstGeom prst="roundRect">
            <a:avLst/>
          </a:prstGeom>
          <a:solidFill>
            <a:srgbClr val="E2ECDB"/>
          </a:solidFill>
          <a:ln>
            <a:solidFill>
              <a:srgbClr val="E2E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1298448"/>
            <a:ext cx="322783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2 • Use a step-by-step checklist</a:t>
            </a:r>
          </a:p>
        </p:txBody>
      </p:sp>
      <p:sp>
        <p:nvSpPr>
          <p:cNvPr id="12" name="TextBox 11"/>
          <p:cNvSpPr txBox="1"/>
          <p:nvPr/>
        </p:nvSpPr>
        <p:spPr>
          <a:xfrm>
            <a:off x="4489704" y="1664208"/>
            <a:ext cx="3227832" cy="80467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The written procedure was already standardised. The issue was that the operator did not consult it while working and missed Step 6. Next time, check off each step as it is completed.</a:t>
            </a:r>
          </a:p>
        </p:txBody>
      </p:sp>
      <p:sp>
        <p:nvSpPr>
          <p:cNvPr id="13" name="Rounded Rectangle 12"/>
          <p:cNvSpPr/>
          <p:nvPr/>
        </p:nvSpPr>
        <p:spPr>
          <a:xfrm>
            <a:off x="7955279" y="1188720"/>
            <a:ext cx="3520440" cy="137160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01583" y="1298448"/>
            <a:ext cx="322783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3 • Count seeds in validation samples</a:t>
            </a:r>
          </a:p>
        </p:txBody>
      </p:sp>
      <p:sp>
        <p:nvSpPr>
          <p:cNvPr id="15" name="TextBox 14"/>
          <p:cNvSpPr txBox="1"/>
          <p:nvPr/>
        </p:nvSpPr>
        <p:spPr>
          <a:xfrm>
            <a:off x="8101583" y="1664208"/>
            <a:ext cx="3227832" cy="80467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We did not manually count the seeds in the main piles because there were too many. In a future validation subset, count a manageable sample to compare detector counts with ground truth.</a:t>
            </a:r>
          </a:p>
        </p:txBody>
      </p:sp>
      <p:sp>
        <p:nvSpPr>
          <p:cNvPr id="16" name="Rounded Rectangle 15"/>
          <p:cNvSpPr/>
          <p:nvPr/>
        </p:nvSpPr>
        <p:spPr>
          <a:xfrm>
            <a:off x="731520" y="2880360"/>
            <a:ext cx="3520440" cy="137160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2990088"/>
            <a:ext cx="322783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4 • Fix the camera height</a:t>
            </a:r>
          </a:p>
        </p:txBody>
      </p:sp>
      <p:sp>
        <p:nvSpPr>
          <p:cNvPr id="18" name="TextBox 17"/>
          <p:cNvSpPr txBox="1"/>
          <p:nvPr/>
        </p:nvSpPr>
        <p:spPr>
          <a:xfrm>
            <a:off x="877824" y="3355848"/>
            <a:ext cx="3227832" cy="80467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We measured height approximately with a ruler but had no fixed stand. A simple stand or height jig would make the camera-to-table distance repeatable.</a:t>
            </a:r>
          </a:p>
        </p:txBody>
      </p:sp>
      <p:sp>
        <p:nvSpPr>
          <p:cNvPr id="19" name="Rounded Rectangle 18"/>
          <p:cNvSpPr/>
          <p:nvPr/>
        </p:nvSpPr>
        <p:spPr>
          <a:xfrm>
            <a:off x="4343400" y="2880360"/>
            <a:ext cx="3520440" cy="137160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9704" y="2990088"/>
            <a:ext cx="322783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5 • Analyse the cross-phone repeat</a:t>
            </a:r>
          </a:p>
        </p:txBody>
      </p:sp>
      <p:sp>
        <p:nvSpPr>
          <p:cNvPr id="21" name="TextBox 20"/>
          <p:cNvSpPr txBox="1"/>
          <p:nvPr/>
        </p:nvSpPr>
        <p:spPr>
          <a:xfrm>
            <a:off x="4489704" y="3355848"/>
            <a:ext cx="3227832" cy="80467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Use the 19 Oct same-pile, two-person/two-phone comparison to separate repeatability from operator and device effects, and report the measured differences.</a:t>
            </a:r>
          </a:p>
        </p:txBody>
      </p:sp>
      <p:sp>
        <p:nvSpPr>
          <p:cNvPr id="22" name="Rounded Rectangle 21"/>
          <p:cNvSpPr/>
          <p:nvPr/>
        </p:nvSpPr>
        <p:spPr>
          <a:xfrm>
            <a:off x="7955279" y="2880360"/>
            <a:ext cx="3520440" cy="1371600"/>
          </a:xfrm>
          <a:prstGeom prst="roundRect">
            <a:avLst/>
          </a:prstGeom>
          <a:solidFill>
            <a:srgbClr val="E2ECDB"/>
          </a:solidFill>
          <a:ln>
            <a:solidFill>
              <a:srgbClr val="E2EC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01583" y="2990088"/>
            <a:ext cx="322783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6 • Extend the tested range carefully</a:t>
            </a:r>
          </a:p>
        </p:txBody>
      </p:sp>
      <p:sp>
        <p:nvSpPr>
          <p:cNvPr id="24" name="TextBox 23"/>
          <p:cNvSpPr txBox="1"/>
          <p:nvPr/>
        </p:nvSpPr>
        <p:spPr>
          <a:xfrm>
            <a:off x="8101583" y="3355848"/>
            <a:ext cx="3227832" cy="804672"/>
          </a:xfrm>
          <a:prstGeom prst="rect">
            <a:avLst/>
          </a:prstGeom>
          <a:noFill/>
        </p:spPr>
        <p:txBody>
          <a:bodyPr wrap="square" lIns="54864" rIns="54864" tIns="36576" bIns="36576">
            <a:spAutoFit/>
          </a:bodyPr>
          <a:lstStyle/>
          <a:p>
            <a:pPr algn="l">
              <a:spcAft>
                <a:spcPts val="500"/>
              </a:spcAft>
              <a:defRPr sz="1300" b="0" i="0">
                <a:solidFill>
                  <a:srgbClr val="253027"/>
                </a:solidFill>
                <a:latin typeface="Aptos"/>
              </a:defRPr>
            </a:pPr>
            <a:r>
              <a:t>Analyse P09–P13 separately first; only refit the calibration and prediction interval after checking counts and validating performance at larger weights.</a:t>
            </a:r>
          </a:p>
        </p:txBody>
      </p:sp>
      <p:sp>
        <p:nvSpPr>
          <p:cNvPr id="25" name="TextBox 24"/>
          <p:cNvSpPr txBox="1"/>
          <p:nvPr/>
        </p:nvSpPr>
        <p:spPr>
          <a:xfrm>
            <a:off x="822960" y="4892040"/>
            <a:ext cx="10424160" cy="594360"/>
          </a:xfrm>
          <a:prstGeom prst="rect">
            <a:avLst/>
          </a:prstGeom>
          <a:noFill/>
        </p:spPr>
        <p:txBody>
          <a:bodyPr wrap="square" lIns="54864" rIns="54864" tIns="36576" bIns="36576">
            <a:spAutoFit/>
          </a:bodyPr>
          <a:lstStyle/>
          <a:p>
            <a:pPr algn="ctr">
              <a:spcAft>
                <a:spcPts val="500"/>
              </a:spcAft>
              <a:defRPr sz="1700" b="1" i="0">
                <a:solidFill>
                  <a:srgbClr val="2D5B3F"/>
                </a:solidFill>
                <a:latin typeface="Aptos"/>
              </a:defRPr>
            </a:pPr>
            <a:r>
              <a:t>Main lesson: a good written protocol is not enough on its own—operators need a practical habit of checking each step as they go.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EE"/>
        </a:solidFill>
        <a:effectLst/>
      </p:bgPr>
    </p:bg>
    <p:spTree>
      <p:nvGrpSpPr>
        <p:cNvPr id="1" name=""/>
        <p:cNvGrpSpPr/>
        <p:nvPr/>
      </p:nvGrpSpPr>
      <p:grpSpPr/>
      <p:sp>
        <p:nvSpPr>
          <p:cNvPr id="2" name="TextBox 1"/>
          <p:cNvSpPr txBox="1"/>
          <p:nvPr/>
        </p:nvSpPr>
        <p:spPr>
          <a:xfrm>
            <a:off x="530352" y="256032"/>
            <a:ext cx="10607040" cy="457200"/>
          </a:xfrm>
          <a:prstGeom prst="rect">
            <a:avLst/>
          </a:prstGeom>
          <a:noFill/>
        </p:spPr>
        <p:txBody>
          <a:bodyPr wrap="square" lIns="54864" rIns="54864" tIns="36576" bIns="36576">
            <a:spAutoFit/>
          </a:bodyPr>
          <a:lstStyle/>
          <a:p>
            <a:pPr algn="l">
              <a:spcAft>
                <a:spcPts val="500"/>
              </a:spcAft>
              <a:defRPr sz="2500" b="1" i="0">
                <a:solidFill>
                  <a:srgbClr val="2D5B3F"/>
                </a:solidFill>
                <a:latin typeface="Aptos"/>
              </a:defRPr>
            </a:pPr>
            <a:r>
              <a:t>Sources and final checks</a:t>
            </a:r>
          </a:p>
        </p:txBody>
      </p:sp>
      <p:sp>
        <p:nvSpPr>
          <p:cNvPr id="3" name="Rectangle 2"/>
          <p:cNvSpPr/>
          <p:nvPr/>
        </p:nvSpPr>
        <p:spPr>
          <a:xfrm>
            <a:off x="566928" y="832104"/>
            <a:ext cx="914400" cy="64008"/>
          </a:xfrm>
          <a:prstGeom prst="rect">
            <a:avLst/>
          </a:prstGeom>
          <a:solidFill>
            <a:srgbClr val="F2B705"/>
          </a:solidFill>
          <a:ln>
            <a:solidFill>
              <a:srgbClr val="F2B7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0" y="338328"/>
            <a:ext cx="2468880" cy="228600"/>
          </a:xfrm>
          <a:prstGeom prst="rect">
            <a:avLst/>
          </a:prstGeom>
          <a:noFill/>
        </p:spPr>
        <p:txBody>
          <a:bodyPr wrap="square" lIns="54864" rIns="54864" tIns="36576" bIns="36576">
            <a:spAutoFit/>
          </a:bodyPr>
          <a:lstStyle/>
          <a:p>
            <a:pPr algn="r">
              <a:spcAft>
                <a:spcPts val="500"/>
              </a:spcAft>
              <a:defRPr sz="1000" b="1" i="0">
                <a:solidFill>
                  <a:srgbClr val="687063"/>
                </a:solidFill>
                <a:latin typeface="Aptos"/>
              </a:defRPr>
            </a:pPr>
            <a:r>
              <a:t>APPENDIX</a:t>
            </a:r>
          </a:p>
        </p:txBody>
      </p:sp>
      <p:sp>
        <p:nvSpPr>
          <p:cNvPr id="5" name="TextBox 4"/>
          <p:cNvSpPr txBox="1"/>
          <p:nvPr/>
        </p:nvSpPr>
        <p:spPr>
          <a:xfrm>
            <a:off x="11475720" y="6473952"/>
            <a:ext cx="320040" cy="182880"/>
          </a:xfrm>
          <a:prstGeom prst="rect">
            <a:avLst/>
          </a:prstGeom>
          <a:noFill/>
        </p:spPr>
        <p:txBody>
          <a:bodyPr wrap="square" lIns="54864" rIns="54864" tIns="36576" bIns="36576">
            <a:spAutoFit/>
          </a:bodyPr>
          <a:lstStyle/>
          <a:p>
            <a:pPr algn="r">
              <a:spcAft>
                <a:spcPts val="500"/>
              </a:spcAft>
              <a:defRPr sz="900" b="0" i="0">
                <a:solidFill>
                  <a:srgbClr val="687063"/>
                </a:solidFill>
                <a:latin typeface="Aptos"/>
              </a:defRPr>
            </a:pPr>
            <a:r>
              <a:t>14</a:t>
            </a:r>
          </a:p>
        </p:txBody>
      </p:sp>
      <p:sp>
        <p:nvSpPr>
          <p:cNvPr id="6" name="TextBox 5"/>
          <p:cNvSpPr txBox="1"/>
          <p:nvPr/>
        </p:nvSpPr>
        <p:spPr>
          <a:xfrm>
            <a:off x="548640" y="6473952"/>
            <a:ext cx="8686800" cy="182880"/>
          </a:xfrm>
          <a:prstGeom prst="rect">
            <a:avLst/>
          </a:prstGeom>
          <a:noFill/>
        </p:spPr>
        <p:txBody>
          <a:bodyPr wrap="square" lIns="54864" rIns="54864" tIns="36576" bIns="36576">
            <a:spAutoFit/>
          </a:bodyPr>
          <a:lstStyle/>
          <a:p>
            <a:pPr algn="l">
              <a:spcAft>
                <a:spcPts val="500"/>
              </a:spcAft>
              <a:defRPr sz="900" b="0" i="0">
                <a:solidFill>
                  <a:srgbClr val="687063"/>
                </a:solidFill>
                <a:latin typeface="Aptos"/>
              </a:defRPr>
            </a:pPr>
            <a:r>
              <a:t>Sunflower group • CNH Data Collection project • Draft for review</a:t>
            </a:r>
          </a:p>
        </p:txBody>
      </p:sp>
      <p:sp>
        <p:nvSpPr>
          <p:cNvPr id="7" name="TextBox 6"/>
          <p:cNvSpPr txBox="1"/>
          <p:nvPr/>
        </p:nvSpPr>
        <p:spPr>
          <a:xfrm>
            <a:off x="777240" y="1234440"/>
            <a:ext cx="10424160" cy="2560320"/>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  Repository: https://github.com/HadiNasooti/cnh-sunflower-weight</a:t>
            </a:r>
          </a:p>
          <a:p>
            <a:pPr algn="l">
              <a:spcAft>
                <a:spcPts val="500"/>
              </a:spcAft>
              <a:defRPr sz="1400" b="0" i="0">
                <a:solidFill>
                  <a:srgbClr val="253027"/>
                </a:solidFill>
                <a:latin typeface="Aptos"/>
              </a:defRPr>
            </a:pPr>
            <a:r>
              <a:t>•  Procedure: docs/group/PROCEDURE.md (v2, 19 Oct 2026).</a:t>
            </a:r>
          </a:p>
          <a:p>
            <a:pPr algn="l">
              <a:spcAft>
                <a:spcPts val="500"/>
              </a:spcAft>
              <a:defRPr sz="1400" b="0" i="0">
                <a:solidFill>
                  <a:srgbClr val="253027"/>
                </a:solidFill>
                <a:latin typeface="Aptos"/>
              </a:defRPr>
            </a:pPr>
            <a:r>
              <a:t>•  Analysis and error budget: docs/group/STATUS_AND_PLAN.md, sections 3b–4b.</a:t>
            </a:r>
          </a:p>
          <a:p>
            <a:pPr algn="l">
              <a:spcAft>
                <a:spcPts val="500"/>
              </a:spcAft>
              <a:defRPr sz="1400" b="0" i="0">
                <a:solidFill>
                  <a:srgbClr val="253027"/>
                </a:solidFill>
                <a:latin typeface="Aptos"/>
              </a:defRPr>
            </a:pPr>
            <a:r>
              <a:t>•  Measurement index: data/samples.csv; notes: docs/group/lab_log.md.</a:t>
            </a:r>
          </a:p>
          <a:p>
            <a:pPr algn="l">
              <a:spcAft>
                <a:spcPts val="500"/>
              </a:spcAft>
              <a:defRPr sz="1400" b="0" i="0">
                <a:solidFill>
                  <a:srgbClr val="253027"/>
                </a:solidFill>
                <a:latin typeface="Aptos"/>
              </a:defRPr>
            </a:pPr>
            <a:r>
              <a:t>•  CSV has 51 data rows after adding the 18 new photo rows.</a:t>
            </a:r>
          </a:p>
        </p:txBody>
      </p:sp>
      <p:sp>
        <p:nvSpPr>
          <p:cNvPr id="8" name="Rounded Rectangle 7"/>
          <p:cNvSpPr/>
          <p:nvPr/>
        </p:nvSpPr>
        <p:spPr>
          <a:xfrm>
            <a:off x="777240" y="4251960"/>
            <a:ext cx="10424160" cy="1325880"/>
          </a:xfrm>
          <a:prstGeom prst="roundRect">
            <a:avLst/>
          </a:prstGeom>
          <a:solidFill>
            <a:srgbClr val="FFF1BE"/>
          </a:solidFill>
          <a:ln>
            <a:solidFill>
              <a:srgbClr val="FFF1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4361688"/>
            <a:ext cx="10131552" cy="320040"/>
          </a:xfrm>
          <a:prstGeom prst="rect">
            <a:avLst/>
          </a:prstGeom>
          <a:noFill/>
        </p:spPr>
        <p:txBody>
          <a:bodyPr wrap="square" lIns="54864" rIns="54864" tIns="36576" bIns="36576">
            <a:spAutoFit/>
          </a:bodyPr>
          <a:lstStyle/>
          <a:p>
            <a:pPr algn="l">
              <a:spcAft>
                <a:spcPts val="500"/>
              </a:spcAft>
              <a:defRPr sz="1500" b="1" i="0">
                <a:solidFill>
                  <a:srgbClr val="2D5B3F"/>
                </a:solidFill>
                <a:latin typeface="Aptos"/>
              </a:defRPr>
            </a:pPr>
            <a:r>
              <a:t>Before final submission</a:t>
            </a:r>
          </a:p>
        </p:txBody>
      </p:sp>
      <p:sp>
        <p:nvSpPr>
          <p:cNvPr id="10" name="TextBox 9"/>
          <p:cNvSpPr txBox="1"/>
          <p:nvPr/>
        </p:nvSpPr>
        <p:spPr>
          <a:xfrm>
            <a:off x="923544" y="4727448"/>
            <a:ext cx="10131552" cy="758952"/>
          </a:xfrm>
          <a:prstGeom prst="rect">
            <a:avLst/>
          </a:prstGeom>
          <a:noFill/>
        </p:spPr>
        <p:txBody>
          <a:bodyPr wrap="square" lIns="54864" rIns="54864" tIns="36576" bIns="36576">
            <a:spAutoFit/>
          </a:bodyPr>
          <a:lstStyle/>
          <a:p>
            <a:pPr algn="l">
              <a:spcAft>
                <a:spcPts val="500"/>
              </a:spcAft>
              <a:defRPr sz="1400" b="0" i="0">
                <a:solidFill>
                  <a:srgbClr val="253027"/>
                </a:solidFill>
                <a:latin typeface="Aptos"/>
              </a:defRPr>
            </a:pPr>
            <a:r>
              <a:t>Confirm P02's 14 g → 12 g change; ask Hadi whether Task 4 must be repeated; run detector analysis on Jia's photos if possible; add actual cross-person/cross-phone Gauge R&amp;R results if completed.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