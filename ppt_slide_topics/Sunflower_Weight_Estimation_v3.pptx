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D5B3F"/>
                </a:solidFill>
                <a:latin typeface="Calibri"/>
              </a:defRPr>
            </a:pPr>
            <a:r>
              <a:rPr sz="1400" b="0" i="0" u="none" strike="noStrike">
                <a:solidFill>
                  <a:srgbClr val="2D5B3F"/>
                </a:solidFill>
                <a:latin typeface="Calibri"/>
              </a:rPr>
              <a:t>Same untouched pile, 16 photos: seeds counted</a:t>
            </a:r>
          </a:p>
        </c:rich>
      </c:tx>
      <c:layout/>
      <c:overlay val="0"/>
    </c:title>
    <c:autoTitleDeleted val="0"/>
    <c:plotArea>
      <c:layout/>
      <c:barChart>
        <c:barDir val="col"/>
        <c:grouping val="clustered"/>
        <c:varyColors val="0"/>
        <c:ser>
          <c:idx val="0"/>
          <c:order val="0"/>
          <c:tx>
            <c:strRef>
              <c:f>Sheet1!$B$1</c:f>
              <c:strCache>
                <c:ptCount val="1"/>
                <c:pt idx="0">
                  <c:v>Photo as taken</c:v>
                </c:pt>
              </c:strCache>
            </c:strRef>
          </c:tx>
          <c:spPr>
            <a:solidFill>
              <a:srgbClr val="DC8F14"/>
            </a:solidFill>
            <a:effectLst/>
          </c:spPr>
          <c:invertIfNegative val="0"/>
          <c:dLbls>
            <c:numFmt formatCode="#,##0" sourceLinked="0"/>
            <c:txPr>
              <a:bodyPr/>
              <a:lstStyle/>
              <a:p>
                <a:pPr>
                  <a:defRPr b="0" i="0" strike="noStrike" sz="1000" u="none">
                    <a:solidFill>
                      <a:srgbClr val="253027"/>
                    </a:solidFill>
                    <a:latin typeface="Calibri"/>
                  </a:defRPr>
                </a:pPr>
              </a:p>
            </c:txPr>
            <c:showLegendKey val="0"/>
            <c:showVal val="0"/>
            <c:showCatName val="0"/>
            <c:showSerName val="0"/>
            <c:showPercent val="0"/>
            <c:showBubbleSize val="0"/>
            <c:showLeaderLines val="0"/>
          </c:dLbls>
          <c:cat>
            <c:multiLvlStrRef>
              <c:f>Sheet1!$A$2:$A$17</c:f>
              <c:multiLvlStrCache>
                <c:ptCount val="1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lvl>
              </c:multiLvlStrCache>
            </c:multiLvlStrRef>
          </c:cat>
          <c:val>
            <c:numRef>
              <c:f>Sheet1!$B$2:$B$17</c:f>
              <c:numCache>
                <c:formatCode>General</c:formatCode>
                <c:ptCount val="16"/>
                <c:pt idx="0">
                  <c:v>206</c:v>
                </c:pt>
                <c:pt idx="1">
                  <c:v>112</c:v>
                </c:pt>
                <c:pt idx="2">
                  <c:v>262</c:v>
                </c:pt>
                <c:pt idx="3">
                  <c:v>234</c:v>
                </c:pt>
                <c:pt idx="4">
                  <c:v>228</c:v>
                </c:pt>
                <c:pt idx="5">
                  <c:v>213</c:v>
                </c:pt>
                <c:pt idx="6">
                  <c:v>234</c:v>
                </c:pt>
                <c:pt idx="7">
                  <c:v>255</c:v>
                </c:pt>
                <c:pt idx="8">
                  <c:v>259</c:v>
                </c:pt>
                <c:pt idx="9">
                  <c:v>290</c:v>
                </c:pt>
                <c:pt idx="10">
                  <c:v>289</c:v>
                </c:pt>
                <c:pt idx="11">
                  <c:v>290</c:v>
                </c:pt>
                <c:pt idx="12">
                  <c:v>272</c:v>
                </c:pt>
                <c:pt idx="13">
                  <c:v>268</c:v>
                </c:pt>
                <c:pt idx="14">
                  <c:v>286</c:v>
                </c:pt>
                <c:pt idx="15">
                  <c:v>292</c:v>
                </c:pt>
              </c:numCache>
            </c:numRef>
          </c:val>
        </c:ser>
        <c:ser>
          <c:idx val="1"/>
          <c:order val="1"/>
          <c:tx>
            <c:strRef>
              <c:f>Sheet1!$C$1</c:f>
              <c:strCache>
                <c:ptCount val="1"/>
                <c:pt idx="0">
                  <c:v>Fixed scale (0.110 mm per pixel)</c:v>
                </c:pt>
              </c:strCache>
            </c:strRef>
          </c:tx>
          <c:spPr>
            <a:solidFill>
              <a:srgbClr val="2D5B3F"/>
            </a:solidFill>
            <a:effectLst/>
          </c:spPr>
          <c:invertIfNegative val="0"/>
          <c:dLbls>
            <c:numFmt formatCode="#,##0" sourceLinked="0"/>
            <c:txPr>
              <a:bodyPr/>
              <a:lstStyle/>
              <a:p>
                <a:pPr>
                  <a:defRPr b="0" i="0" strike="noStrike" sz="1000" u="none">
                    <a:solidFill>
                      <a:srgbClr val="253027"/>
                    </a:solidFill>
                    <a:latin typeface="Calibri"/>
                  </a:defRPr>
                </a:pPr>
              </a:p>
            </c:txPr>
            <c:showLegendKey val="0"/>
            <c:showVal val="0"/>
            <c:showCatName val="0"/>
            <c:showSerName val="0"/>
            <c:showPercent val="0"/>
            <c:showBubbleSize val="0"/>
            <c:showLeaderLines val="0"/>
          </c:dLbls>
          <c:cat>
            <c:multiLvlStrRef>
              <c:f>Sheet1!$A$2:$A$17</c:f>
              <c:multiLvlStrCache>
                <c:ptCount val="1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lvl>
              </c:multiLvlStrCache>
            </c:multiLvlStrRef>
          </c:cat>
          <c:val>
            <c:numRef>
              <c:f>Sheet1!$C$2:$C$17</c:f>
              <c:numCache>
                <c:formatCode>General</c:formatCode>
                <c:ptCount val="16"/>
                <c:pt idx="0">
                  <c:v>288</c:v>
                </c:pt>
                <c:pt idx="1">
                  <c:v>289</c:v>
                </c:pt>
                <c:pt idx="2">
                  <c:v>292</c:v>
                </c:pt>
                <c:pt idx="3">
                  <c:v>287</c:v>
                </c:pt>
                <c:pt idx="4">
                  <c:v>287</c:v>
                </c:pt>
                <c:pt idx="5">
                  <c:v>298</c:v>
                </c:pt>
                <c:pt idx="6">
                  <c:v>289</c:v>
                </c:pt>
                <c:pt idx="7">
                  <c:v>287</c:v>
                </c:pt>
                <c:pt idx="8">
                  <c:v>288</c:v>
                </c:pt>
                <c:pt idx="9">
                  <c:v>294</c:v>
                </c:pt>
                <c:pt idx="10">
                  <c:v>290</c:v>
                </c:pt>
                <c:pt idx="11">
                  <c:v>290</c:v>
                </c:pt>
                <c:pt idx="12">
                  <c:v>289</c:v>
                </c:pt>
                <c:pt idx="13">
                  <c:v>290</c:v>
                </c:pt>
                <c:pt idx="14">
                  <c:v>291</c:v>
                </c:pt>
                <c:pt idx="15">
                  <c:v>283</c:v>
                </c:pt>
              </c:numCache>
            </c:numRef>
          </c:val>
        </c:ser>
        <c:dLbls>
          <c:numFmt formatCode="#,##0" sourceLinked="0"/>
          <c:txPr>
            <a:bodyPr/>
            <a:lstStyle/>
            <a:p>
              <a:pPr>
                <a:defRPr b="0" i="0" strike="noStrike" sz="1000" u="none">
                  <a:solidFill>
                    <a:srgbClr val="253027"/>
                  </a:solidFill>
                  <a:latin typeface="Calibri"/>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687063"/>
                    </a:solidFill>
                    <a:latin typeface="Arial"/>
                  </a:defRPr>
                </a:pPr>
                <a:r>
                  <a:rPr sz="1100" b="0" i="0" u="none" strike="noStrike">
                    <a:solidFill>
                      <a:srgbClr val="687063"/>
                    </a:solidFill>
                    <a:latin typeface="Arial"/>
                  </a:rPr>
                  <a:t>photo (2 persons, 2 phones, 2 heights)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87063"/>
                </a:solidFill>
                <a:latin typeface="Calibri"/>
              </a:defRPr>
            </a:pPr>
            <a:endParaRPr lang="en-US"/>
          </a:p>
        </c:txPr>
        <c:crossAx val="2094734552"/>
        <c:crosses val="autoZero"/>
        <c:auto val="1"/>
        <c:lblAlgn val="ctr"/>
        <c:noMultiLvlLbl val="1"/>
      </c:catAx>
      <c:valAx>
        <c:axId val="2094734552"/>
        <c:scaling>
          <c:orientation val="minMax"/>
          <c:max val="320"/>
          <c:min val="0"/>
        </c:scaling>
        <c:delete val="0"/>
        <c:axPos val="l"/>
        <c:majorGridlines>
          <c:spPr>
            <a:ln w="6350" cap="flat">
              <a:solidFill>
                <a:srgbClr val="E6E1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8706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5302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D5B3F"/>
                </a:solidFill>
                <a:latin typeface="Calibri"/>
              </a:defRPr>
            </a:pPr>
            <a:r>
              <a:rPr sz="1400" b="0" i="0" u="none" strike="noStrike">
                <a:solidFill>
                  <a:srgbClr val="2D5B3F"/>
                </a:solidFill>
                <a:latin typeface="Calibri"/>
              </a:rPr>
              <a:t>Error budget, 17 piles (relative standard deviation, %)</a:t>
            </a:r>
          </a:p>
        </c:rich>
      </c:tx>
      <c:layout/>
      <c:overlay val="0"/>
    </c:title>
    <c:autoTitleDeleted val="0"/>
    <c:plotArea>
      <c:layout/>
      <c:barChart>
        <c:barDir val="bar"/>
        <c:grouping val="clustered"/>
        <c:varyColors val="0"/>
        <c:ser>
          <c:idx val="0"/>
          <c:order val="0"/>
          <c:tx>
            <c:strRef>
              <c:f>Sheet1!$B$1</c:f>
              <c:strCache>
                <c:ptCount val="1"/>
                <c:pt idx="0">
                  <c:v>Relative error (%)</c:v>
                </c:pt>
              </c:strCache>
            </c:strRef>
          </c:tx>
          <c:spPr>
            <a:solidFill>
              <a:srgbClr val="2D5B3F"/>
            </a:solidFill>
            <a:effectLst/>
          </c:spPr>
          <c:invertIfNegative val="0"/>
          <c:dLbls>
            <c:numFmt formatCode="0.00" sourceLinked="0"/>
            <c:txPr>
              <a:bodyPr/>
              <a:lstStyle/>
              <a:p>
                <a:pPr>
                  <a:defRPr b="0" i="0" strike="noStrike" sz="1000" u="none">
                    <a:solidFill>
                      <a:srgbClr val="253027"/>
                    </a:solidFill>
                    <a:latin typeface="Calibri"/>
                  </a:defRPr>
                </a:pPr>
              </a:p>
            </c:txPr>
            <c:showLegendKey val="0"/>
            <c:showVal val="1"/>
            <c:showCatName val="0"/>
            <c:showSerName val="0"/>
            <c:showPercent val="0"/>
            <c:showBubbleSize val="0"/>
            <c:showLeaderLines val="0"/>
          </c:dLbls>
          <c:dPt>
            <c:idx val="0"/>
            <c:invertIfNegative val="0"/>
            <c:bubble3D val="0"/>
            <c:spPr>
              <a:solidFill>
                <a:srgbClr val="2D5B3F"/>
              </a:solidFill>
              <a:effectLst/>
            </c:spPr>
          </c:dPt>
          <c:dPt>
            <c:idx val="1"/>
            <c:invertIfNegative val="0"/>
            <c:bubble3D val="0"/>
            <c:spPr>
              <a:solidFill>
                <a:srgbClr val="DC8F14"/>
              </a:solidFill>
              <a:effectLst/>
            </c:spPr>
          </c:dPt>
          <c:dPt>
            <c:idx val="2"/>
            <c:invertIfNegative val="0"/>
            <c:bubble3D val="0"/>
            <c:spPr>
              <a:solidFill>
                <a:srgbClr val="F2B705"/>
              </a:solidFill>
              <a:effectLst/>
            </c:spPr>
          </c:dPt>
          <c:dPt>
            <c:idx val="3"/>
            <c:invertIfNegative val="0"/>
            <c:bubble3D val="0"/>
            <c:spPr>
              <a:solidFill>
                <a:srgbClr val="5C3D23"/>
              </a:solidFill>
              <a:effectLst/>
            </c:spPr>
          </c:dPt>
          <c:cat>
            <c:multiLvlStrRef>
              <c:f>Sheet1!$A$2:$A$5</c:f>
              <c:multiLvlStrCache>
                <c:ptCount val="4"/>
                <c:lvl>
                  <c:pt idx="0">
                    <c:v>Total spread between piles</c:v>
                  </c:pt>
                  <c:pt idx="1">
                    <c:v>Kitchen scale (1 g steps)</c:v>
                  </c:pt>
                  <c:pt idx="2">
                    <c:v>Photo (mean of 2 photos)</c:v>
                  </c:pt>
                  <c:pt idx="3">
                    <c:v>Remainder: seeds and the rest</c:v>
                  </c:pt>
                </c:lvl>
              </c:multiLvlStrCache>
            </c:multiLvlStrRef>
          </c:cat>
          <c:val>
            <c:numRef>
              <c:f>Sheet1!$B$2:$B$5</c:f>
              <c:numCache>
                <c:formatCode>General</c:formatCode>
                <c:ptCount val="4"/>
                <c:pt idx="0">
                  <c:v>3.97</c:v>
                </c:pt>
                <c:pt idx="1">
                  <c:v>1.73</c:v>
                </c:pt>
                <c:pt idx="2">
                  <c:v>0.93</c:v>
                </c:pt>
                <c:pt idx="3">
                  <c:v>3.45</c:v>
                </c:pt>
              </c:numCache>
            </c:numRef>
          </c:val>
        </c:ser>
        <c:dLbls>
          <c:numFmt formatCode="0.00" sourceLinked="0"/>
          <c:txPr>
            <a:bodyPr/>
            <a:lstStyle/>
            <a:p>
              <a:pPr>
                <a:defRPr b="0" i="0" strike="noStrike" sz="1000" u="none">
                  <a:solidFill>
                    <a:srgbClr val="253027"/>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87063"/>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6350" cap="flat">
              <a:solidFill>
                <a:srgbClr val="E6E1D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8706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D5B3F"/>
                </a:solidFill>
                <a:latin typeface="Calibri"/>
              </a:defRPr>
            </a:pPr>
            <a:r>
              <a:rPr sz="1400" b="0" i="0" u="none" strike="noStrike">
                <a:solidFill>
                  <a:srgbClr val="2D5B3F"/>
                </a:solidFill>
                <a:latin typeface="Calibri"/>
              </a:rPr>
              <a:t>Jia's 9 piles, model of 19 Oct (Hadi's 8 piles), not refitted</a:t>
            </a:r>
          </a:p>
        </c:rich>
      </c:tx>
      <c:layout/>
      <c:overlay val="0"/>
    </c:title>
    <c:autoTitleDeleted val="0"/>
    <c:plotArea>
      <c:layout/>
      <c:barChart>
        <c:barDir val="col"/>
        <c:grouping val="clustered"/>
        <c:varyColors val="0"/>
        <c:ser>
          <c:idx val="0"/>
          <c:order val="0"/>
          <c:tx>
            <c:strRef>
              <c:f>Sheet1!$B$1</c:f>
              <c:strCache>
                <c:ptCount val="1"/>
                <c:pt idx="0">
                  <c:v>Error of the prediction (%)</c:v>
                </c:pt>
              </c:strCache>
            </c:strRef>
          </c:tx>
          <c:spPr>
            <a:solidFill>
              <a:srgbClr val="2D5B3F"/>
            </a:solidFill>
            <a:effectLst/>
          </c:spPr>
          <c:invertIfNegative val="0"/>
          <c:dLbls>
            <c:numFmt formatCode="#,##0" sourceLinked="0"/>
            <c:txPr>
              <a:bodyPr/>
              <a:lstStyle/>
              <a:p>
                <a:pPr>
                  <a:defRPr b="0" i="0" strike="noStrike" sz="1000" u="none">
                    <a:solidFill>
                      <a:srgbClr val="253027"/>
                    </a:solidFill>
                    <a:latin typeface="Calibri"/>
                  </a:defRPr>
                </a:pPr>
              </a:p>
            </c:txPr>
            <c:showLegendKey val="0"/>
            <c:showVal val="0"/>
            <c:showCatName val="0"/>
            <c:showSerName val="0"/>
            <c:showPercent val="0"/>
            <c:showBubbleSize val="0"/>
            <c:showLeaderLines val="0"/>
          </c:dLbls>
          <c:cat>
            <c:multiLvlStrRef>
              <c:f>Sheet1!$A$2:$A$10</c:f>
              <c:multiLvlStrCache>
                <c:ptCount val="9"/>
                <c:lvl>
                  <c:pt idx="0">
                    <c:v>T4-01</c:v>
                  </c:pt>
                  <c:pt idx="1">
                    <c:v>T4-02</c:v>
                  </c:pt>
                  <c:pt idx="2">
                    <c:v>T4-03</c:v>
                  </c:pt>
                  <c:pt idx="3">
                    <c:v>T4-04</c:v>
                  </c:pt>
                  <c:pt idx="4">
                    <c:v>P09</c:v>
                  </c:pt>
                  <c:pt idx="5">
                    <c:v>P10</c:v>
                  </c:pt>
                  <c:pt idx="6">
                    <c:v>P11</c:v>
                  </c:pt>
                  <c:pt idx="7">
                    <c:v>P12</c:v>
                  </c:pt>
                  <c:pt idx="8">
                    <c:v>P13</c:v>
                  </c:pt>
                </c:lvl>
              </c:multiLvlStrCache>
            </c:multiLvlStrRef>
          </c:cat>
          <c:val>
            <c:numRef>
              <c:f>Sheet1!$B$2:$B$10</c:f>
              <c:numCache>
                <c:formatCode>General</c:formatCode>
                <c:ptCount val="9"/>
                <c:pt idx="0">
                  <c:v>-2.5</c:v>
                </c:pt>
                <c:pt idx="1">
                  <c:v>4.3</c:v>
                </c:pt>
                <c:pt idx="2">
                  <c:v>-3.4</c:v>
                </c:pt>
                <c:pt idx="3">
                  <c:v>-5.7</c:v>
                </c:pt>
                <c:pt idx="4">
                  <c:v>-7.4</c:v>
                </c:pt>
                <c:pt idx="5">
                  <c:v>-2.3</c:v>
                </c:pt>
                <c:pt idx="6">
                  <c:v>2</c:v>
                </c:pt>
                <c:pt idx="7">
                  <c:v>2.4</c:v>
                </c:pt>
                <c:pt idx="8">
                  <c:v>0.7</c:v>
                </c:pt>
              </c:numCache>
            </c:numRef>
          </c:val>
        </c:ser>
        <c:dLbls>
          <c:numFmt formatCode="#,##0" sourceLinked="0"/>
          <c:txPr>
            <a:bodyPr/>
            <a:lstStyle/>
            <a:p>
              <a:pPr>
                <a:defRPr b="0" i="0" strike="noStrike" sz="1000" u="none">
                  <a:solidFill>
                    <a:srgbClr val="253027"/>
                  </a:solidFill>
                  <a:latin typeface="Calibri"/>
                </a:defRPr>
              </a:pPr>
            </a:p>
          </c:txPr>
          <c:showLegendKey val="0"/>
          <c:showVal val="0"/>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Bound +10 %</c:v>
                </c:pt>
              </c:strCache>
            </c:strRef>
          </c:tx>
          <c:spPr>
            <a:solidFill>
              <a:srgbClr val="DC8F14"/>
            </a:solidFill>
            <a:ln w="25400" cap="flat">
              <a:solidFill>
                <a:srgbClr val="DC8F14"/>
              </a:solidFill>
              <a:prstDash val="dash"/>
              <a:round/>
            </a:ln>
            <a:effectLst/>
          </c:spPr>
          <c:invertIfNegative val="0"/>
          <c:dLbls>
            <c:numFmt formatCode="#,##0" sourceLinked="0"/>
            <c:txPr>
              <a:bodyPr/>
              <a:lstStyle/>
              <a:p>
                <a:pPr>
                  <a:defRPr b="0" i="0" strike="noStrike" sz="1000" u="none">
                    <a:solidFill>
                      <a:srgbClr val="253027"/>
                    </a:solidFill>
                    <a:latin typeface="Calibri"/>
                  </a:defRPr>
                </a:pPr>
              </a:p>
            </c:txPr>
            <c:showLegendKey val="0"/>
            <c:showVal val="0"/>
            <c:showCatName val="0"/>
            <c:showSerName val="0"/>
            <c:showPercent val="0"/>
            <c:showBubbleSize val="0"/>
            <c:showLeaderLines val="0"/>
          </c:dLbls>
          <c:marker>
            <c:symbol val="none"/>
            <c:size val="6"/>
            <c:spPr>
              <a:solidFill>
                <a:srgbClr val="DC8F14"/>
              </a:solidFill>
              <a:ln w="9525" cap="flat">
                <a:solidFill>
                  <a:srgbClr val="DC8F14"/>
                </a:solidFill>
                <a:prstDash val="solid"/>
                <a:round/>
              </a:ln>
              <a:effectLst/>
            </c:spPr>
          </c:marker>
          <c:cat>
            <c:multiLvlStrRef>
              <c:f>Sheet1!$A$2:$A$10</c:f>
              <c:multiLvlStrCache>
                <c:ptCount val="9"/>
                <c:lvl>
                  <c:pt idx="0">
                    <c:v>T4-01</c:v>
                  </c:pt>
                  <c:pt idx="1">
                    <c:v>T4-02</c:v>
                  </c:pt>
                  <c:pt idx="2">
                    <c:v>T4-03</c:v>
                  </c:pt>
                  <c:pt idx="3">
                    <c:v>T4-04</c:v>
                  </c:pt>
                  <c:pt idx="4">
                    <c:v>P09</c:v>
                  </c:pt>
                  <c:pt idx="5">
                    <c:v>P10</c:v>
                  </c:pt>
                  <c:pt idx="6">
                    <c:v>P11</c:v>
                  </c:pt>
                  <c:pt idx="7">
                    <c:v>P12</c:v>
                  </c:pt>
                  <c:pt idx="8">
                    <c:v>P13</c:v>
                  </c:pt>
                </c:lvl>
              </c:multiLvlStrCache>
            </c:multiLvlStrRef>
          </c:cat>
          <c:val>
            <c:numRef>
              <c:f>Sheet1!$C$2:$C$10</c:f>
              <c:numCache>
                <c:formatCode>General</c:formatCode>
                <c:ptCount val="9"/>
                <c:pt idx="0">
                  <c:v>10</c:v>
                </c:pt>
                <c:pt idx="1">
                  <c:v>10</c:v>
                </c:pt>
                <c:pt idx="2">
                  <c:v>10</c:v>
                </c:pt>
                <c:pt idx="3">
                  <c:v>10</c:v>
                </c:pt>
                <c:pt idx="4">
                  <c:v>10</c:v>
                </c:pt>
                <c:pt idx="5">
                  <c:v>10</c:v>
                </c:pt>
                <c:pt idx="6">
                  <c:v>10</c:v>
                </c:pt>
                <c:pt idx="7">
                  <c:v>10</c:v>
                </c:pt>
                <c:pt idx="8">
                  <c:v>10</c:v>
                </c:pt>
              </c:numCache>
            </c:numRef>
          </c:val>
          <c:smooth val="0"/>
        </c:ser>
        <c:ser>
          <c:idx val="2"/>
          <c:order val="2"/>
          <c:tx>
            <c:strRef>
              <c:f>Sheet1!$D$1</c:f>
              <c:strCache>
                <c:ptCount val="1"/>
                <c:pt idx="0">
                  <c:v>Bound -10 %</c:v>
                </c:pt>
              </c:strCache>
            </c:strRef>
          </c:tx>
          <c:spPr>
            <a:solidFill>
              <a:srgbClr val="DC8F14"/>
            </a:solidFill>
            <a:ln w="25400" cap="flat">
              <a:solidFill>
                <a:srgbClr val="DC8F14"/>
              </a:solidFill>
              <a:prstDash val="dash"/>
              <a:round/>
            </a:ln>
            <a:effectLst/>
          </c:spPr>
          <c:invertIfNegative val="0"/>
          <c:dLbls>
            <c:numFmt formatCode="#,##0" sourceLinked="0"/>
            <c:txPr>
              <a:bodyPr/>
              <a:lstStyle/>
              <a:p>
                <a:pPr>
                  <a:defRPr b="0" i="0" strike="noStrike" sz="1000" u="none">
                    <a:solidFill>
                      <a:srgbClr val="253027"/>
                    </a:solidFill>
                    <a:latin typeface="Calibri"/>
                  </a:defRPr>
                </a:pPr>
              </a:p>
            </c:txPr>
            <c:showLegendKey val="0"/>
            <c:showVal val="0"/>
            <c:showCatName val="0"/>
            <c:showSerName val="0"/>
            <c:showPercent val="0"/>
            <c:showBubbleSize val="0"/>
            <c:showLeaderLines val="0"/>
          </c:dLbls>
          <c:marker>
            <c:symbol val="none"/>
            <c:size val="6"/>
            <c:spPr>
              <a:solidFill>
                <a:srgbClr val="DC8F14"/>
              </a:solidFill>
              <a:ln w="9525" cap="flat">
                <a:solidFill>
                  <a:srgbClr val="DC8F14"/>
                </a:solidFill>
                <a:prstDash val="solid"/>
                <a:round/>
              </a:ln>
              <a:effectLst/>
            </c:spPr>
          </c:marker>
          <c:cat>
            <c:multiLvlStrRef>
              <c:f>Sheet1!$A$2:$A$10</c:f>
              <c:multiLvlStrCache>
                <c:ptCount val="9"/>
                <c:lvl>
                  <c:pt idx="0">
                    <c:v>T4-01</c:v>
                  </c:pt>
                  <c:pt idx="1">
                    <c:v>T4-02</c:v>
                  </c:pt>
                  <c:pt idx="2">
                    <c:v>T4-03</c:v>
                  </c:pt>
                  <c:pt idx="3">
                    <c:v>T4-04</c:v>
                  </c:pt>
                  <c:pt idx="4">
                    <c:v>P09</c:v>
                  </c:pt>
                  <c:pt idx="5">
                    <c:v>P10</c:v>
                  </c:pt>
                  <c:pt idx="6">
                    <c:v>P11</c:v>
                  </c:pt>
                  <c:pt idx="7">
                    <c:v>P12</c:v>
                  </c:pt>
                  <c:pt idx="8">
                    <c:v>P13</c:v>
                  </c:pt>
                </c:lvl>
              </c:multiLvlStrCache>
            </c:multiLvlStrRef>
          </c:cat>
          <c:val>
            <c:numRef>
              <c:f>Sheet1!$D$2:$D$10</c:f>
              <c:numCache>
                <c:formatCode>General</c:formatCode>
                <c:ptCount val="9"/>
                <c:pt idx="0">
                  <c:v>-10</c:v>
                </c:pt>
                <c:pt idx="1">
                  <c:v>-10</c:v>
                </c:pt>
                <c:pt idx="2">
                  <c:v>-10</c:v>
                </c:pt>
                <c:pt idx="3">
                  <c:v>-10</c:v>
                </c:pt>
                <c:pt idx="4">
                  <c:v>-10</c:v>
                </c:pt>
                <c:pt idx="5">
                  <c:v>-10</c:v>
                </c:pt>
                <c:pt idx="6">
                  <c:v>-10</c:v>
                </c:pt>
                <c:pt idx="7">
                  <c:v>-10</c:v>
                </c:pt>
                <c:pt idx="8">
                  <c:v>-10</c:v>
                </c:pt>
              </c:numCache>
            </c:numRef>
          </c:val>
          <c:smooth val="0"/>
        </c:ser>
        <c:dLbls>
          <c:numFmt formatCode="#,##0" sourceLinked="0"/>
          <c:txPr>
            <a:bodyPr/>
            <a:lstStyle/>
            <a:p>
              <a:pPr>
                <a:defRPr b="0" i="0" strike="noStrike" sz="1000" u="none">
                  <a:solidFill>
                    <a:srgbClr val="253027"/>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87063"/>
                </a:solidFill>
                <a:latin typeface="Calibri"/>
              </a:defRPr>
            </a:pPr>
            <a:endParaRPr lang="en-US"/>
          </a:p>
        </c:txPr>
        <c:crossAx val="2094734552"/>
        <c:crosses val="autoZero"/>
        <c:auto val="1"/>
        <c:lblAlgn val="ctr"/>
        <c:noMultiLvlLbl val="1"/>
      </c:catAx>
      <c:valAx>
        <c:axId val="2094734552"/>
        <c:scaling>
          <c:orientation val="minMax"/>
          <c:max val="12"/>
          <c:min val="-12"/>
        </c:scaling>
        <c:delete val="0"/>
        <c:axPos val="l"/>
        <c:majorGridlines>
          <c:spPr>
            <a:ln w="6350" cap="flat">
              <a:solidFill>
                <a:srgbClr val="E6E1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87063"/>
                </a:solidFill>
                <a:latin typeface="Calibri"/>
              </a:defRPr>
            </a:pPr>
            <a:endParaRPr lang="en-US"/>
          </a:p>
        </c:txPr>
        <c:crossAx val="2094734554"/>
        <c:crosses val="autoZero"/>
        <c:crossBetween val="between"/>
        <c:majorUnit val="4"/>
      </c:valAx>
      <c:spPr>
        <a:noFill/>
        <a:ln>
          <a:noFill/>
        </a:ln>
        <a:effectLst/>
      </c:spPr>
    </c:plotArea>
    <c:legend>
      <c:legendPos val="b"/>
      <c:overlay val="0"/>
      <c:txPr>
        <a:bodyPr/>
        <a:lstStyle/>
        <a:p>
          <a:pPr>
            <a:defRPr sz="1100">
              <a:solidFill>
                <a:srgbClr val="25302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D5B3F"/>
                </a:solidFill>
                <a:latin typeface="Calibri"/>
              </a:defRPr>
            </a:pPr>
            <a:r>
              <a:rPr sz="1400" b="0" i="0" u="none" strike="noStrike">
                <a:solidFill>
                  <a:srgbClr val="2D5B3F"/>
                </a:solidFill>
                <a:latin typeface="Calibri"/>
              </a:rPr>
              <a:t>95 % range for one photo against the number of piles</a:t>
            </a:r>
          </a:p>
        </c:rich>
      </c:tx>
      <c:layout/>
      <c:overlay val="0"/>
    </c:title>
    <c:autoTitleDeleted val="0"/>
    <c:plotArea>
      <c:layout/>
      <c:lineChart>
        <c:varyColors val="0"/>
        <c:ser>
          <c:idx val="0"/>
          <c:order val="0"/>
          <c:tx>
            <c:strRef>
              <c:f>Sheet1!$B$1</c:f>
              <c:strCache>
                <c:ptCount val="1"/>
                <c:pt idx="0">
                  <c:v>Range for one photo (±%)</c:v>
                </c:pt>
              </c:strCache>
            </c:strRef>
          </c:tx>
          <c:spPr>
            <a:solidFill>
              <a:srgbClr val="2D5B3F"/>
            </a:solidFill>
            <a:ln w="38100" cap="flat">
              <a:solidFill>
                <a:srgbClr val="2D5B3F"/>
              </a:solidFill>
              <a:prstDash val="solid"/>
              <a:round/>
            </a:ln>
            <a:effectLst/>
          </c:spPr>
          <c:invertIfNegative val="0"/>
          <c:dLbls>
            <c:numFmt formatCode="#,##0" sourceLinked="0"/>
            <c:txPr>
              <a:bodyPr/>
              <a:lstStyle/>
              <a:p>
                <a:pPr>
                  <a:defRPr b="0" i="0" strike="noStrike" sz="1000" u="none">
                    <a:solidFill>
                      <a:srgbClr val="253027"/>
                    </a:solidFill>
                    <a:latin typeface="Calibri"/>
                  </a:defRPr>
                </a:pPr>
              </a:p>
            </c:txPr>
            <c:showLegendKey val="0"/>
            <c:showVal val="0"/>
            <c:showCatName val="0"/>
            <c:showSerName val="0"/>
            <c:showPercent val="0"/>
            <c:showBubbleSize val="0"/>
            <c:showLeaderLines val="0"/>
          </c:dLbls>
          <c:marker>
            <c:symbol val="none"/>
            <c:size val="6"/>
            <c:spPr>
              <a:solidFill>
                <a:srgbClr val="2D5B3F"/>
              </a:solidFill>
              <a:ln w="9525" cap="flat">
                <a:solidFill>
                  <a:srgbClr val="2D5B3F"/>
                </a:solidFill>
                <a:prstDash val="solid"/>
                <a:round/>
              </a:ln>
              <a:effectLst/>
            </c:spPr>
          </c:marker>
          <c:cat>
            <c:multiLvlStrRef>
              <c:f>Sheet1!$A$2:$A$49</c:f>
              <c:multiLvlStrCache>
                <c:ptCount val="48"/>
                <c:lvl>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lvl>
              </c:multiLvlStrCache>
            </c:multiLvlStrRef>
          </c:cat>
          <c:val>
            <c:numRef>
              <c:f>Sheet1!$B$2:$B$49</c:f>
              <c:numCache>
                <c:formatCode>General</c:formatCode>
                <c:ptCount val="48"/>
                <c:pt idx="0">
                  <c:v>19.72</c:v>
                </c:pt>
                <c:pt idx="1">
                  <c:v>14.13</c:v>
                </c:pt>
                <c:pt idx="2">
                  <c:v>12.07</c:v>
                </c:pt>
                <c:pt idx="3">
                  <c:v>11.02</c:v>
                </c:pt>
                <c:pt idx="4">
                  <c:v>10.38</c:v>
                </c:pt>
                <c:pt idx="5">
                  <c:v>9.96</c:v>
                </c:pt>
                <c:pt idx="6">
                  <c:v>9.65</c:v>
                </c:pt>
                <c:pt idx="7">
                  <c:v>9.42</c:v>
                </c:pt>
                <c:pt idx="8">
                  <c:v>9.24</c:v>
                </c:pt>
                <c:pt idx="9">
                  <c:v>9.09</c:v>
                </c:pt>
                <c:pt idx="10">
                  <c:v>8.98</c:v>
                </c:pt>
                <c:pt idx="11">
                  <c:v>8.88</c:v>
                </c:pt>
                <c:pt idx="12">
                  <c:v>8.79</c:v>
                </c:pt>
                <c:pt idx="13">
                  <c:v>8.72</c:v>
                </c:pt>
                <c:pt idx="14">
                  <c:v>8.66</c:v>
                </c:pt>
                <c:pt idx="15">
                  <c:v>8.61</c:v>
                </c:pt>
                <c:pt idx="16">
                  <c:v>8.56</c:v>
                </c:pt>
                <c:pt idx="17">
                  <c:v>8.51</c:v>
                </c:pt>
                <c:pt idx="18">
                  <c:v>8.48</c:v>
                </c:pt>
                <c:pt idx="19">
                  <c:v>8.44</c:v>
                </c:pt>
                <c:pt idx="20">
                  <c:v>8.41</c:v>
                </c:pt>
                <c:pt idx="21">
                  <c:v>8.38</c:v>
                </c:pt>
                <c:pt idx="22">
                  <c:v>8.36</c:v>
                </c:pt>
                <c:pt idx="23">
                  <c:v>8.33</c:v>
                </c:pt>
                <c:pt idx="24">
                  <c:v>8.31</c:v>
                </c:pt>
                <c:pt idx="25">
                  <c:v>8.29</c:v>
                </c:pt>
                <c:pt idx="26">
                  <c:v>8.27</c:v>
                </c:pt>
                <c:pt idx="27">
                  <c:v>8.25</c:v>
                </c:pt>
                <c:pt idx="28">
                  <c:v>8.24</c:v>
                </c:pt>
                <c:pt idx="29">
                  <c:v>8.22</c:v>
                </c:pt>
                <c:pt idx="30">
                  <c:v>8.21</c:v>
                </c:pt>
                <c:pt idx="31">
                  <c:v>8.19</c:v>
                </c:pt>
                <c:pt idx="32">
                  <c:v>8.18</c:v>
                </c:pt>
                <c:pt idx="33">
                  <c:v>8.17</c:v>
                </c:pt>
                <c:pt idx="34">
                  <c:v>8.16</c:v>
                </c:pt>
                <c:pt idx="35">
                  <c:v>8.15</c:v>
                </c:pt>
                <c:pt idx="36">
                  <c:v>8.14</c:v>
                </c:pt>
                <c:pt idx="37">
                  <c:v>8.13</c:v>
                </c:pt>
                <c:pt idx="38">
                  <c:v>8.12</c:v>
                </c:pt>
                <c:pt idx="39">
                  <c:v>8.11</c:v>
                </c:pt>
                <c:pt idx="40">
                  <c:v>8.1</c:v>
                </c:pt>
                <c:pt idx="41">
                  <c:v>8.1</c:v>
                </c:pt>
                <c:pt idx="42">
                  <c:v>8.09</c:v>
                </c:pt>
                <c:pt idx="43">
                  <c:v>8.08</c:v>
                </c:pt>
                <c:pt idx="44">
                  <c:v>8.08</c:v>
                </c:pt>
                <c:pt idx="45">
                  <c:v>8.07</c:v>
                </c:pt>
                <c:pt idx="46">
                  <c:v>8.06</c:v>
                </c:pt>
                <c:pt idx="47">
                  <c:v>8.06</c:v>
                </c:pt>
              </c:numCache>
            </c:numRef>
          </c:val>
          <c:smooth val="0"/>
        </c:ser>
        <c:dLbls>
          <c:numFmt formatCode="#,##0" sourceLinked="0"/>
          <c:txPr>
            <a:bodyPr/>
            <a:lstStyle/>
            <a:p>
              <a:pPr>
                <a:defRPr b="0" i="0" strike="noStrike" sz="1000" u="none">
                  <a:solidFill>
                    <a:srgbClr val="253027"/>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87063"/>
                    </a:solidFill>
                    <a:latin typeface="Arial"/>
                  </a:defRPr>
                </a:pPr>
                <a:r>
                  <a:rPr sz="1100" b="0" i="0" u="none" strike="noStrike">
                    <a:solidFill>
                      <a:srgbClr val="687063"/>
                    </a:solidFill>
                    <a:latin typeface="Arial"/>
                  </a:rPr>
                  <a:t>number of piles (3 to 50)</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87063"/>
                </a:solidFill>
                <a:latin typeface="Calibri"/>
              </a:defRPr>
            </a:pPr>
            <a:endParaRPr lang="en-US"/>
          </a:p>
        </c:txPr>
        <c:crossAx val="2094734552"/>
        <c:crosses val="autoZero"/>
        <c:auto val="1"/>
        <c:lblAlgn val="ctr"/>
        <c:noMultiLvlLbl val="1"/>
        <c:tickLblSkip val="5"/>
      </c:catAx>
      <c:valAx>
        <c:axId val="2094734552"/>
        <c:scaling>
          <c:orientation val="minMax"/>
          <c:max val="21"/>
          <c:min val="6"/>
        </c:scaling>
        <c:delete val="0"/>
        <c:axPos val="l"/>
        <c:majorGridlines>
          <c:spPr>
            <a:ln w="6350" cap="flat">
              <a:solidFill>
                <a:srgbClr val="E6E1D3"/>
              </a:solidFill>
              <a:prstDash val="solid"/>
              <a:round/>
            </a:ln>
          </c:spPr>
        </c:majorGridlines>
        <c:title>
          <c:tx>
            <c:rich>
              <a:bodyPr/>
              <a:lstStyle/>
              <a:p>
                <a:pPr>
                  <a:defRPr sz="1100" b="0" i="0" u="none" strike="noStrike">
                    <a:solidFill>
                      <a:srgbClr val="687063"/>
                    </a:solidFill>
                    <a:latin typeface="Arial"/>
                  </a:defRPr>
                </a:pPr>
                <a:r>
                  <a:rPr sz="1100" b="0" i="0" u="none" strike="noStrike">
                    <a:solidFill>
                      <a:srgbClr val="687063"/>
                    </a:solidFill>
                    <a:latin typeface="Arial"/>
                  </a:rPr>
                  <a:t>±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8706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 estimate the weight of a pile of sunflower seeds from one phone photo. Today: the variables that make the weight wrong and how we handle them, how it works for the user, and a business case for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CNH asked three questions in the class of 19 October. Here are the three short answers; the rest of the talk shows the evidence. Range = 95 % prediction interval: about 19 of 20 true weights fall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procedure in five steps. Every rule answers a problem we saw in our own data. The procedure is written so CNH can follow it from the text alone; Jia tested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sessions. The Gauge R&amp;R is one pile that nobody touches, photographed by both of us with both phones at two heights: it measures the photo error alone. Jia's piles are the test of the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variables. For each one: what we measured, and where we handle it: in the procedure, before counting (the fixed scale), or after counting (the light in the app). The full table has 32 rows, including the ones we could not test, like background colour and blur.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the strongest result. Orange bars: the same pile counted on the photo as it was taken: anything from 112 to 292 seeds. Green bars: the same photos after resizing with the markers: 283 to 298. So camera height and phone no longer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 = confidence interval: the range where the true difference lies with 95 % certainty. All three intervals include zero and are small, so person, phone and height do not change the count in a way we can detect. Analysis of variance compares the differences between the 8 groups with the differences inside each group; p = 0.81 means the group differences are what chance alone would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five features. The count of sunflower boxes is as good as the count of all boxes, and safer when other objects are in the photo. Area in pixels is poor because it changes with height. The same ranking holds on Jia's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Top-down, the 17 piles spread 3.97 %. Bottom-up, the scale step is 1.73 % (calculated) and the photo 0.93 % (measured in the Gauge R&amp;R). What is left, 3.45 %, is a remainder found by subtraction: seed weight and errors we cannot separate. With t for 17 piles the range for one photo is plus or minus 8.7 %. Be honest about task 3: because the remainder is found by subtraction, top-down and bottom-up agree by construction. The one stage we measured independently is the detector: on 3 hand-counted batches of 200 seeds it was off by about 1 % (photos without markers, scale 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Jia followed only the written procedure, with her own phone. We applied Hadi's model of 19 October without changing it. All 9 piles fall inside plus or minus 10 %. That supports the bounds; 9 piles cannot prove them. After this test we used all 17 piles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never just gives a number. It shows a light. Green: trust it. Orange: you get a weight, and one sentence on how to make a better photo: seeds too close, phone tilted, too many seeds, or no marker. Red: no weight. The second example is a photo where the seeds touched: the true weight was 14 g, and the app warns. Every limit comes from our own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user will not print our sheet. So when there is no marker, the app measures the seeds themselves and uses them as the ruler. Tested on all our photos: the range grows only from 8.7 to 9.4 %. A coin or a bank card would be better than the seeds, because their size is exactly known; that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asked how many samples we need; this is the answer with costs. Each pile took 12.7 minutes, about 10 euro at an example labour rate; bigger piles took longer. The range shrinks fast up to about 10 piles, then hardly moves. A percentage point is the difference between two percentages, for example from 9.4 to 9.2 % is 0.2 points. Our stop rule: stop when one more pile buys less than 0.2 points. We kept Jia's piles to test another person and bigger piles, not to shrink the range. Honest limit: the curve uses today's spread; with 17 piles that spread itself is still uncertain.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improvements, most of them cheap. The last one comes from Jia's experience: a written procedure only works if it is in front of you while you work; in the app it now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from the six course tasks to the slides. Then the demo: CNH takes the photo themselves, following the instructions on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talk can be reproduced from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7EE"/>
        </a:solidFill>
      </p:bgPr>
    </p:bg>
    <p:spTree>
      <p:nvGrpSpPr>
        <p:cNvPr id="1" name=""/>
        <p:cNvGrpSpPr/>
        <p:nvPr/>
      </p:nvGrpSpPr>
      <p:grpSpPr>
        <a:xfrm>
          <a:off x="0" y="0"/>
          <a:ext cx="0" cy="0"/>
          <a:chOff x="0" y="0"/>
          <a:chExt cx="0" cy="0"/>
        </a:xfrm>
      </p:grpSpPr>
      <p:sp>
        <p:nvSpPr>
          <p:cNvPr id="2" name="Text 0"/>
          <p:cNvSpPr txBox="1"/>
          <p:nvPr/>
        </p:nvSpPr>
        <p:spPr>
          <a:xfrm>
            <a:off x="548640" y="6446520"/>
            <a:ext cx="8229600" cy="274320"/>
          </a:xfrm>
          <a:prstGeom prst="rect">
            <a:avLst/>
          </a:prstGeom>
          <a:noFill/>
          <a:ln/>
        </p:spPr>
        <p:txBody>
          <a:bodyPr wrap="square" rtlCol="0" anchor="ctr"/>
          <a:lstStyle/>
          <a:p>
            <a:pPr indent="0" marL="0">
              <a:buNone/>
            </a:pPr>
            <a:r>
              <a:rPr lang="en-US" sz="1000" dirty="0">
                <a:solidFill>
                  <a:srgbClr val="687063"/>
                </a:solidFill>
                <a:latin typeface="Calibri" pitchFamily="34" charset="0"/>
                <a:ea typeface="Calibri" pitchFamily="34" charset="-122"/>
                <a:cs typeface="Calibri" pitchFamily="34" charset="-120"/>
              </a:rPr>
              <a:t>Sunflower group  |  CNH Data Collection  |  KU Leuven  |  26 October 2026</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EE"/>
        </a:solidFill>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FFF1BE"/>
          </a:solidFill>
          <a:ln w="12700">
            <a:solidFill>
              <a:srgbClr val="FFF1BE"/>
            </a:solidFill>
            <a:prstDash val="solid"/>
          </a:ln>
        </p:spPr>
      </p:sp>
      <p:sp>
        <p:nvSpPr>
          <p:cNvPr id="3" name="Shape 1"/>
          <p:cNvSpPr/>
          <p:nvPr/>
        </p:nvSpPr>
        <p:spPr>
          <a:xfrm rot="5400000">
            <a:off x="10908792" y="2606040"/>
            <a:ext cx="402336" cy="1005840"/>
          </a:xfrm>
          <a:prstGeom prst="ellipse">
            <a:avLst/>
          </a:prstGeom>
          <a:solidFill>
            <a:srgbClr val="F2B705"/>
          </a:solidFill>
          <a:ln w="6350">
            <a:solidFill>
              <a:srgbClr val="DC8F14"/>
            </a:solidFill>
            <a:prstDash val="solid"/>
          </a:ln>
        </p:spPr>
      </p:sp>
      <p:sp>
        <p:nvSpPr>
          <p:cNvPr id="4" name="Shape 2"/>
          <p:cNvSpPr/>
          <p:nvPr/>
        </p:nvSpPr>
        <p:spPr>
          <a:xfrm rot="6750000">
            <a:off x="10835707" y="2973462"/>
            <a:ext cx="402336" cy="1005840"/>
          </a:xfrm>
          <a:prstGeom prst="ellipse">
            <a:avLst/>
          </a:prstGeom>
          <a:solidFill>
            <a:srgbClr val="F2B705"/>
          </a:solidFill>
          <a:ln w="6350">
            <a:solidFill>
              <a:srgbClr val="DC8F14"/>
            </a:solidFill>
            <a:prstDash val="solid"/>
          </a:ln>
        </p:spPr>
      </p:sp>
      <p:sp>
        <p:nvSpPr>
          <p:cNvPr id="5" name="Shape 3"/>
          <p:cNvSpPr/>
          <p:nvPr/>
        </p:nvSpPr>
        <p:spPr>
          <a:xfrm rot="8100000">
            <a:off x="10627579" y="3284947"/>
            <a:ext cx="402336" cy="1005840"/>
          </a:xfrm>
          <a:prstGeom prst="ellipse">
            <a:avLst/>
          </a:prstGeom>
          <a:solidFill>
            <a:srgbClr val="F2B705"/>
          </a:solidFill>
          <a:ln w="6350">
            <a:solidFill>
              <a:srgbClr val="DC8F14"/>
            </a:solidFill>
            <a:prstDash val="solid"/>
          </a:ln>
        </p:spPr>
      </p:sp>
      <p:sp>
        <p:nvSpPr>
          <p:cNvPr id="6" name="Shape 4"/>
          <p:cNvSpPr/>
          <p:nvPr/>
        </p:nvSpPr>
        <p:spPr>
          <a:xfrm rot="9450000">
            <a:off x="10316094" y="3493075"/>
            <a:ext cx="402336" cy="1005840"/>
          </a:xfrm>
          <a:prstGeom prst="ellipse">
            <a:avLst/>
          </a:prstGeom>
          <a:solidFill>
            <a:srgbClr val="F2B705"/>
          </a:solidFill>
          <a:ln w="6350">
            <a:solidFill>
              <a:srgbClr val="DC8F14"/>
            </a:solidFill>
            <a:prstDash val="solid"/>
          </a:ln>
        </p:spPr>
      </p:sp>
      <p:sp>
        <p:nvSpPr>
          <p:cNvPr id="7" name="Shape 5"/>
          <p:cNvSpPr/>
          <p:nvPr/>
        </p:nvSpPr>
        <p:spPr>
          <a:xfrm rot="10800000">
            <a:off x="9948672" y="3566160"/>
            <a:ext cx="402336" cy="1005840"/>
          </a:xfrm>
          <a:prstGeom prst="ellipse">
            <a:avLst/>
          </a:prstGeom>
          <a:solidFill>
            <a:srgbClr val="F2B705"/>
          </a:solidFill>
          <a:ln w="6350">
            <a:solidFill>
              <a:srgbClr val="DC8F14"/>
            </a:solidFill>
            <a:prstDash val="solid"/>
          </a:ln>
        </p:spPr>
      </p:sp>
      <p:sp>
        <p:nvSpPr>
          <p:cNvPr id="8" name="Shape 6"/>
          <p:cNvSpPr/>
          <p:nvPr/>
        </p:nvSpPr>
        <p:spPr>
          <a:xfrm rot="12150000">
            <a:off x="9581250" y="3493075"/>
            <a:ext cx="402336" cy="1005840"/>
          </a:xfrm>
          <a:prstGeom prst="ellipse">
            <a:avLst/>
          </a:prstGeom>
          <a:solidFill>
            <a:srgbClr val="F2B705"/>
          </a:solidFill>
          <a:ln w="6350">
            <a:solidFill>
              <a:srgbClr val="DC8F14"/>
            </a:solidFill>
            <a:prstDash val="solid"/>
          </a:ln>
        </p:spPr>
      </p:sp>
      <p:sp>
        <p:nvSpPr>
          <p:cNvPr id="9" name="Shape 7"/>
          <p:cNvSpPr/>
          <p:nvPr/>
        </p:nvSpPr>
        <p:spPr>
          <a:xfrm rot="13500000">
            <a:off x="9269765" y="3284947"/>
            <a:ext cx="402336" cy="1005840"/>
          </a:xfrm>
          <a:prstGeom prst="ellipse">
            <a:avLst/>
          </a:prstGeom>
          <a:solidFill>
            <a:srgbClr val="F2B705"/>
          </a:solidFill>
          <a:ln w="6350">
            <a:solidFill>
              <a:srgbClr val="DC8F14"/>
            </a:solidFill>
            <a:prstDash val="solid"/>
          </a:ln>
        </p:spPr>
      </p:sp>
      <p:sp>
        <p:nvSpPr>
          <p:cNvPr id="10" name="Shape 8"/>
          <p:cNvSpPr/>
          <p:nvPr/>
        </p:nvSpPr>
        <p:spPr>
          <a:xfrm rot="14850000">
            <a:off x="9061637" y="2973462"/>
            <a:ext cx="402336" cy="1005840"/>
          </a:xfrm>
          <a:prstGeom prst="ellipse">
            <a:avLst/>
          </a:prstGeom>
          <a:solidFill>
            <a:srgbClr val="F2B705"/>
          </a:solidFill>
          <a:ln w="6350">
            <a:solidFill>
              <a:srgbClr val="DC8F14"/>
            </a:solidFill>
            <a:prstDash val="solid"/>
          </a:ln>
        </p:spPr>
      </p:sp>
      <p:sp>
        <p:nvSpPr>
          <p:cNvPr id="11" name="Shape 9"/>
          <p:cNvSpPr/>
          <p:nvPr/>
        </p:nvSpPr>
        <p:spPr>
          <a:xfrm rot="16200000">
            <a:off x="8988552" y="2606040"/>
            <a:ext cx="402336" cy="1005840"/>
          </a:xfrm>
          <a:prstGeom prst="ellipse">
            <a:avLst/>
          </a:prstGeom>
          <a:solidFill>
            <a:srgbClr val="F2B705"/>
          </a:solidFill>
          <a:ln w="6350">
            <a:solidFill>
              <a:srgbClr val="DC8F14"/>
            </a:solidFill>
            <a:prstDash val="solid"/>
          </a:ln>
        </p:spPr>
      </p:sp>
      <p:sp>
        <p:nvSpPr>
          <p:cNvPr id="12" name="Shape 10"/>
          <p:cNvSpPr/>
          <p:nvPr/>
        </p:nvSpPr>
        <p:spPr>
          <a:xfrm rot="17550000">
            <a:off x="9061637" y="2238618"/>
            <a:ext cx="402336" cy="1005840"/>
          </a:xfrm>
          <a:prstGeom prst="ellipse">
            <a:avLst/>
          </a:prstGeom>
          <a:solidFill>
            <a:srgbClr val="F2B705"/>
          </a:solidFill>
          <a:ln w="6350">
            <a:solidFill>
              <a:srgbClr val="DC8F14"/>
            </a:solidFill>
            <a:prstDash val="solid"/>
          </a:ln>
        </p:spPr>
      </p:sp>
      <p:sp>
        <p:nvSpPr>
          <p:cNvPr id="13" name="Shape 11"/>
          <p:cNvSpPr/>
          <p:nvPr/>
        </p:nvSpPr>
        <p:spPr>
          <a:xfrm rot="18900000">
            <a:off x="9269765" y="1927133"/>
            <a:ext cx="402336" cy="1005840"/>
          </a:xfrm>
          <a:prstGeom prst="ellipse">
            <a:avLst/>
          </a:prstGeom>
          <a:solidFill>
            <a:srgbClr val="F2B705"/>
          </a:solidFill>
          <a:ln w="6350">
            <a:solidFill>
              <a:srgbClr val="DC8F14"/>
            </a:solidFill>
            <a:prstDash val="solid"/>
          </a:ln>
        </p:spPr>
      </p:sp>
      <p:sp>
        <p:nvSpPr>
          <p:cNvPr id="14" name="Shape 12"/>
          <p:cNvSpPr/>
          <p:nvPr/>
        </p:nvSpPr>
        <p:spPr>
          <a:xfrm rot="20250000">
            <a:off x="9581250" y="1719005"/>
            <a:ext cx="402336" cy="1005840"/>
          </a:xfrm>
          <a:prstGeom prst="ellipse">
            <a:avLst/>
          </a:prstGeom>
          <a:solidFill>
            <a:srgbClr val="F2B705"/>
          </a:solidFill>
          <a:ln w="6350">
            <a:solidFill>
              <a:srgbClr val="DC8F14"/>
            </a:solidFill>
            <a:prstDash val="solid"/>
          </a:ln>
        </p:spPr>
      </p:sp>
      <p:sp>
        <p:nvSpPr>
          <p:cNvPr id="15" name="Shape 13"/>
          <p:cNvSpPr/>
          <p:nvPr/>
        </p:nvSpPr>
        <p:spPr>
          <a:xfrm rot="21600000">
            <a:off x="9948672" y="1645920"/>
            <a:ext cx="402336" cy="1005840"/>
          </a:xfrm>
          <a:prstGeom prst="ellipse">
            <a:avLst/>
          </a:prstGeom>
          <a:solidFill>
            <a:srgbClr val="F2B705"/>
          </a:solidFill>
          <a:ln w="6350">
            <a:solidFill>
              <a:srgbClr val="DC8F14"/>
            </a:solidFill>
            <a:prstDash val="solid"/>
          </a:ln>
        </p:spPr>
      </p:sp>
      <p:sp>
        <p:nvSpPr>
          <p:cNvPr id="16" name="Shape 14"/>
          <p:cNvSpPr/>
          <p:nvPr/>
        </p:nvSpPr>
        <p:spPr>
          <a:xfrm rot="1350000">
            <a:off x="10316094" y="1719005"/>
            <a:ext cx="402336" cy="1005840"/>
          </a:xfrm>
          <a:prstGeom prst="ellipse">
            <a:avLst/>
          </a:prstGeom>
          <a:solidFill>
            <a:srgbClr val="F2B705"/>
          </a:solidFill>
          <a:ln w="6350">
            <a:solidFill>
              <a:srgbClr val="DC8F14"/>
            </a:solidFill>
            <a:prstDash val="solid"/>
          </a:ln>
        </p:spPr>
      </p:sp>
      <p:sp>
        <p:nvSpPr>
          <p:cNvPr id="17" name="Shape 15"/>
          <p:cNvSpPr/>
          <p:nvPr/>
        </p:nvSpPr>
        <p:spPr>
          <a:xfrm rot="2700000">
            <a:off x="10627579" y="1927133"/>
            <a:ext cx="402336" cy="1005840"/>
          </a:xfrm>
          <a:prstGeom prst="ellipse">
            <a:avLst/>
          </a:prstGeom>
          <a:solidFill>
            <a:srgbClr val="F2B705"/>
          </a:solidFill>
          <a:ln w="6350">
            <a:solidFill>
              <a:srgbClr val="DC8F14"/>
            </a:solidFill>
            <a:prstDash val="solid"/>
          </a:ln>
        </p:spPr>
      </p:sp>
      <p:sp>
        <p:nvSpPr>
          <p:cNvPr id="18" name="Shape 16"/>
          <p:cNvSpPr/>
          <p:nvPr/>
        </p:nvSpPr>
        <p:spPr>
          <a:xfrm rot="4050000">
            <a:off x="10835707" y="2238618"/>
            <a:ext cx="402336" cy="1005840"/>
          </a:xfrm>
          <a:prstGeom prst="ellipse">
            <a:avLst/>
          </a:prstGeom>
          <a:solidFill>
            <a:srgbClr val="F2B705"/>
          </a:solidFill>
          <a:ln w="6350">
            <a:solidFill>
              <a:srgbClr val="DC8F14"/>
            </a:solidFill>
            <a:prstDash val="solid"/>
          </a:ln>
        </p:spPr>
      </p:sp>
      <p:sp>
        <p:nvSpPr>
          <p:cNvPr id="19" name="Shape 17"/>
          <p:cNvSpPr/>
          <p:nvPr/>
        </p:nvSpPr>
        <p:spPr>
          <a:xfrm>
            <a:off x="9372600" y="2331720"/>
            <a:ext cx="1554480" cy="1554480"/>
          </a:xfrm>
          <a:prstGeom prst="ellipse">
            <a:avLst/>
          </a:prstGeom>
          <a:solidFill>
            <a:srgbClr val="5C3D23"/>
          </a:solidFill>
          <a:ln w="12700">
            <a:solidFill>
              <a:srgbClr val="5C3D23"/>
            </a:solidFill>
            <a:prstDash val="solid"/>
          </a:ln>
        </p:spPr>
      </p:sp>
      <p:sp>
        <p:nvSpPr>
          <p:cNvPr id="20" name="Text 18"/>
          <p:cNvSpPr txBox="1"/>
          <p:nvPr/>
        </p:nvSpPr>
        <p:spPr>
          <a:xfrm>
            <a:off x="731520" y="1097280"/>
            <a:ext cx="6949440" cy="365760"/>
          </a:xfrm>
          <a:prstGeom prst="rect">
            <a:avLst/>
          </a:prstGeom>
          <a:noFill/>
          <a:ln/>
        </p:spPr>
        <p:txBody>
          <a:bodyPr wrap="square" lIns="0" tIns="0" rIns="0" bIns="0" rtlCol="0" anchor="ctr"/>
          <a:lstStyle/>
          <a:p>
            <a:pPr indent="0" marL="0">
              <a:buNone/>
            </a:pPr>
            <a:r>
              <a:rPr lang="en-US" sz="1300" b="1" spc="200" kern="0" dirty="0">
                <a:solidFill>
                  <a:srgbClr val="DC8F14"/>
                </a:solidFill>
                <a:latin typeface="Calibri" pitchFamily="34" charset="0"/>
                <a:ea typeface="Calibri" pitchFamily="34" charset="-122"/>
                <a:cs typeface="Calibri" pitchFamily="34" charset="-120"/>
              </a:rPr>
              <a:t>CNH DATA COLLECTION PROJECT</a:t>
            </a:r>
            <a:endParaRPr lang="en-US" sz="1300" dirty="0"/>
          </a:p>
        </p:txBody>
      </p:sp>
      <p:sp>
        <p:nvSpPr>
          <p:cNvPr id="21" name="Text 19"/>
          <p:cNvSpPr txBox="1"/>
          <p:nvPr/>
        </p:nvSpPr>
        <p:spPr>
          <a:xfrm>
            <a:off x="731520" y="1554480"/>
            <a:ext cx="7132320" cy="1645920"/>
          </a:xfrm>
          <a:prstGeom prst="rect">
            <a:avLst/>
          </a:prstGeom>
          <a:noFill/>
          <a:ln/>
        </p:spPr>
        <p:txBody>
          <a:bodyPr wrap="square" lIns="0" tIns="0" rIns="0" bIns="0" rtlCol="0" anchor="t"/>
          <a:lstStyle/>
          <a:p>
            <a:pPr indent="0" marL="0">
              <a:buNone/>
            </a:pPr>
            <a:r>
              <a:rPr lang="en-US" sz="4000" b="1" dirty="0">
                <a:solidFill>
                  <a:srgbClr val="2D5B3F"/>
                </a:solidFill>
                <a:latin typeface="Cambria" pitchFamily="34" charset="0"/>
                <a:ea typeface="Cambria" pitchFamily="34" charset="-122"/>
                <a:cs typeface="Cambria" pitchFamily="34" charset="-120"/>
              </a:rPr>
              <a:t>From sunflower seeds to a weight estimate</a:t>
            </a:r>
            <a:endParaRPr lang="en-US" sz="4000" dirty="0"/>
          </a:p>
        </p:txBody>
      </p:sp>
      <p:sp>
        <p:nvSpPr>
          <p:cNvPr id="22" name="Text 20"/>
          <p:cNvSpPr txBox="1"/>
          <p:nvPr/>
        </p:nvSpPr>
        <p:spPr>
          <a:xfrm>
            <a:off x="731520" y="3291840"/>
            <a:ext cx="6949440" cy="914400"/>
          </a:xfrm>
          <a:prstGeom prst="rect">
            <a:avLst/>
          </a:prstGeom>
          <a:noFill/>
          <a:ln/>
        </p:spPr>
        <p:txBody>
          <a:bodyPr wrap="square" lIns="0" tIns="0" rIns="0" bIns="0" rtlCol="0" anchor="ctr"/>
          <a:lstStyle/>
          <a:p>
            <a:pPr indent="0" marL="0">
              <a:buNone/>
            </a:pPr>
            <a:r>
              <a:rPr lang="en-US" sz="1800" dirty="0">
                <a:solidFill>
                  <a:srgbClr val="253027"/>
                </a:solidFill>
                <a:latin typeface="Calibri" pitchFamily="34" charset="0"/>
                <a:ea typeface="Calibri" pitchFamily="34" charset="-122"/>
                <a:cs typeface="Calibri" pitchFamily="34" charset="-120"/>
              </a:rPr>
              <a:t>What can make the weight wrong, how we control it, how easy it is for the user, and what the data cost</a:t>
            </a:r>
            <a:endParaRPr lang="en-US" sz="1800" dirty="0"/>
          </a:p>
        </p:txBody>
      </p:sp>
      <p:sp>
        <p:nvSpPr>
          <p:cNvPr id="23" name="Text 21"/>
          <p:cNvSpPr txBox="1"/>
          <p:nvPr/>
        </p:nvSpPr>
        <p:spPr>
          <a:xfrm>
            <a:off x="731520" y="5120640"/>
            <a:ext cx="6949440" cy="365760"/>
          </a:xfrm>
          <a:prstGeom prst="rect">
            <a:avLst/>
          </a:prstGeom>
          <a:noFill/>
          <a:ln/>
        </p:spPr>
        <p:txBody>
          <a:bodyPr wrap="square" lIns="0" tIns="0" rIns="0" bIns="0" rtlCol="0" anchor="ctr"/>
          <a:lstStyle/>
          <a:p>
            <a:pPr indent="0" marL="0">
              <a:buNone/>
            </a:pPr>
            <a:r>
              <a:rPr lang="en-US" sz="1400" dirty="0">
                <a:solidFill>
                  <a:srgbClr val="687063"/>
                </a:solidFill>
                <a:latin typeface="Calibri" pitchFamily="34" charset="0"/>
                <a:ea typeface="Calibri" pitchFamily="34" charset="-122"/>
                <a:cs typeface="Calibri" pitchFamily="34" charset="-120"/>
              </a:rPr>
              <a:t>Hadi Nasooti and Jia  |  KU Leuven  |  26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The story in one slide</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OVERVIEW</a:t>
            </a:r>
            <a:endParaRPr lang="en-US" sz="1100" dirty="0"/>
          </a:p>
        </p:txBody>
      </p:sp>
      <p:sp>
        <p:nvSpPr>
          <p:cNvPr id="4" name="Shape 2"/>
          <p:cNvSpPr/>
          <p:nvPr/>
        </p:nvSpPr>
        <p:spPr>
          <a:xfrm>
            <a:off x="548640" y="1325880"/>
            <a:ext cx="6583680" cy="1417320"/>
          </a:xfrm>
          <a:prstGeom prst="roundRect">
            <a:avLst>
              <a:gd name="adj" fmla="val 7742"/>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5" name="Text 3"/>
          <p:cNvSpPr txBox="1"/>
          <p:nvPr/>
        </p:nvSpPr>
        <p:spPr>
          <a:xfrm>
            <a:off x="713232" y="1435608"/>
            <a:ext cx="6254496" cy="119786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What can make the weight wrong?</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We listed 32 variables and measured most of them (the untested ones are marked). Camera height, phone and person are removed by the fixed scale.</a:t>
            </a:r>
            <a:endParaRPr lang="en-US" sz="1600" dirty="0"/>
          </a:p>
        </p:txBody>
      </p:sp>
      <p:sp>
        <p:nvSpPr>
          <p:cNvPr id="6" name="Shape 4"/>
          <p:cNvSpPr/>
          <p:nvPr/>
        </p:nvSpPr>
        <p:spPr>
          <a:xfrm>
            <a:off x="548640" y="2926080"/>
            <a:ext cx="6583680" cy="1417320"/>
          </a:xfrm>
          <a:prstGeom prst="roundRect">
            <a:avLst>
              <a:gd name="adj" fmla="val 7742"/>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7" name="Text 5"/>
          <p:cNvSpPr txBox="1"/>
          <p:nvPr/>
        </p:nvSpPr>
        <p:spPr>
          <a:xfrm>
            <a:off x="713232" y="3035808"/>
            <a:ext cx="6254496" cy="119786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Is it easy for the user?</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One photo from any height, no ruler, no settings. The app gives one light with one sentence: what to change if the photo is not good.</a:t>
            </a:r>
            <a:endParaRPr lang="en-US" sz="1600" dirty="0"/>
          </a:p>
        </p:txBody>
      </p:sp>
      <p:sp>
        <p:nvSpPr>
          <p:cNvPr id="8" name="Shape 6"/>
          <p:cNvSpPr/>
          <p:nvPr/>
        </p:nvSpPr>
        <p:spPr>
          <a:xfrm>
            <a:off x="548640" y="4526280"/>
            <a:ext cx="6583680" cy="1417320"/>
          </a:xfrm>
          <a:prstGeom prst="roundRect">
            <a:avLst>
              <a:gd name="adj" fmla="val 7742"/>
            </a:avLst>
          </a:prstGeom>
          <a:solidFill>
            <a:srgbClr val="FFFFFF"/>
          </a:solidFill>
          <a:ln w="9525">
            <a:solidFill>
              <a:srgbClr val="E6E1D3"/>
            </a:solidFill>
            <a:prstDash val="solid"/>
          </a:ln>
          <a:effectLst>
            <a:outerShdw sx="100000" sy="100000" kx="0" ky="0" algn="bl" rotWithShape="0" blurRad="50800" dist="19050" dir="5400000">
              <a:srgbClr val="000000">
                <a:alpha val="8000"/>
              </a:srgbClr>
            </a:outerShdw>
          </a:effectLst>
        </p:spPr>
      </p:sp>
      <p:sp>
        <p:nvSpPr>
          <p:cNvPr id="9" name="Text 7"/>
          <p:cNvSpPr txBox="1"/>
          <p:nvPr/>
        </p:nvSpPr>
        <p:spPr>
          <a:xfrm>
            <a:off x="713232" y="4636008"/>
            <a:ext cx="6254496" cy="119786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Is the data worth its cost?</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10 piles (about 2 hours, about 100 euro) give ±9.4 % with the marker sheet. We have 17 piles: ±8.7 %. Jia's 9 test piles: 9 of 9 inside.</a:t>
            </a:r>
            <a:endParaRPr lang="en-US" sz="1600" dirty="0"/>
          </a:p>
        </p:txBody>
      </p:sp>
      <p:sp>
        <p:nvSpPr>
          <p:cNvPr id="10" name="Text 8"/>
          <p:cNvSpPr txBox="1"/>
          <p:nvPr/>
        </p:nvSpPr>
        <p:spPr>
          <a:xfrm>
            <a:off x="7680960" y="1325880"/>
            <a:ext cx="4023360" cy="1280160"/>
          </a:xfrm>
          <a:prstGeom prst="rect">
            <a:avLst/>
          </a:prstGeom>
          <a:noFill/>
          <a:ln/>
        </p:spPr>
        <p:txBody>
          <a:bodyPr wrap="square" lIns="0" tIns="0" rIns="0" bIns="0" rtlCol="0" anchor="t"/>
          <a:lstStyle/>
          <a:p>
            <a:pPr indent="0" marL="0">
              <a:buNone/>
            </a:pPr>
            <a:r>
              <a:rPr lang="en-US" sz="4000" b="1" dirty="0">
                <a:solidFill>
                  <a:srgbClr val="2D5B3F"/>
                </a:solidFill>
                <a:latin typeface="Calibri" pitchFamily="34" charset="0"/>
                <a:ea typeface="Calibri" pitchFamily="34" charset="-122"/>
                <a:cs typeface="Calibri" pitchFamily="34" charset="-120"/>
              </a:rPr>
              <a:t>1.2 %</a:t>
            </a:r>
            <a:endParaRPr lang="en-US" sz="4000" dirty="0"/>
          </a:p>
          <a:p>
            <a:pPr indent="0" marL="0">
              <a:buNone/>
            </a:pPr>
            <a:r>
              <a:rPr lang="en-US" sz="1300" dirty="0">
                <a:solidFill>
                  <a:srgbClr val="687063"/>
                </a:solidFill>
                <a:latin typeface="Calibri" pitchFamily="34" charset="0"/>
                <a:ea typeface="Calibri" pitchFamily="34" charset="-122"/>
                <a:cs typeface="Calibri" pitchFamily="34" charset="-120"/>
              </a:rPr>
              <a:t>what the photo itself adds: one pile, 16 photos, 2 persons, 2 phones, 2 heights</a:t>
            </a:r>
            <a:endParaRPr lang="en-US" sz="4000" dirty="0"/>
          </a:p>
        </p:txBody>
      </p:sp>
      <p:sp>
        <p:nvSpPr>
          <p:cNvPr id="11" name="Text 9"/>
          <p:cNvSpPr txBox="1"/>
          <p:nvPr/>
        </p:nvSpPr>
        <p:spPr>
          <a:xfrm>
            <a:off x="7680960" y="2926080"/>
            <a:ext cx="4023360" cy="1280160"/>
          </a:xfrm>
          <a:prstGeom prst="rect">
            <a:avLst/>
          </a:prstGeom>
          <a:noFill/>
          <a:ln/>
        </p:spPr>
        <p:txBody>
          <a:bodyPr wrap="square" lIns="0" tIns="0" rIns="0" bIns="0" rtlCol="0" anchor="t"/>
          <a:lstStyle/>
          <a:p>
            <a:pPr indent="0" marL="0">
              <a:buNone/>
            </a:pPr>
            <a:r>
              <a:rPr lang="en-US" sz="4000" b="1" dirty="0">
                <a:solidFill>
                  <a:srgbClr val="DC8F14"/>
                </a:solidFill>
                <a:latin typeface="Calibri" pitchFamily="34" charset="0"/>
                <a:ea typeface="Calibri" pitchFamily="34" charset="-122"/>
                <a:cs typeface="Calibri" pitchFamily="34" charset="-120"/>
              </a:rPr>
              <a:t>53 of 53</a:t>
            </a:r>
            <a:endParaRPr lang="en-US" sz="4000" dirty="0"/>
          </a:p>
          <a:p>
            <a:pPr indent="0" marL="0">
              <a:buNone/>
            </a:pPr>
            <a:r>
              <a:rPr lang="en-US" sz="1300" dirty="0">
                <a:solidFill>
                  <a:srgbClr val="687063"/>
                </a:solidFill>
                <a:latin typeface="Calibri" pitchFamily="34" charset="0"/>
                <a:ea typeface="Calibri" pitchFamily="34" charset="-122"/>
                <a:cs typeface="Calibri" pitchFamily="34" charset="-120"/>
              </a:rPr>
              <a:t>of our normal photos get a green light; all 6 problem photos orange</a:t>
            </a:r>
            <a:endParaRPr lang="en-US" sz="4000" dirty="0"/>
          </a:p>
        </p:txBody>
      </p:sp>
      <p:sp>
        <p:nvSpPr>
          <p:cNvPr id="12" name="Text 10"/>
          <p:cNvSpPr txBox="1"/>
          <p:nvPr/>
        </p:nvSpPr>
        <p:spPr>
          <a:xfrm>
            <a:off x="7680960" y="4526280"/>
            <a:ext cx="4023360" cy="1280160"/>
          </a:xfrm>
          <a:prstGeom prst="rect">
            <a:avLst/>
          </a:prstGeom>
          <a:noFill/>
          <a:ln/>
        </p:spPr>
        <p:txBody>
          <a:bodyPr wrap="square" lIns="0" tIns="0" rIns="0" bIns="0" rtlCol="0" anchor="t"/>
          <a:lstStyle/>
          <a:p>
            <a:pPr indent="0" marL="0">
              <a:buNone/>
            </a:pPr>
            <a:r>
              <a:rPr lang="en-US" sz="4000" b="1" dirty="0">
                <a:solidFill>
                  <a:srgbClr val="5C3D23"/>
                </a:solidFill>
                <a:latin typeface="Calibri" pitchFamily="34" charset="0"/>
                <a:ea typeface="Calibri" pitchFamily="34" charset="-122"/>
                <a:cs typeface="Calibri" pitchFamily="34" charset="-120"/>
              </a:rPr>
              <a:t>±8.7 %</a:t>
            </a:r>
            <a:endParaRPr lang="en-US" sz="4000" dirty="0"/>
          </a:p>
          <a:p>
            <a:pPr indent="0" marL="0">
              <a:buNone/>
            </a:pPr>
            <a:r>
              <a:rPr lang="en-US" sz="1300" dirty="0">
                <a:solidFill>
                  <a:srgbClr val="687063"/>
                </a:solidFill>
                <a:latin typeface="Calibri" pitchFamily="34" charset="0"/>
                <a:ea typeface="Calibri" pitchFamily="34" charset="-122"/>
                <a:cs typeface="Calibri" pitchFamily="34" charset="-120"/>
              </a:rPr>
              <a:t>95 % range for one photo, 17 piles, about 3.6 hours of work</a:t>
            </a:r>
            <a:endParaRPr lang="en-US" sz="4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How we collect one sample</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METHOD</a:t>
            </a:r>
            <a:endParaRPr lang="en-US" sz="1100" dirty="0"/>
          </a:p>
        </p:txBody>
      </p:sp>
      <p:sp>
        <p:nvSpPr>
          <p:cNvPr id="4" name="Shape 2"/>
          <p:cNvSpPr/>
          <p:nvPr/>
        </p:nvSpPr>
        <p:spPr>
          <a:xfrm>
            <a:off x="548640" y="1371600"/>
            <a:ext cx="2103120" cy="1600200"/>
          </a:xfrm>
          <a:prstGeom prst="roundRect">
            <a:avLst>
              <a:gd name="adj" fmla="val 6857"/>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5" name="Text 3"/>
          <p:cNvSpPr txBox="1"/>
          <p:nvPr/>
        </p:nvSpPr>
        <p:spPr>
          <a:xfrm>
            <a:off x="713232" y="1481328"/>
            <a:ext cx="1773936" cy="1380744"/>
          </a:xfrm>
          <a:prstGeom prst="rect">
            <a:avLst/>
          </a:prstGeom>
          <a:noFill/>
          <a:ln/>
        </p:spPr>
        <p:txBody>
          <a:bodyPr wrap="square" lIns="0" tIns="0" rIns="0" bIns="0" rtlCol="0" anchor="t"/>
          <a:lstStyle/>
          <a:p>
            <a:pPr indent="0" marL="0">
              <a:buNone/>
            </a:pPr>
            <a:r>
              <a:rPr lang="en-US" sz="1700" b="1" dirty="0">
                <a:solidFill>
                  <a:srgbClr val="2D5B3F"/>
                </a:solidFill>
                <a:latin typeface="Calibri" pitchFamily="34" charset="0"/>
                <a:ea typeface="Calibri" pitchFamily="34" charset="-122"/>
                <a:cs typeface="Calibri" pitchFamily="34" charset="-120"/>
              </a:rPr>
              <a:t>1  Weigh</a:t>
            </a:r>
            <a:endParaRPr lang="en-US" sz="17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TARE, then scoop the seeds; write the weight</a:t>
            </a:r>
            <a:endParaRPr lang="en-US" sz="1700" dirty="0"/>
          </a:p>
        </p:txBody>
      </p:sp>
      <p:sp>
        <p:nvSpPr>
          <p:cNvPr id="6" name="Shape 4"/>
          <p:cNvSpPr/>
          <p:nvPr/>
        </p:nvSpPr>
        <p:spPr>
          <a:xfrm>
            <a:off x="2834640" y="1371600"/>
            <a:ext cx="2103120" cy="1600200"/>
          </a:xfrm>
          <a:prstGeom prst="roundRect">
            <a:avLst>
              <a:gd name="adj" fmla="val 6857"/>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7" name="Text 5"/>
          <p:cNvSpPr txBox="1"/>
          <p:nvPr/>
        </p:nvSpPr>
        <p:spPr>
          <a:xfrm>
            <a:off x="2999232" y="1481328"/>
            <a:ext cx="1773936" cy="1380744"/>
          </a:xfrm>
          <a:prstGeom prst="rect">
            <a:avLst/>
          </a:prstGeom>
          <a:noFill/>
          <a:ln/>
        </p:spPr>
        <p:txBody>
          <a:bodyPr wrap="square" lIns="0" tIns="0" rIns="0" bIns="0" rtlCol="0" anchor="t"/>
          <a:lstStyle/>
          <a:p>
            <a:pPr indent="0" marL="0">
              <a:buNone/>
            </a:pPr>
            <a:r>
              <a:rPr lang="en-US" sz="1700" b="1" dirty="0">
                <a:solidFill>
                  <a:srgbClr val="2D5B3F"/>
                </a:solidFill>
                <a:latin typeface="Calibri" pitchFamily="34" charset="0"/>
                <a:ea typeface="Calibri" pitchFamily="34" charset="-122"/>
                <a:cs typeface="Calibri" pitchFamily="34" charset="-120"/>
              </a:rPr>
              <a:t>2  Spread</a:t>
            </a:r>
            <a:endParaRPr lang="en-US" sz="17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On white paper, no seed touches another</a:t>
            </a:r>
            <a:endParaRPr lang="en-US" sz="1700" dirty="0"/>
          </a:p>
        </p:txBody>
      </p:sp>
      <p:sp>
        <p:nvSpPr>
          <p:cNvPr id="8" name="Shape 6"/>
          <p:cNvSpPr/>
          <p:nvPr/>
        </p:nvSpPr>
        <p:spPr>
          <a:xfrm>
            <a:off x="5120640" y="1371600"/>
            <a:ext cx="2103120" cy="1600200"/>
          </a:xfrm>
          <a:prstGeom prst="roundRect">
            <a:avLst>
              <a:gd name="adj" fmla="val 6857"/>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9" name="Text 7"/>
          <p:cNvSpPr txBox="1"/>
          <p:nvPr/>
        </p:nvSpPr>
        <p:spPr>
          <a:xfrm>
            <a:off x="5285232" y="1481328"/>
            <a:ext cx="1773936" cy="1380744"/>
          </a:xfrm>
          <a:prstGeom prst="rect">
            <a:avLst/>
          </a:prstGeom>
          <a:noFill/>
          <a:ln/>
        </p:spPr>
        <p:txBody>
          <a:bodyPr wrap="square" lIns="0" tIns="0" rIns="0" bIns="0" rtlCol="0" anchor="t"/>
          <a:lstStyle/>
          <a:p>
            <a:pPr indent="0" marL="0">
              <a:buNone/>
            </a:pPr>
            <a:r>
              <a:rPr lang="en-US" sz="1700" b="1" dirty="0">
                <a:solidFill>
                  <a:srgbClr val="2D5B3F"/>
                </a:solidFill>
                <a:latin typeface="Calibri" pitchFamily="34" charset="0"/>
                <a:ea typeface="Calibri" pitchFamily="34" charset="-122"/>
                <a:cs typeface="Calibri" pitchFamily="34" charset="-120"/>
              </a:rPr>
              <a:t>3  Markers</a:t>
            </a:r>
            <a:endParaRPr lang="en-US" sz="17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Two printed 50 mm squares next to the seeds</a:t>
            </a:r>
            <a:endParaRPr lang="en-US" sz="1700" dirty="0"/>
          </a:p>
        </p:txBody>
      </p:sp>
      <p:sp>
        <p:nvSpPr>
          <p:cNvPr id="10" name="Shape 8"/>
          <p:cNvSpPr/>
          <p:nvPr/>
        </p:nvSpPr>
        <p:spPr>
          <a:xfrm>
            <a:off x="7406640" y="1371600"/>
            <a:ext cx="2103120" cy="1600200"/>
          </a:xfrm>
          <a:prstGeom prst="roundRect">
            <a:avLst>
              <a:gd name="adj" fmla="val 6857"/>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11" name="Text 9"/>
          <p:cNvSpPr txBox="1"/>
          <p:nvPr/>
        </p:nvSpPr>
        <p:spPr>
          <a:xfrm>
            <a:off x="7571232" y="1481328"/>
            <a:ext cx="1773936" cy="1380744"/>
          </a:xfrm>
          <a:prstGeom prst="rect">
            <a:avLst/>
          </a:prstGeom>
          <a:noFill/>
          <a:ln/>
        </p:spPr>
        <p:txBody>
          <a:bodyPr wrap="square" lIns="0" tIns="0" rIns="0" bIns="0" rtlCol="0" anchor="t"/>
          <a:lstStyle/>
          <a:p>
            <a:pPr indent="0" marL="0">
              <a:buNone/>
            </a:pPr>
            <a:r>
              <a:rPr lang="en-US" sz="1700" b="1" dirty="0">
                <a:solidFill>
                  <a:srgbClr val="2D5B3F"/>
                </a:solidFill>
                <a:latin typeface="Calibri" pitchFamily="34" charset="0"/>
                <a:ea typeface="Calibri" pitchFamily="34" charset="-122"/>
                <a:cs typeface="Calibri" pitchFamily="34" charset="-120"/>
              </a:rPr>
              <a:t>4  Photo</a:t>
            </a:r>
            <a:endParaRPr lang="en-US" sz="17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Straight down, any height, 1x camera, 2 photos</a:t>
            </a:r>
            <a:endParaRPr lang="en-US" sz="1700" dirty="0"/>
          </a:p>
        </p:txBody>
      </p:sp>
      <p:sp>
        <p:nvSpPr>
          <p:cNvPr id="12" name="Shape 10"/>
          <p:cNvSpPr/>
          <p:nvPr/>
        </p:nvSpPr>
        <p:spPr>
          <a:xfrm>
            <a:off x="9692640" y="1371600"/>
            <a:ext cx="2103120" cy="1600200"/>
          </a:xfrm>
          <a:prstGeom prst="roundRect">
            <a:avLst>
              <a:gd name="adj" fmla="val 6857"/>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13" name="Text 11"/>
          <p:cNvSpPr txBox="1"/>
          <p:nvPr/>
        </p:nvSpPr>
        <p:spPr>
          <a:xfrm>
            <a:off x="9857232" y="1481328"/>
            <a:ext cx="1773936" cy="1380744"/>
          </a:xfrm>
          <a:prstGeom prst="rect">
            <a:avLst/>
          </a:prstGeom>
          <a:noFill/>
          <a:ln/>
        </p:spPr>
        <p:txBody>
          <a:bodyPr wrap="square" lIns="0" tIns="0" rIns="0" bIns="0" rtlCol="0" anchor="t"/>
          <a:lstStyle/>
          <a:p>
            <a:pPr indent="0" marL="0">
              <a:buNone/>
            </a:pPr>
            <a:r>
              <a:rPr lang="en-US" sz="1700" b="1" dirty="0">
                <a:solidFill>
                  <a:srgbClr val="2D5B3F"/>
                </a:solidFill>
                <a:latin typeface="Calibri" pitchFamily="34" charset="0"/>
                <a:ea typeface="Calibri" pitchFamily="34" charset="-122"/>
                <a:cs typeface="Calibri" pitchFamily="34" charset="-120"/>
              </a:rPr>
              <a:t>5  Weigh again</a:t>
            </a:r>
            <a:endParaRPr lang="en-US" sz="17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TARE, all seeds back; this weight is used</a:t>
            </a:r>
            <a:endParaRPr lang="en-US" sz="1700" dirty="0"/>
          </a:p>
        </p:txBody>
      </p:sp>
      <p:sp>
        <p:nvSpPr>
          <p:cNvPr id="14" name="Shape 12"/>
          <p:cNvSpPr/>
          <p:nvPr/>
        </p:nvSpPr>
        <p:spPr>
          <a:xfrm>
            <a:off x="548640" y="3291840"/>
            <a:ext cx="5486400" cy="2834640"/>
          </a:xfrm>
          <a:prstGeom prst="roundRect">
            <a:avLst>
              <a:gd name="adj" fmla="val 3871"/>
            </a:avLst>
          </a:prstGeom>
          <a:solidFill>
            <a:srgbClr val="FFFFFF"/>
          </a:solidFill>
          <a:ln w="9525">
            <a:solidFill>
              <a:srgbClr val="E6E1D3"/>
            </a:solidFill>
            <a:prstDash val="solid"/>
          </a:ln>
          <a:effectLst>
            <a:outerShdw sx="100000" sy="100000" kx="0" ky="0" algn="bl" rotWithShape="0" blurRad="50800" dist="19050" dir="5400000">
              <a:srgbClr val="000000">
                <a:alpha val="8000"/>
              </a:srgbClr>
            </a:outerShdw>
          </a:effectLst>
        </p:spPr>
      </p:sp>
      <p:sp>
        <p:nvSpPr>
          <p:cNvPr id="15" name="Text 13"/>
          <p:cNvSpPr txBox="1"/>
          <p:nvPr/>
        </p:nvSpPr>
        <p:spPr>
          <a:xfrm>
            <a:off x="713232" y="3401568"/>
            <a:ext cx="5157216" cy="26151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Each rule comes from a problem we measured</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TARE every time: without it the scale read 1 g too high (coin test).</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No seed touches another: touching seeds gave 16 to 19 % fewer seeds.</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Markers in the photo: without them the count depends on height and phone.</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Nothing else in the photo: false boxes on writing and a ruler.</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Never crop: cropping cut seeds at the edge.</a:t>
            </a:r>
            <a:endParaRPr lang="en-US" sz="1600" dirty="0"/>
          </a:p>
        </p:txBody>
      </p:sp>
      <p:sp>
        <p:nvSpPr>
          <p:cNvPr id="16" name="Shape 14"/>
          <p:cNvSpPr/>
          <p:nvPr/>
        </p:nvSpPr>
        <p:spPr>
          <a:xfrm>
            <a:off x="6263640" y="3291840"/>
            <a:ext cx="5394960" cy="2834640"/>
          </a:xfrm>
          <a:prstGeom prst="roundRect">
            <a:avLst>
              <a:gd name="adj" fmla="val 3871"/>
            </a:avLst>
          </a:prstGeom>
          <a:solidFill>
            <a:srgbClr val="FBE3D6"/>
          </a:solidFill>
          <a:ln w="9525">
            <a:solidFill>
              <a:srgbClr val="FBE3D6"/>
            </a:solidFill>
            <a:prstDash val="solid"/>
          </a:ln>
          <a:effectLst>
            <a:outerShdw sx="100000" sy="100000" kx="0" ky="0" algn="bl" rotWithShape="0" blurRad="50800" dist="19050" dir="5400000">
              <a:srgbClr val="000000">
                <a:alpha val="8000"/>
              </a:srgbClr>
            </a:outerShdw>
          </a:effectLst>
        </p:spPr>
      </p:sp>
      <p:sp>
        <p:nvSpPr>
          <p:cNvPr id="17" name="Text 15"/>
          <p:cNvSpPr txBox="1"/>
          <p:nvPr/>
        </p:nvSpPr>
        <p:spPr>
          <a:xfrm>
            <a:off x="6428232" y="3401568"/>
            <a:ext cx="5065776" cy="26151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Written down so someone else can follow it</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Procedure (version 3) in the repository, PROCEDURE.md.</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Tested: Jia repeated it on 9 new piles with another phone (slide 10).</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The same rules are now inside the app as instructions and checks (slide 11).</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What data we collected</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DATASET</a:t>
            </a:r>
            <a:endParaRPr lang="en-US" sz="1100" dirty="0"/>
          </a:p>
        </p:txBody>
      </p:sp>
      <p:sp>
        <p:nvSpPr>
          <p:cNvPr id="4" name="Shape 2"/>
          <p:cNvSpPr/>
          <p:nvPr/>
        </p:nvSpPr>
        <p:spPr>
          <a:xfrm>
            <a:off x="914400" y="1874520"/>
            <a:ext cx="10424160" cy="0"/>
          </a:xfrm>
          <a:prstGeom prst="line">
            <a:avLst/>
          </a:prstGeom>
          <a:noFill/>
          <a:ln w="38100">
            <a:solidFill>
              <a:srgbClr val="F2B705"/>
            </a:solidFill>
            <a:prstDash val="solid"/>
          </a:ln>
        </p:spPr>
      </p:sp>
      <p:sp>
        <p:nvSpPr>
          <p:cNvPr id="5" name="Shape 3"/>
          <p:cNvSpPr/>
          <p:nvPr/>
        </p:nvSpPr>
        <p:spPr>
          <a:xfrm>
            <a:off x="777240" y="1719072"/>
            <a:ext cx="310896" cy="310896"/>
          </a:xfrm>
          <a:prstGeom prst="ellipse">
            <a:avLst/>
          </a:prstGeom>
          <a:solidFill>
            <a:srgbClr val="2D5B3F"/>
          </a:solidFill>
          <a:ln w="19050">
            <a:solidFill>
              <a:srgbClr val="FFFFFF"/>
            </a:solidFill>
            <a:prstDash val="solid"/>
          </a:ln>
        </p:spPr>
      </p:sp>
      <p:sp>
        <p:nvSpPr>
          <p:cNvPr id="6" name="Text 4"/>
          <p:cNvSpPr txBox="1"/>
          <p:nvPr/>
        </p:nvSpPr>
        <p:spPr>
          <a:xfrm>
            <a:off x="548640" y="1234440"/>
            <a:ext cx="2103120" cy="365760"/>
          </a:xfrm>
          <a:prstGeom prst="rect">
            <a:avLst/>
          </a:prstGeom>
          <a:noFill/>
          <a:ln/>
        </p:spPr>
        <p:txBody>
          <a:bodyPr wrap="square" lIns="0" tIns="0" rIns="0" bIns="0" rtlCol="0" anchor="ctr"/>
          <a:lstStyle/>
          <a:p>
            <a:pPr indent="0" marL="0">
              <a:buNone/>
            </a:pPr>
            <a:r>
              <a:rPr lang="en-US" sz="1400" b="1" dirty="0">
                <a:solidFill>
                  <a:srgbClr val="DC8F14"/>
                </a:solidFill>
                <a:latin typeface="Calibri" pitchFamily="34" charset="0"/>
                <a:ea typeface="Calibri" pitchFamily="34" charset="-122"/>
                <a:cs typeface="Calibri" pitchFamily="34" charset="-120"/>
              </a:rPr>
              <a:t>17 Oct</a:t>
            </a:r>
            <a:endParaRPr lang="en-US" sz="1400" dirty="0"/>
          </a:p>
        </p:txBody>
      </p:sp>
      <p:sp>
        <p:nvSpPr>
          <p:cNvPr id="7" name="Shape 5"/>
          <p:cNvSpPr/>
          <p:nvPr/>
        </p:nvSpPr>
        <p:spPr>
          <a:xfrm>
            <a:off x="548640" y="2240280"/>
            <a:ext cx="2103120" cy="1920240"/>
          </a:xfrm>
          <a:prstGeom prst="roundRect">
            <a:avLst>
              <a:gd name="adj" fmla="val 5714"/>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8" name="Text 6"/>
          <p:cNvSpPr txBox="1"/>
          <p:nvPr/>
        </p:nvSpPr>
        <p:spPr>
          <a:xfrm>
            <a:off x="713232" y="2350008"/>
            <a:ext cx="1773936" cy="1700784"/>
          </a:xfrm>
          <a:prstGeom prst="rect">
            <a:avLst/>
          </a:prstGeom>
          <a:noFill/>
          <a:ln/>
        </p:spPr>
        <p:txBody>
          <a:bodyPr wrap="square" lIns="0" tIns="0" rIns="0" bIns="0" rtlCol="0" anchor="t"/>
          <a:lstStyle/>
          <a:p>
            <a:pPr indent="0" marL="0">
              <a:buNone/>
            </a:pPr>
            <a:r>
              <a:rPr lang="en-US" sz="1500" b="1" dirty="0">
                <a:solidFill>
                  <a:srgbClr val="2D5B3F"/>
                </a:solidFill>
                <a:latin typeface="Calibri" pitchFamily="34" charset="0"/>
                <a:ea typeface="Calibri" pitchFamily="34" charset="-122"/>
                <a:cs typeface="Calibri" pitchFamily="34" charset="-120"/>
              </a:rPr>
              <a:t>Pilot</a:t>
            </a:r>
            <a:endParaRPr lang="en-US" sz="1500" dirty="0"/>
          </a:p>
          <a:p>
            <a:pPr indent="0" marL="0">
              <a:spcBef>
                <a:spcPts val="400"/>
              </a:spcBef>
              <a:buNone/>
            </a:pPr>
            <a:r>
              <a:rPr lang="en-US" sz="1300" dirty="0">
                <a:solidFill>
                  <a:srgbClr val="253027"/>
                </a:solidFill>
                <a:latin typeface="Calibri" pitchFamily="34" charset="0"/>
                <a:ea typeface="Calibri" pitchFamily="34" charset="-122"/>
                <a:cs typeface="Calibri" pitchFamily="34" charset="-120"/>
              </a:rPr>
              <a:t>1 pile of 25 g, 3 batches of 200 hand-counted seeds</a:t>
            </a:r>
            <a:endParaRPr lang="en-US" sz="1500" dirty="0"/>
          </a:p>
        </p:txBody>
      </p:sp>
      <p:sp>
        <p:nvSpPr>
          <p:cNvPr id="9" name="Shape 7"/>
          <p:cNvSpPr/>
          <p:nvPr/>
        </p:nvSpPr>
        <p:spPr>
          <a:xfrm>
            <a:off x="3063240" y="1719072"/>
            <a:ext cx="310896" cy="310896"/>
          </a:xfrm>
          <a:prstGeom prst="ellipse">
            <a:avLst/>
          </a:prstGeom>
          <a:solidFill>
            <a:srgbClr val="2D5B3F"/>
          </a:solidFill>
          <a:ln w="19050">
            <a:solidFill>
              <a:srgbClr val="FFFFFF"/>
            </a:solidFill>
            <a:prstDash val="solid"/>
          </a:ln>
        </p:spPr>
      </p:sp>
      <p:sp>
        <p:nvSpPr>
          <p:cNvPr id="10" name="Text 8"/>
          <p:cNvSpPr txBox="1"/>
          <p:nvPr/>
        </p:nvSpPr>
        <p:spPr>
          <a:xfrm>
            <a:off x="2834640" y="1234440"/>
            <a:ext cx="2103120" cy="365760"/>
          </a:xfrm>
          <a:prstGeom prst="rect">
            <a:avLst/>
          </a:prstGeom>
          <a:noFill/>
          <a:ln/>
        </p:spPr>
        <p:txBody>
          <a:bodyPr wrap="square" lIns="0" tIns="0" rIns="0" bIns="0" rtlCol="0" anchor="ctr"/>
          <a:lstStyle/>
          <a:p>
            <a:pPr indent="0" marL="0">
              <a:buNone/>
            </a:pPr>
            <a:r>
              <a:rPr lang="en-US" sz="1400" b="1" dirty="0">
                <a:solidFill>
                  <a:srgbClr val="DC8F14"/>
                </a:solidFill>
                <a:latin typeface="Calibri" pitchFamily="34" charset="0"/>
                <a:ea typeface="Calibri" pitchFamily="34" charset="-122"/>
                <a:cs typeface="Calibri" pitchFamily="34" charset="-120"/>
              </a:rPr>
              <a:t>19 Oct</a:t>
            </a:r>
            <a:endParaRPr lang="en-US" sz="1400" dirty="0"/>
          </a:p>
        </p:txBody>
      </p:sp>
      <p:sp>
        <p:nvSpPr>
          <p:cNvPr id="11" name="Shape 9"/>
          <p:cNvSpPr/>
          <p:nvPr/>
        </p:nvSpPr>
        <p:spPr>
          <a:xfrm>
            <a:off x="2834640" y="2240280"/>
            <a:ext cx="2103120" cy="1920240"/>
          </a:xfrm>
          <a:prstGeom prst="roundRect">
            <a:avLst>
              <a:gd name="adj" fmla="val 5714"/>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12" name="Text 10"/>
          <p:cNvSpPr txBox="1"/>
          <p:nvPr/>
        </p:nvSpPr>
        <p:spPr>
          <a:xfrm>
            <a:off x="2999232" y="2350008"/>
            <a:ext cx="1773936" cy="1700784"/>
          </a:xfrm>
          <a:prstGeom prst="rect">
            <a:avLst/>
          </a:prstGeom>
          <a:noFill/>
          <a:ln/>
        </p:spPr>
        <p:txBody>
          <a:bodyPr wrap="square" lIns="0" tIns="0" rIns="0" bIns="0" rtlCol="0" anchor="t"/>
          <a:lstStyle/>
          <a:p>
            <a:pPr indent="0" marL="0">
              <a:buNone/>
            </a:pPr>
            <a:r>
              <a:rPr lang="en-US" sz="1500" b="1" dirty="0">
                <a:solidFill>
                  <a:srgbClr val="2D5B3F"/>
                </a:solidFill>
                <a:latin typeface="Calibri" pitchFamily="34" charset="0"/>
                <a:ea typeface="Calibri" pitchFamily="34" charset="-122"/>
                <a:cs typeface="Calibri" pitchFamily="34" charset="-120"/>
              </a:rPr>
              <a:t>Hadi P01 to P08</a:t>
            </a:r>
            <a:endParaRPr lang="en-US" sz="1500" dirty="0"/>
          </a:p>
          <a:p>
            <a:pPr indent="0" marL="0">
              <a:spcBef>
                <a:spcPts val="400"/>
              </a:spcBef>
              <a:buNone/>
            </a:pPr>
            <a:r>
              <a:rPr lang="en-US" sz="1300" dirty="0">
                <a:solidFill>
                  <a:srgbClr val="253027"/>
                </a:solidFill>
                <a:latin typeface="Calibri" pitchFamily="34" charset="0"/>
                <a:ea typeface="Calibri" pitchFamily="34" charset="-122"/>
                <a:cs typeface="Calibri" pitchFamily="34" charset="-120"/>
              </a:rPr>
              <a:t>10 to 24 g, 24 photos (iPhone 15 Pro)</a:t>
            </a:r>
            <a:endParaRPr lang="en-US" sz="1500" dirty="0"/>
          </a:p>
        </p:txBody>
      </p:sp>
      <p:sp>
        <p:nvSpPr>
          <p:cNvPr id="13" name="Shape 11"/>
          <p:cNvSpPr/>
          <p:nvPr/>
        </p:nvSpPr>
        <p:spPr>
          <a:xfrm>
            <a:off x="5349240" y="1719072"/>
            <a:ext cx="310896" cy="310896"/>
          </a:xfrm>
          <a:prstGeom prst="ellipse">
            <a:avLst/>
          </a:prstGeom>
          <a:solidFill>
            <a:srgbClr val="2D5B3F"/>
          </a:solidFill>
          <a:ln w="19050">
            <a:solidFill>
              <a:srgbClr val="FFFFFF"/>
            </a:solidFill>
            <a:prstDash val="solid"/>
          </a:ln>
        </p:spPr>
      </p:sp>
      <p:sp>
        <p:nvSpPr>
          <p:cNvPr id="14" name="Text 12"/>
          <p:cNvSpPr txBox="1"/>
          <p:nvPr/>
        </p:nvSpPr>
        <p:spPr>
          <a:xfrm>
            <a:off x="5120640" y="1234440"/>
            <a:ext cx="2103120" cy="365760"/>
          </a:xfrm>
          <a:prstGeom prst="rect">
            <a:avLst/>
          </a:prstGeom>
          <a:noFill/>
          <a:ln/>
        </p:spPr>
        <p:txBody>
          <a:bodyPr wrap="square" lIns="0" tIns="0" rIns="0" bIns="0" rtlCol="0" anchor="ctr"/>
          <a:lstStyle/>
          <a:p>
            <a:pPr indent="0" marL="0">
              <a:buNone/>
            </a:pPr>
            <a:r>
              <a:rPr lang="en-US" sz="1400" b="1" dirty="0">
                <a:solidFill>
                  <a:srgbClr val="DC8F14"/>
                </a:solidFill>
                <a:latin typeface="Calibri" pitchFamily="34" charset="0"/>
                <a:ea typeface="Calibri" pitchFamily="34" charset="-122"/>
                <a:cs typeface="Calibri" pitchFamily="34" charset="-120"/>
              </a:rPr>
              <a:t>19 Oct</a:t>
            </a:r>
            <a:endParaRPr lang="en-US" sz="1400" dirty="0"/>
          </a:p>
        </p:txBody>
      </p:sp>
      <p:sp>
        <p:nvSpPr>
          <p:cNvPr id="15" name="Shape 13"/>
          <p:cNvSpPr/>
          <p:nvPr/>
        </p:nvSpPr>
        <p:spPr>
          <a:xfrm>
            <a:off x="5120640" y="2240280"/>
            <a:ext cx="2103120" cy="1920240"/>
          </a:xfrm>
          <a:prstGeom prst="roundRect">
            <a:avLst>
              <a:gd name="adj" fmla="val 5714"/>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16" name="Text 14"/>
          <p:cNvSpPr txBox="1"/>
          <p:nvPr/>
        </p:nvSpPr>
        <p:spPr>
          <a:xfrm>
            <a:off x="5285232" y="2350008"/>
            <a:ext cx="1773936" cy="1700784"/>
          </a:xfrm>
          <a:prstGeom prst="rect">
            <a:avLst/>
          </a:prstGeom>
          <a:noFill/>
          <a:ln/>
        </p:spPr>
        <p:txBody>
          <a:bodyPr wrap="square" lIns="0" tIns="0" rIns="0" bIns="0" rtlCol="0" anchor="t"/>
          <a:lstStyle/>
          <a:p>
            <a:pPr indent="0" marL="0">
              <a:buNone/>
            </a:pPr>
            <a:r>
              <a:rPr lang="en-US" sz="1500" b="1" dirty="0">
                <a:solidFill>
                  <a:srgbClr val="2D5B3F"/>
                </a:solidFill>
                <a:latin typeface="Calibri" pitchFamily="34" charset="0"/>
                <a:ea typeface="Calibri" pitchFamily="34" charset="-122"/>
                <a:cs typeface="Calibri" pitchFamily="34" charset="-120"/>
              </a:rPr>
              <a:t>Gauge R&amp;R</a:t>
            </a:r>
            <a:endParaRPr lang="en-US" sz="1500" dirty="0"/>
          </a:p>
          <a:p>
            <a:pPr indent="0" marL="0">
              <a:spcBef>
                <a:spcPts val="400"/>
              </a:spcBef>
              <a:buNone/>
            </a:pPr>
            <a:r>
              <a:rPr lang="en-US" sz="1300" dirty="0">
                <a:solidFill>
                  <a:srgbClr val="253027"/>
                </a:solidFill>
                <a:latin typeface="Calibri" pitchFamily="34" charset="0"/>
                <a:ea typeface="Calibri" pitchFamily="34" charset="-122"/>
                <a:cs typeface="Calibri" pitchFamily="34" charset="-120"/>
              </a:rPr>
              <a:t>1 untouched pile, 17 photos: 2 persons, 2 phones, 2 heights</a:t>
            </a:r>
            <a:endParaRPr lang="en-US" sz="1500" dirty="0"/>
          </a:p>
        </p:txBody>
      </p:sp>
      <p:sp>
        <p:nvSpPr>
          <p:cNvPr id="17" name="Shape 15"/>
          <p:cNvSpPr/>
          <p:nvPr/>
        </p:nvSpPr>
        <p:spPr>
          <a:xfrm>
            <a:off x="7635240" y="1719072"/>
            <a:ext cx="310896" cy="310896"/>
          </a:xfrm>
          <a:prstGeom prst="ellipse">
            <a:avLst/>
          </a:prstGeom>
          <a:solidFill>
            <a:srgbClr val="2D5B3F"/>
          </a:solidFill>
          <a:ln w="19050">
            <a:solidFill>
              <a:srgbClr val="FFFFFF"/>
            </a:solidFill>
            <a:prstDash val="solid"/>
          </a:ln>
        </p:spPr>
      </p:sp>
      <p:sp>
        <p:nvSpPr>
          <p:cNvPr id="18" name="Text 16"/>
          <p:cNvSpPr txBox="1"/>
          <p:nvPr/>
        </p:nvSpPr>
        <p:spPr>
          <a:xfrm>
            <a:off x="7406640" y="1234440"/>
            <a:ext cx="2103120" cy="365760"/>
          </a:xfrm>
          <a:prstGeom prst="rect">
            <a:avLst/>
          </a:prstGeom>
          <a:noFill/>
          <a:ln/>
        </p:spPr>
        <p:txBody>
          <a:bodyPr wrap="square" lIns="0" tIns="0" rIns="0" bIns="0" rtlCol="0" anchor="ctr"/>
          <a:lstStyle/>
          <a:p>
            <a:pPr indent="0" marL="0">
              <a:buNone/>
            </a:pPr>
            <a:r>
              <a:rPr lang="en-US" sz="1400" b="1" dirty="0">
                <a:solidFill>
                  <a:srgbClr val="DC8F14"/>
                </a:solidFill>
                <a:latin typeface="Calibri" pitchFamily="34" charset="0"/>
                <a:ea typeface="Calibri" pitchFamily="34" charset="-122"/>
                <a:cs typeface="Calibri" pitchFamily="34" charset="-120"/>
              </a:rPr>
              <a:t>20 Oct</a:t>
            </a:r>
            <a:endParaRPr lang="en-US" sz="1400" dirty="0"/>
          </a:p>
        </p:txBody>
      </p:sp>
      <p:sp>
        <p:nvSpPr>
          <p:cNvPr id="19" name="Shape 17"/>
          <p:cNvSpPr/>
          <p:nvPr/>
        </p:nvSpPr>
        <p:spPr>
          <a:xfrm>
            <a:off x="7406640" y="2240280"/>
            <a:ext cx="2103120" cy="1920240"/>
          </a:xfrm>
          <a:prstGeom prst="roundRect">
            <a:avLst>
              <a:gd name="adj" fmla="val 5714"/>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20" name="Text 18"/>
          <p:cNvSpPr txBox="1"/>
          <p:nvPr/>
        </p:nvSpPr>
        <p:spPr>
          <a:xfrm>
            <a:off x="7571232" y="2350008"/>
            <a:ext cx="1773936" cy="1700784"/>
          </a:xfrm>
          <a:prstGeom prst="rect">
            <a:avLst/>
          </a:prstGeom>
          <a:noFill/>
          <a:ln/>
        </p:spPr>
        <p:txBody>
          <a:bodyPr wrap="square" lIns="0" tIns="0" rIns="0" bIns="0" rtlCol="0" anchor="t"/>
          <a:lstStyle/>
          <a:p>
            <a:pPr indent="0" marL="0">
              <a:buNone/>
            </a:pPr>
            <a:r>
              <a:rPr lang="en-US" sz="1500" b="1" dirty="0">
                <a:solidFill>
                  <a:srgbClr val="2D5B3F"/>
                </a:solidFill>
                <a:latin typeface="Calibri" pitchFamily="34" charset="0"/>
                <a:ea typeface="Calibri" pitchFamily="34" charset="-122"/>
                <a:cs typeface="Calibri" pitchFamily="34" charset="-120"/>
              </a:rPr>
              <a:t>Jia T4-01 to T4-04</a:t>
            </a:r>
            <a:endParaRPr lang="en-US" sz="1500" dirty="0"/>
          </a:p>
          <a:p>
            <a:pPr indent="0" marL="0">
              <a:spcBef>
                <a:spcPts val="400"/>
              </a:spcBef>
              <a:buNone/>
            </a:pPr>
            <a:r>
              <a:rPr lang="en-US" sz="1300" dirty="0">
                <a:solidFill>
                  <a:srgbClr val="253027"/>
                </a:solidFill>
                <a:latin typeface="Calibri" pitchFamily="34" charset="0"/>
                <a:ea typeface="Calibri" pitchFamily="34" charset="-122"/>
                <a:cs typeface="Calibri" pitchFamily="34" charset="-120"/>
              </a:rPr>
              <a:t>11 to 23 g, 8 photos (iPhone 14): repeat of the procedure</a:t>
            </a:r>
            <a:endParaRPr lang="en-US" sz="1500" dirty="0"/>
          </a:p>
        </p:txBody>
      </p:sp>
      <p:sp>
        <p:nvSpPr>
          <p:cNvPr id="21" name="Shape 19"/>
          <p:cNvSpPr/>
          <p:nvPr/>
        </p:nvSpPr>
        <p:spPr>
          <a:xfrm>
            <a:off x="9921240" y="1719072"/>
            <a:ext cx="310896" cy="310896"/>
          </a:xfrm>
          <a:prstGeom prst="ellipse">
            <a:avLst/>
          </a:prstGeom>
          <a:solidFill>
            <a:srgbClr val="2D5B3F"/>
          </a:solidFill>
          <a:ln w="19050">
            <a:solidFill>
              <a:srgbClr val="FFFFFF"/>
            </a:solidFill>
            <a:prstDash val="solid"/>
          </a:ln>
        </p:spPr>
      </p:sp>
      <p:sp>
        <p:nvSpPr>
          <p:cNvPr id="22" name="Text 20"/>
          <p:cNvSpPr txBox="1"/>
          <p:nvPr/>
        </p:nvSpPr>
        <p:spPr>
          <a:xfrm>
            <a:off x="9692640" y="1234440"/>
            <a:ext cx="2103120" cy="365760"/>
          </a:xfrm>
          <a:prstGeom prst="rect">
            <a:avLst/>
          </a:prstGeom>
          <a:noFill/>
          <a:ln/>
        </p:spPr>
        <p:txBody>
          <a:bodyPr wrap="square" lIns="0" tIns="0" rIns="0" bIns="0" rtlCol="0" anchor="ctr"/>
          <a:lstStyle/>
          <a:p>
            <a:pPr indent="0" marL="0">
              <a:buNone/>
            </a:pPr>
            <a:r>
              <a:rPr lang="en-US" sz="1400" b="1" dirty="0">
                <a:solidFill>
                  <a:srgbClr val="DC8F14"/>
                </a:solidFill>
                <a:latin typeface="Calibri" pitchFamily="34" charset="0"/>
                <a:ea typeface="Calibri" pitchFamily="34" charset="-122"/>
                <a:cs typeface="Calibri" pitchFamily="34" charset="-120"/>
              </a:rPr>
              <a:t>21 Oct</a:t>
            </a:r>
            <a:endParaRPr lang="en-US" sz="1400" dirty="0"/>
          </a:p>
        </p:txBody>
      </p:sp>
      <p:sp>
        <p:nvSpPr>
          <p:cNvPr id="23" name="Shape 21"/>
          <p:cNvSpPr/>
          <p:nvPr/>
        </p:nvSpPr>
        <p:spPr>
          <a:xfrm>
            <a:off x="9692640" y="2240280"/>
            <a:ext cx="2103120" cy="1920240"/>
          </a:xfrm>
          <a:prstGeom prst="roundRect">
            <a:avLst>
              <a:gd name="adj" fmla="val 5714"/>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24" name="Text 22"/>
          <p:cNvSpPr txBox="1"/>
          <p:nvPr/>
        </p:nvSpPr>
        <p:spPr>
          <a:xfrm>
            <a:off x="9857232" y="2350008"/>
            <a:ext cx="1773936" cy="1700784"/>
          </a:xfrm>
          <a:prstGeom prst="rect">
            <a:avLst/>
          </a:prstGeom>
          <a:noFill/>
          <a:ln/>
        </p:spPr>
        <p:txBody>
          <a:bodyPr wrap="square" lIns="0" tIns="0" rIns="0" bIns="0" rtlCol="0" anchor="t"/>
          <a:lstStyle/>
          <a:p>
            <a:pPr indent="0" marL="0">
              <a:buNone/>
            </a:pPr>
            <a:r>
              <a:rPr lang="en-US" sz="1500" b="1" dirty="0">
                <a:solidFill>
                  <a:srgbClr val="2D5B3F"/>
                </a:solidFill>
                <a:latin typeface="Calibri" pitchFamily="34" charset="0"/>
                <a:ea typeface="Calibri" pitchFamily="34" charset="-122"/>
                <a:cs typeface="Calibri" pitchFamily="34" charset="-120"/>
              </a:rPr>
              <a:t>Jia P09 to P13</a:t>
            </a:r>
            <a:endParaRPr lang="en-US" sz="1500" dirty="0"/>
          </a:p>
          <a:p>
            <a:pPr indent="0" marL="0">
              <a:spcBef>
                <a:spcPts val="400"/>
              </a:spcBef>
              <a:buNone/>
            </a:pPr>
            <a:r>
              <a:rPr lang="en-US" sz="1300" dirty="0">
                <a:solidFill>
                  <a:srgbClr val="253027"/>
                </a:solidFill>
                <a:latin typeface="Calibri" pitchFamily="34" charset="0"/>
                <a:ea typeface="Calibri" pitchFamily="34" charset="-122"/>
                <a:cs typeface="Calibri" pitchFamily="34" charset="-120"/>
              </a:rPr>
              <a:t>27 to 34 g, 10 photos: bigger piles</a:t>
            </a:r>
            <a:endParaRPr lang="en-US" sz="1500" dirty="0"/>
          </a:p>
        </p:txBody>
      </p:sp>
      <p:sp>
        <p:nvSpPr>
          <p:cNvPr id="25" name="Text 23"/>
          <p:cNvSpPr txBox="1"/>
          <p:nvPr/>
        </p:nvSpPr>
        <p:spPr>
          <a:xfrm>
            <a:off x="548640" y="4526280"/>
            <a:ext cx="2743200" cy="1280160"/>
          </a:xfrm>
          <a:prstGeom prst="rect">
            <a:avLst/>
          </a:prstGeom>
          <a:noFill/>
          <a:ln/>
        </p:spPr>
        <p:txBody>
          <a:bodyPr wrap="square" lIns="0" tIns="0" rIns="0" bIns="0" rtlCol="0" anchor="t"/>
          <a:lstStyle/>
          <a:p>
            <a:pPr indent="0" marL="0">
              <a:buNone/>
            </a:pPr>
            <a:r>
              <a:rPr lang="en-US" sz="4000" b="1" dirty="0">
                <a:solidFill>
                  <a:srgbClr val="2D5B3F"/>
                </a:solidFill>
                <a:latin typeface="Calibri" pitchFamily="34" charset="0"/>
                <a:ea typeface="Calibri" pitchFamily="34" charset="-122"/>
                <a:cs typeface="Calibri" pitchFamily="34" charset="-120"/>
              </a:rPr>
              <a:t>17 piles</a:t>
            </a:r>
            <a:endParaRPr lang="en-US" sz="4000" dirty="0"/>
          </a:p>
          <a:p>
            <a:pPr indent="0" marL="0">
              <a:buNone/>
            </a:pPr>
            <a:r>
              <a:rPr lang="en-US" sz="1300" dirty="0">
                <a:solidFill>
                  <a:srgbClr val="687063"/>
                </a:solidFill>
                <a:latin typeface="Calibri" pitchFamily="34" charset="0"/>
                <a:ea typeface="Calibri" pitchFamily="34" charset="-122"/>
                <a:cs typeface="Calibri" pitchFamily="34" charset="-120"/>
              </a:rPr>
              <a:t>10 to 34 g, all weighed</a:t>
            </a:r>
            <a:endParaRPr lang="en-US" sz="4000" dirty="0"/>
          </a:p>
        </p:txBody>
      </p:sp>
      <p:sp>
        <p:nvSpPr>
          <p:cNvPr id="26" name="Text 24"/>
          <p:cNvSpPr txBox="1"/>
          <p:nvPr/>
        </p:nvSpPr>
        <p:spPr>
          <a:xfrm>
            <a:off x="3383280" y="4526280"/>
            <a:ext cx="2743200" cy="1280160"/>
          </a:xfrm>
          <a:prstGeom prst="rect">
            <a:avLst/>
          </a:prstGeom>
          <a:noFill/>
          <a:ln/>
        </p:spPr>
        <p:txBody>
          <a:bodyPr wrap="square" lIns="0" tIns="0" rIns="0" bIns="0" rtlCol="0" anchor="t"/>
          <a:lstStyle/>
          <a:p>
            <a:pPr indent="0" marL="0">
              <a:buNone/>
            </a:pPr>
            <a:r>
              <a:rPr lang="en-US" sz="4000" b="1" dirty="0">
                <a:solidFill>
                  <a:srgbClr val="2D5B3F"/>
                </a:solidFill>
                <a:latin typeface="Calibri" pitchFamily="34" charset="0"/>
                <a:ea typeface="Calibri" pitchFamily="34" charset="-122"/>
                <a:cs typeface="Calibri" pitchFamily="34" charset="-120"/>
              </a:rPr>
              <a:t>59 photos</a:t>
            </a:r>
            <a:endParaRPr lang="en-US" sz="4000" dirty="0"/>
          </a:p>
          <a:p>
            <a:pPr indent="0" marL="0">
              <a:buNone/>
            </a:pPr>
            <a:r>
              <a:rPr lang="en-US" sz="1300" dirty="0">
                <a:solidFill>
                  <a:srgbClr val="687063"/>
                </a:solidFill>
                <a:latin typeface="Calibri" pitchFamily="34" charset="0"/>
                <a:ea typeface="Calibri" pitchFamily="34" charset="-122"/>
                <a:cs typeface="Calibri" pitchFamily="34" charset="-120"/>
              </a:rPr>
              <a:t>counted by the detector</a:t>
            </a:r>
            <a:endParaRPr lang="en-US" sz="4000" dirty="0"/>
          </a:p>
        </p:txBody>
      </p:sp>
      <p:sp>
        <p:nvSpPr>
          <p:cNvPr id="27" name="Text 25"/>
          <p:cNvSpPr txBox="1"/>
          <p:nvPr/>
        </p:nvSpPr>
        <p:spPr>
          <a:xfrm>
            <a:off x="6217920" y="4526280"/>
            <a:ext cx="2743200" cy="1280160"/>
          </a:xfrm>
          <a:prstGeom prst="rect">
            <a:avLst/>
          </a:prstGeom>
          <a:noFill/>
          <a:ln/>
        </p:spPr>
        <p:txBody>
          <a:bodyPr wrap="square" lIns="0" tIns="0" rIns="0" bIns="0" rtlCol="0" anchor="t"/>
          <a:lstStyle/>
          <a:p>
            <a:pPr indent="0" marL="0">
              <a:buNone/>
            </a:pPr>
            <a:r>
              <a:rPr lang="en-US" sz="4000" b="1" dirty="0">
                <a:solidFill>
                  <a:srgbClr val="2D5B3F"/>
                </a:solidFill>
                <a:latin typeface="Calibri" pitchFamily="34" charset="0"/>
                <a:ea typeface="Calibri" pitchFamily="34" charset="-122"/>
                <a:cs typeface="Calibri" pitchFamily="34" charset="-120"/>
              </a:rPr>
              <a:t>4.3 hours</a:t>
            </a:r>
            <a:endParaRPr lang="en-US" sz="4000" dirty="0"/>
          </a:p>
          <a:p>
            <a:pPr indent="0" marL="0">
              <a:buNone/>
            </a:pPr>
            <a:r>
              <a:rPr lang="en-US" sz="1300" dirty="0">
                <a:solidFill>
                  <a:srgbClr val="687063"/>
                </a:solidFill>
                <a:latin typeface="Calibri" pitchFamily="34" charset="0"/>
                <a:ea typeface="Calibri" pitchFamily="34" charset="-122"/>
                <a:cs typeface="Calibri" pitchFamily="34" charset="-120"/>
              </a:rPr>
              <a:t>of photo time in all sessions</a:t>
            </a:r>
            <a:endParaRPr lang="en-US" sz="4000" dirty="0"/>
          </a:p>
        </p:txBody>
      </p:sp>
      <p:sp>
        <p:nvSpPr>
          <p:cNvPr id="28" name="Shape 26"/>
          <p:cNvSpPr/>
          <p:nvPr/>
        </p:nvSpPr>
        <p:spPr>
          <a:xfrm>
            <a:off x="9052560" y="4526280"/>
            <a:ext cx="2606040" cy="1645920"/>
          </a:xfrm>
          <a:prstGeom prst="roundRect">
            <a:avLst>
              <a:gd name="adj" fmla="val 6667"/>
            </a:avLst>
          </a:prstGeom>
          <a:solidFill>
            <a:srgbClr val="FBE3D6"/>
          </a:solidFill>
          <a:ln w="9525">
            <a:solidFill>
              <a:srgbClr val="FBE3D6"/>
            </a:solidFill>
            <a:prstDash val="solid"/>
          </a:ln>
          <a:effectLst>
            <a:outerShdw sx="100000" sy="100000" kx="0" ky="0" algn="bl" rotWithShape="0" blurRad="50800" dist="19050" dir="5400000">
              <a:srgbClr val="000000">
                <a:alpha val="8000"/>
              </a:srgbClr>
            </a:outerShdw>
          </a:effectLst>
        </p:spPr>
      </p:sp>
      <p:sp>
        <p:nvSpPr>
          <p:cNvPr id="29" name="Text 27"/>
          <p:cNvSpPr txBox="1"/>
          <p:nvPr/>
        </p:nvSpPr>
        <p:spPr>
          <a:xfrm>
            <a:off x="9217152" y="4636008"/>
            <a:ext cx="2276856" cy="1426464"/>
          </a:xfrm>
          <a:prstGeom prst="rect">
            <a:avLst/>
          </a:prstGeom>
          <a:noFill/>
          <a:ln/>
        </p:spPr>
        <p:txBody>
          <a:bodyPr wrap="square" lIns="0" tIns="0" rIns="0" bIns="0" rtlCol="0" anchor="t"/>
          <a:lstStyle/>
          <a:p>
            <a:pPr indent="0" marL="0">
              <a:buNone/>
            </a:pPr>
            <a:r>
              <a:rPr lang="en-US" sz="1400" b="1" dirty="0">
                <a:solidFill>
                  <a:srgbClr val="2D5B3F"/>
                </a:solidFill>
                <a:latin typeface="Calibri" pitchFamily="34" charset="0"/>
                <a:ea typeface="Calibri" pitchFamily="34" charset="-122"/>
                <a:cs typeface="Calibri" pitchFamily="34" charset="-120"/>
              </a:rPr>
              <a:t>P14 and P15 dropped</a:t>
            </a:r>
            <a:endParaRPr lang="en-US" sz="1400" dirty="0"/>
          </a:p>
          <a:p>
            <a:pPr indent="0" marL="0">
              <a:spcBef>
                <a:spcPts val="400"/>
              </a:spcBef>
              <a:buNone/>
            </a:pPr>
            <a:r>
              <a:rPr lang="en-US" sz="1200" dirty="0">
                <a:solidFill>
                  <a:srgbClr val="253027"/>
                </a:solidFill>
                <a:latin typeface="Calibri" pitchFamily="34" charset="0"/>
                <a:ea typeface="Calibri" pitchFamily="34" charset="-122"/>
                <a:cs typeface="Calibri" pitchFamily="34" charset="-120"/>
              </a:rPr>
              <a:t>A bigger sample is split into two photos; after 17 piles one more pile adds almost nothing.</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What can make the weight wrong, and our fix</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VARIABLES</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109960" cy="914400"/>
        </p:xfrm>
        <a:graphic>
          <a:graphicData uri="http://schemas.openxmlformats.org/drawingml/2006/table">
            <a:tbl>
              <a:tblPr/>
              <a:tblGrid>
                <a:gridCol w="2377440"/>
                <a:gridCol w="4846320"/>
                <a:gridCol w="3886200"/>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Variable</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Effect we measured</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we handle it</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r>
              <a:tr h="438912">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Camera height</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Same pile: 112 to 292 seeds without fixed scale, 283 to 298 with it</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Fixed scale from the markers (before counting)</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Phone resolution</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12 MP: -18 %, 8 MP: -43 % without fixed scale; about 2 % with it</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Fixed scale (before counting)</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Person, phone model</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Same pile: 0.0 % and +0.3 %</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Written procedure; nothing else needed</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Seeds touching</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16 to 19 % fewer seeds</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Procedure; orange light (after counting)</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Phone tilted</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Markers 9.5 % different in size: count only -2.2 %</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Orange light above 5 % (after counting)</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Marker cut off</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-12.6 % without a scale</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Seeds used as the ruler: +1.5 % (orange light)</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Other objects (ruler, notes)</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+5 to +28.5 % when all boxes are counted</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Count sunflower boxes only</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Shadows</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-2.3 to +2.0 %: no effect shown</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Procedure: do not block the light</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Kitchen scale, 1 g steps</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1.7 % (2.9 % at 10 g)</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300" dirty="0">
                          <a:solidFill>
                            <a:srgbClr val="253027"/>
                          </a:solidFill>
                          <a:latin typeface="Calibri" pitchFamily="34" charset="0"/>
                          <a:ea typeface="Calibri" pitchFamily="34" charset="-122"/>
                          <a:cs typeface="Calibri" pitchFamily="34" charset="-120"/>
                        </a:rPr>
                        <a:t>Piles of 10 g or more; TARE</a:t>
                      </a:r>
                      <a:endParaRPr lang="en-US" sz="1300" dirty="0">
                        <a:latin typeface="Calibri" charset="0"/>
                        <a:ea typeface="Calibri" charset="0"/>
                        <a:cs typeface="Calibri" charset="0"/>
                      </a:endParaRPr>
                    </a:p>
                  </a:txBody>
                  <a:tcPr marL="91440" marR="91440" marT="45720" marB="45720" anchor="ctr">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97880"/>
            <a:ext cx="10972800" cy="320040"/>
          </a:xfrm>
          <a:prstGeom prst="rect">
            <a:avLst/>
          </a:prstGeom>
          <a:noFill/>
          <a:ln/>
        </p:spPr>
        <p:txBody>
          <a:bodyPr wrap="square" lIns="0" tIns="0" rIns="0" bIns="0" rtlCol="0" anchor="ctr"/>
          <a:lstStyle/>
          <a:p>
            <a:pPr indent="0" marL="0">
              <a:buNone/>
            </a:pPr>
            <a:r>
              <a:rPr lang="en-US" sz="1200" i="1" dirty="0">
                <a:solidFill>
                  <a:srgbClr val="687063"/>
                </a:solidFill>
                <a:latin typeface="Calibri" pitchFamily="34" charset="0"/>
                <a:ea typeface="Calibri" pitchFamily="34" charset="-122"/>
                <a:cs typeface="Calibri" pitchFamily="34" charset="-120"/>
              </a:rPr>
              <a:t>All 32 variables, how each was measured and what the user sees: docs/group/VARIABLES.md</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The biggest step: one fixed scale for every photo</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CALIBRATION</a:t>
            </a:r>
            <a:endParaRPr lang="en-US" sz="1100" dirty="0"/>
          </a:p>
        </p:txBody>
      </p:sp>
      <p:graphicFrame>
        <p:nvGraphicFramePr>
          <p:cNvPr id="4" name="Chart 0" descr=""/>
          <p:cNvGraphicFramePr/>
          <p:nvPr/>
        </p:nvGraphicFramePr>
        <p:xfrm>
          <a:off x="548640" y="123444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234440"/>
            <a:ext cx="3886200" cy="2148840"/>
          </a:xfrm>
          <a:prstGeom prst="roundRect">
            <a:avLst>
              <a:gd name="adj" fmla="val 5106"/>
            </a:avLst>
          </a:prstGeom>
          <a:solidFill>
            <a:srgbClr val="FBE3D6"/>
          </a:solidFill>
          <a:ln w="9525">
            <a:solidFill>
              <a:srgbClr val="FBE3D6"/>
            </a:solidFill>
            <a:prstDash val="solid"/>
          </a:ln>
          <a:effectLst>
            <a:outerShdw sx="100000" sy="100000" kx="0" ky="0" algn="bl" rotWithShape="0" blurRad="50800" dist="19050" dir="5400000">
              <a:srgbClr val="000000">
                <a:alpha val="8000"/>
              </a:srgbClr>
            </a:outerShdw>
          </a:effectLst>
        </p:spPr>
      </p:sp>
      <p:sp>
        <p:nvSpPr>
          <p:cNvPr id="6" name="Text 3"/>
          <p:cNvSpPr txBox="1"/>
          <p:nvPr/>
        </p:nvSpPr>
        <p:spPr>
          <a:xfrm>
            <a:off x="7936992" y="1344168"/>
            <a:ext cx="3557016" cy="19293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Without the fixed scale</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112 to 292 seeds on the same pile (spread 18.6 %). A higher photo or a phone with fewer pixels makes seeds smaller, and the detector misses them.</a:t>
            </a:r>
            <a:endParaRPr lang="en-US" sz="1600" dirty="0"/>
          </a:p>
        </p:txBody>
      </p:sp>
      <p:sp>
        <p:nvSpPr>
          <p:cNvPr id="7" name="Shape 4"/>
          <p:cNvSpPr/>
          <p:nvPr/>
        </p:nvSpPr>
        <p:spPr>
          <a:xfrm>
            <a:off x="7772400" y="3566160"/>
            <a:ext cx="3886200" cy="2606040"/>
          </a:xfrm>
          <a:prstGeom prst="roundRect">
            <a:avLst>
              <a:gd name="adj" fmla="val 4211"/>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8" name="Text 5"/>
          <p:cNvSpPr txBox="1"/>
          <p:nvPr/>
        </p:nvSpPr>
        <p:spPr>
          <a:xfrm>
            <a:off x="7936992" y="3675888"/>
            <a:ext cx="3557016" cy="23865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With the fixed scale</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283 to 298 seeds (spread 1.2 %). The two 50 mm markers give mm per pixel; every photo is resized to 0.110 mm per pixel before counting. Built into the app.</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Gauge R&amp;R: the photo is not the problem</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REPEATABILITY</a:t>
            </a:r>
            <a:endParaRPr lang="en-US" sz="1100" dirty="0"/>
          </a:p>
        </p:txBody>
      </p:sp>
      <p:sp>
        <p:nvSpPr>
          <p:cNvPr id="4" name="Text 2"/>
          <p:cNvSpPr txBox="1"/>
          <p:nvPr/>
        </p:nvSpPr>
        <p:spPr>
          <a:xfrm>
            <a:off x="548640" y="1143000"/>
            <a:ext cx="10972800" cy="365760"/>
          </a:xfrm>
          <a:prstGeom prst="rect">
            <a:avLst/>
          </a:prstGeom>
          <a:noFill/>
          <a:ln/>
        </p:spPr>
        <p:txBody>
          <a:bodyPr wrap="square" lIns="0" tIns="0" rIns="0" bIns="0" rtlCol="0" anchor="ctr"/>
          <a:lstStyle/>
          <a:p>
            <a:pPr indent="0" marL="0">
              <a:buNone/>
            </a:pPr>
            <a:r>
              <a:rPr lang="en-US" sz="1500" dirty="0">
                <a:solidFill>
                  <a:srgbClr val="253027"/>
                </a:solidFill>
                <a:latin typeface="Calibri" pitchFamily="34" charset="0"/>
                <a:ea typeface="Calibri" pitchFamily="34" charset="-122"/>
                <a:cs typeface="Calibri" pitchFamily="34" charset="-120"/>
              </a:rPr>
              <a:t>One untouched pile, 2 persons x 2 phones x 2 heights, 17 photos (16 with the markers found)</a:t>
            </a:r>
            <a:endParaRPr lang="en-US" sz="1500" dirty="0"/>
          </a:p>
        </p:txBody>
      </p:sp>
      <p:sp>
        <p:nvSpPr>
          <p:cNvPr id="5" name="Shape 3"/>
          <p:cNvSpPr/>
          <p:nvPr/>
        </p:nvSpPr>
        <p:spPr>
          <a:xfrm>
            <a:off x="548640" y="1737360"/>
            <a:ext cx="2651760" cy="2377440"/>
          </a:xfrm>
          <a:prstGeom prst="roundRect">
            <a:avLst>
              <a:gd name="adj" fmla="val 4615"/>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6" name="Text 4"/>
          <p:cNvSpPr txBox="1"/>
          <p:nvPr/>
        </p:nvSpPr>
        <p:spPr>
          <a:xfrm>
            <a:off x="713232" y="1847088"/>
            <a:ext cx="2322576" cy="21579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Person</a:t>
            </a:r>
            <a:endParaRPr lang="en-US" sz="1600" dirty="0"/>
          </a:p>
        </p:txBody>
      </p:sp>
      <p:sp>
        <p:nvSpPr>
          <p:cNvPr id="7" name="Text 5"/>
          <p:cNvSpPr txBox="1"/>
          <p:nvPr/>
        </p:nvSpPr>
        <p:spPr>
          <a:xfrm>
            <a:off x="713232" y="2286000"/>
            <a:ext cx="2377440" cy="822960"/>
          </a:xfrm>
          <a:prstGeom prst="rect">
            <a:avLst/>
          </a:prstGeom>
          <a:noFill/>
          <a:ln/>
        </p:spPr>
        <p:txBody>
          <a:bodyPr wrap="square" lIns="0" tIns="0" rIns="0" bIns="0" rtlCol="0" anchor="ctr"/>
          <a:lstStyle/>
          <a:p>
            <a:pPr indent="0" marL="0">
              <a:buNone/>
            </a:pPr>
            <a:r>
              <a:rPr lang="en-US" sz="3600" b="1" dirty="0">
                <a:solidFill>
                  <a:srgbClr val="2D5B3F"/>
                </a:solidFill>
                <a:latin typeface="Calibri" pitchFamily="34" charset="0"/>
                <a:ea typeface="Calibri" pitchFamily="34" charset="-122"/>
                <a:cs typeface="Calibri" pitchFamily="34" charset="-120"/>
              </a:rPr>
              <a:t>0.0 %</a:t>
            </a:r>
            <a:endParaRPr lang="en-US" sz="3600" dirty="0"/>
          </a:p>
        </p:txBody>
      </p:sp>
      <p:sp>
        <p:nvSpPr>
          <p:cNvPr id="8" name="Text 6"/>
          <p:cNvSpPr txBox="1"/>
          <p:nvPr/>
        </p:nvSpPr>
        <p:spPr>
          <a:xfrm>
            <a:off x="713232" y="3108960"/>
            <a:ext cx="2377440" cy="914400"/>
          </a:xfrm>
          <a:prstGeom prst="rect">
            <a:avLst/>
          </a:prstGeom>
          <a:noFill/>
          <a:ln/>
        </p:spPr>
        <p:txBody>
          <a:bodyPr wrap="square" lIns="0" tIns="0" rIns="0" bIns="0" rtlCol="0" anchor="t"/>
          <a:lstStyle/>
          <a:p>
            <a:pPr indent="0" marL="0">
              <a:buNone/>
            </a:pPr>
            <a:r>
              <a:rPr lang="en-US" sz="1300" dirty="0">
                <a:solidFill>
                  <a:srgbClr val="253027"/>
                </a:solidFill>
                <a:latin typeface="Calibri" pitchFamily="34" charset="0"/>
                <a:ea typeface="Calibri" pitchFamily="34" charset="-122"/>
                <a:cs typeface="Calibri" pitchFamily="34" charset="-120"/>
              </a:rPr>
              <a:t>Jia minus Hadi; 95 % CI -1.4 to +1.5 %</a:t>
            </a:r>
            <a:endParaRPr lang="en-US" sz="1300" dirty="0"/>
          </a:p>
        </p:txBody>
      </p:sp>
      <p:sp>
        <p:nvSpPr>
          <p:cNvPr id="9" name="Shape 7"/>
          <p:cNvSpPr/>
          <p:nvPr/>
        </p:nvSpPr>
        <p:spPr>
          <a:xfrm>
            <a:off x="3364992" y="1737360"/>
            <a:ext cx="2651760" cy="2377440"/>
          </a:xfrm>
          <a:prstGeom prst="roundRect">
            <a:avLst>
              <a:gd name="adj" fmla="val 4615"/>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10" name="Text 8"/>
          <p:cNvSpPr txBox="1"/>
          <p:nvPr/>
        </p:nvSpPr>
        <p:spPr>
          <a:xfrm>
            <a:off x="3529584" y="1847088"/>
            <a:ext cx="2322576" cy="21579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Phone</a:t>
            </a:r>
            <a:endParaRPr lang="en-US" sz="1600" dirty="0"/>
          </a:p>
        </p:txBody>
      </p:sp>
      <p:sp>
        <p:nvSpPr>
          <p:cNvPr id="11" name="Text 9"/>
          <p:cNvSpPr txBox="1"/>
          <p:nvPr/>
        </p:nvSpPr>
        <p:spPr>
          <a:xfrm>
            <a:off x="3529584" y="2286000"/>
            <a:ext cx="2377440" cy="822960"/>
          </a:xfrm>
          <a:prstGeom prst="rect">
            <a:avLst/>
          </a:prstGeom>
          <a:noFill/>
          <a:ln/>
        </p:spPr>
        <p:txBody>
          <a:bodyPr wrap="square" lIns="0" tIns="0" rIns="0" bIns="0" rtlCol="0" anchor="ctr"/>
          <a:lstStyle/>
          <a:p>
            <a:pPr indent="0" marL="0">
              <a:buNone/>
            </a:pPr>
            <a:r>
              <a:rPr lang="en-US" sz="3600" b="1" dirty="0">
                <a:solidFill>
                  <a:srgbClr val="2D5B3F"/>
                </a:solidFill>
                <a:latin typeface="Calibri" pitchFamily="34" charset="0"/>
                <a:ea typeface="Calibri" pitchFamily="34" charset="-122"/>
                <a:cs typeface="Calibri" pitchFamily="34" charset="-120"/>
              </a:rPr>
              <a:t>+0.3 %</a:t>
            </a:r>
            <a:endParaRPr lang="en-US" sz="3600" dirty="0"/>
          </a:p>
        </p:txBody>
      </p:sp>
      <p:sp>
        <p:nvSpPr>
          <p:cNvPr id="12" name="Text 10"/>
          <p:cNvSpPr txBox="1"/>
          <p:nvPr/>
        </p:nvSpPr>
        <p:spPr>
          <a:xfrm>
            <a:off x="3529584" y="3108960"/>
            <a:ext cx="2377440" cy="914400"/>
          </a:xfrm>
          <a:prstGeom prst="rect">
            <a:avLst/>
          </a:prstGeom>
          <a:noFill/>
          <a:ln/>
        </p:spPr>
        <p:txBody>
          <a:bodyPr wrap="square" lIns="0" tIns="0" rIns="0" bIns="0" rtlCol="0" anchor="t"/>
          <a:lstStyle/>
          <a:p>
            <a:pPr indent="0" marL="0">
              <a:buNone/>
            </a:pPr>
            <a:r>
              <a:rPr lang="en-US" sz="1300" dirty="0">
                <a:solidFill>
                  <a:srgbClr val="253027"/>
                </a:solidFill>
                <a:latin typeface="Calibri" pitchFamily="34" charset="0"/>
                <a:ea typeface="Calibri" pitchFamily="34" charset="-122"/>
                <a:cs typeface="Calibri" pitchFamily="34" charset="-120"/>
              </a:rPr>
              <a:t>iPhone 14 minus iPhone 15 Pro; CI -1.1 to +1.7 %</a:t>
            </a:r>
            <a:endParaRPr lang="en-US" sz="1300" dirty="0"/>
          </a:p>
        </p:txBody>
      </p:sp>
      <p:sp>
        <p:nvSpPr>
          <p:cNvPr id="13" name="Shape 11"/>
          <p:cNvSpPr/>
          <p:nvPr/>
        </p:nvSpPr>
        <p:spPr>
          <a:xfrm>
            <a:off x="6181344" y="1737360"/>
            <a:ext cx="2651760" cy="2377440"/>
          </a:xfrm>
          <a:prstGeom prst="roundRect">
            <a:avLst>
              <a:gd name="adj" fmla="val 4615"/>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14" name="Text 12"/>
          <p:cNvSpPr txBox="1"/>
          <p:nvPr/>
        </p:nvSpPr>
        <p:spPr>
          <a:xfrm>
            <a:off x="6345936" y="1847088"/>
            <a:ext cx="2322576" cy="21579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Height</a:t>
            </a:r>
            <a:endParaRPr lang="en-US" sz="1600" dirty="0"/>
          </a:p>
        </p:txBody>
      </p:sp>
      <p:sp>
        <p:nvSpPr>
          <p:cNvPr id="15" name="Text 13"/>
          <p:cNvSpPr txBox="1"/>
          <p:nvPr/>
        </p:nvSpPr>
        <p:spPr>
          <a:xfrm>
            <a:off x="6345936" y="2286000"/>
            <a:ext cx="2377440" cy="822960"/>
          </a:xfrm>
          <a:prstGeom prst="rect">
            <a:avLst/>
          </a:prstGeom>
          <a:noFill/>
          <a:ln/>
        </p:spPr>
        <p:txBody>
          <a:bodyPr wrap="square" lIns="0" tIns="0" rIns="0" bIns="0" rtlCol="0" anchor="ctr"/>
          <a:lstStyle/>
          <a:p>
            <a:pPr indent="0" marL="0">
              <a:buNone/>
            </a:pPr>
            <a:r>
              <a:rPr lang="en-US" sz="3600" b="1" dirty="0">
                <a:solidFill>
                  <a:srgbClr val="2D5B3F"/>
                </a:solidFill>
                <a:latin typeface="Calibri" pitchFamily="34" charset="0"/>
                <a:ea typeface="Calibri" pitchFamily="34" charset="-122"/>
                <a:cs typeface="Calibri" pitchFamily="34" charset="-120"/>
              </a:rPr>
              <a:t>0.0 %</a:t>
            </a:r>
            <a:endParaRPr lang="en-US" sz="3600" dirty="0"/>
          </a:p>
        </p:txBody>
      </p:sp>
      <p:sp>
        <p:nvSpPr>
          <p:cNvPr id="16" name="Text 14"/>
          <p:cNvSpPr txBox="1"/>
          <p:nvPr/>
        </p:nvSpPr>
        <p:spPr>
          <a:xfrm>
            <a:off x="6345936" y="3108960"/>
            <a:ext cx="2377440" cy="914400"/>
          </a:xfrm>
          <a:prstGeom prst="rect">
            <a:avLst/>
          </a:prstGeom>
          <a:noFill/>
          <a:ln/>
        </p:spPr>
        <p:txBody>
          <a:bodyPr wrap="square" lIns="0" tIns="0" rIns="0" bIns="0" rtlCol="0" anchor="t"/>
          <a:lstStyle/>
          <a:p>
            <a:pPr indent="0" marL="0">
              <a:buNone/>
            </a:pPr>
            <a:r>
              <a:rPr lang="en-US" sz="1300" dirty="0">
                <a:solidFill>
                  <a:srgbClr val="253027"/>
                </a:solidFill>
                <a:latin typeface="Calibri" pitchFamily="34" charset="0"/>
                <a:ea typeface="Calibri" pitchFamily="34" charset="-122"/>
                <a:cs typeface="Calibri" pitchFamily="34" charset="-120"/>
              </a:rPr>
              <a:t>high minus normal; CI -1.3 to +1.3 %</a:t>
            </a:r>
            <a:endParaRPr lang="en-US" sz="1300" dirty="0"/>
          </a:p>
        </p:txBody>
      </p:sp>
      <p:sp>
        <p:nvSpPr>
          <p:cNvPr id="17" name="Shape 15"/>
          <p:cNvSpPr/>
          <p:nvPr/>
        </p:nvSpPr>
        <p:spPr>
          <a:xfrm>
            <a:off x="8997696" y="1737360"/>
            <a:ext cx="2651760" cy="2377440"/>
          </a:xfrm>
          <a:prstGeom prst="roundRect">
            <a:avLst>
              <a:gd name="adj" fmla="val 4615"/>
            </a:avLst>
          </a:prstGeom>
          <a:solidFill>
            <a:srgbClr val="FBE3D6"/>
          </a:solidFill>
          <a:ln w="9525">
            <a:solidFill>
              <a:srgbClr val="FBE3D6"/>
            </a:solidFill>
            <a:prstDash val="solid"/>
          </a:ln>
          <a:effectLst>
            <a:outerShdw sx="100000" sy="100000" kx="0" ky="0" algn="bl" rotWithShape="0" blurRad="50800" dist="19050" dir="5400000">
              <a:srgbClr val="000000">
                <a:alpha val="8000"/>
              </a:srgbClr>
            </a:outerShdw>
          </a:effectLst>
        </p:spPr>
      </p:sp>
      <p:sp>
        <p:nvSpPr>
          <p:cNvPr id="18" name="Text 16"/>
          <p:cNvSpPr txBox="1"/>
          <p:nvPr/>
        </p:nvSpPr>
        <p:spPr>
          <a:xfrm>
            <a:off x="9162288" y="1847088"/>
            <a:ext cx="2322576" cy="21579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Same photo again</a:t>
            </a:r>
            <a:endParaRPr lang="en-US" sz="1600" dirty="0"/>
          </a:p>
        </p:txBody>
      </p:sp>
      <p:sp>
        <p:nvSpPr>
          <p:cNvPr id="19" name="Text 17"/>
          <p:cNvSpPr txBox="1"/>
          <p:nvPr/>
        </p:nvSpPr>
        <p:spPr>
          <a:xfrm>
            <a:off x="9162288" y="2286000"/>
            <a:ext cx="2377440" cy="822960"/>
          </a:xfrm>
          <a:prstGeom prst="rect">
            <a:avLst/>
          </a:prstGeom>
          <a:noFill/>
          <a:ln/>
        </p:spPr>
        <p:txBody>
          <a:bodyPr wrap="square" lIns="0" tIns="0" rIns="0" bIns="0" rtlCol="0" anchor="ctr"/>
          <a:lstStyle/>
          <a:p>
            <a:pPr indent="0" marL="0">
              <a:buNone/>
            </a:pPr>
            <a:r>
              <a:rPr lang="en-US" sz="3600" b="1" dirty="0">
                <a:solidFill>
                  <a:srgbClr val="2D5B3F"/>
                </a:solidFill>
                <a:latin typeface="Calibri" pitchFamily="34" charset="0"/>
                <a:ea typeface="Calibri" pitchFamily="34" charset="-122"/>
                <a:cs typeface="Calibri" pitchFamily="34" charset="-120"/>
              </a:rPr>
              <a:t>1.3 %</a:t>
            </a:r>
            <a:endParaRPr lang="en-US" sz="3600" dirty="0"/>
          </a:p>
        </p:txBody>
      </p:sp>
      <p:sp>
        <p:nvSpPr>
          <p:cNvPr id="20" name="Text 18"/>
          <p:cNvSpPr txBox="1"/>
          <p:nvPr/>
        </p:nvSpPr>
        <p:spPr>
          <a:xfrm>
            <a:off x="9162288" y="3108960"/>
            <a:ext cx="2377440" cy="914400"/>
          </a:xfrm>
          <a:prstGeom prst="rect">
            <a:avLst/>
          </a:prstGeom>
          <a:noFill/>
          <a:ln/>
        </p:spPr>
        <p:txBody>
          <a:bodyPr wrap="square" lIns="0" tIns="0" rIns="0" bIns="0" rtlCol="0" anchor="t"/>
          <a:lstStyle/>
          <a:p>
            <a:pPr indent="0" marL="0">
              <a:buNone/>
            </a:pPr>
            <a:r>
              <a:rPr lang="en-US" sz="1300" dirty="0">
                <a:solidFill>
                  <a:srgbClr val="253027"/>
                </a:solidFill>
                <a:latin typeface="Calibri" pitchFamily="34" charset="0"/>
                <a:ea typeface="Calibri" pitchFamily="34" charset="-122"/>
                <a:cs typeface="Calibri" pitchFamily="34" charset="-120"/>
              </a:rPr>
              <a:t>typical change when the same person takes the photo again</a:t>
            </a:r>
            <a:endParaRPr lang="en-US" sz="1300" dirty="0"/>
          </a:p>
        </p:txBody>
      </p:sp>
      <p:sp>
        <p:nvSpPr>
          <p:cNvPr id="21" name="Shape 19"/>
          <p:cNvSpPr/>
          <p:nvPr/>
        </p:nvSpPr>
        <p:spPr>
          <a:xfrm>
            <a:off x="548640" y="4389120"/>
            <a:ext cx="5486400" cy="1783080"/>
          </a:xfrm>
          <a:prstGeom prst="roundRect">
            <a:avLst>
              <a:gd name="adj" fmla="val 6154"/>
            </a:avLst>
          </a:prstGeom>
          <a:solidFill>
            <a:srgbClr val="FFFFFF"/>
          </a:solidFill>
          <a:ln w="9525">
            <a:solidFill>
              <a:srgbClr val="E6E1D3"/>
            </a:solidFill>
            <a:prstDash val="solid"/>
          </a:ln>
          <a:effectLst>
            <a:outerShdw sx="100000" sy="100000" kx="0" ky="0" algn="bl" rotWithShape="0" blurRad="50800" dist="19050" dir="5400000">
              <a:srgbClr val="000000">
                <a:alpha val="8000"/>
              </a:srgbClr>
            </a:outerShdw>
          </a:effectLst>
        </p:spPr>
      </p:sp>
      <p:sp>
        <p:nvSpPr>
          <p:cNvPr id="22" name="Text 20"/>
          <p:cNvSpPr txBox="1"/>
          <p:nvPr/>
        </p:nvSpPr>
        <p:spPr>
          <a:xfrm>
            <a:off x="713232" y="4498848"/>
            <a:ext cx="5157216" cy="156362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What it means</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The 8 groups (person x phone x height) differ no more than two photos in the same group (analysis of variance, p = 0.81). The photo adds about 1 %; piles differ by about 4 %.</a:t>
            </a:r>
            <a:endParaRPr lang="en-US" sz="1600" dirty="0"/>
          </a:p>
        </p:txBody>
      </p:sp>
      <p:sp>
        <p:nvSpPr>
          <p:cNvPr id="23" name="Shape 21"/>
          <p:cNvSpPr/>
          <p:nvPr/>
        </p:nvSpPr>
        <p:spPr>
          <a:xfrm>
            <a:off x="6263640" y="4389120"/>
            <a:ext cx="5394960" cy="1783080"/>
          </a:xfrm>
          <a:prstGeom prst="roundRect">
            <a:avLst>
              <a:gd name="adj" fmla="val 6154"/>
            </a:avLst>
          </a:prstGeom>
          <a:solidFill>
            <a:srgbClr val="FFFFFF"/>
          </a:solidFill>
          <a:ln w="9525">
            <a:solidFill>
              <a:srgbClr val="E6E1D3"/>
            </a:solidFill>
            <a:prstDash val="solid"/>
          </a:ln>
          <a:effectLst>
            <a:outerShdw sx="100000" sy="100000" kx="0" ky="0" algn="bl" rotWithShape="0" blurRad="50800" dist="19050" dir="5400000">
              <a:srgbClr val="000000">
                <a:alpha val="8000"/>
              </a:srgbClr>
            </a:outerShdw>
          </a:effectLst>
        </p:spPr>
      </p:sp>
      <p:sp>
        <p:nvSpPr>
          <p:cNvPr id="24" name="Text 22"/>
          <p:cNvSpPr txBox="1"/>
          <p:nvPr/>
        </p:nvSpPr>
        <p:spPr>
          <a:xfrm>
            <a:off x="6428232" y="4498848"/>
            <a:ext cx="5065776" cy="156362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Limits</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One pile; heights written as normal or high, not measured. It does not test how a person spreads the seeds: Jia's repeat does that (slide 10).</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Which feature tells the weight (task 2)</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MODEL</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914400"/>
        </p:xfrm>
        <a:graphic>
          <a:graphicData uri="http://schemas.openxmlformats.org/drawingml/2006/table">
            <a:tbl>
              <a:tblPr/>
              <a:tblGrid>
                <a:gridCol w="3017520"/>
                <a:gridCol w="822960"/>
                <a:gridCol w="1737360"/>
                <a:gridCol w="118872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Feature (Hadi's 8 piles)</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95 % range of r</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Spread</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r>
              <a:tr h="45720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Count of all boxes</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0.990</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0.950 to 0.999</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3.7 %</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253027"/>
                          </a:solidFill>
                          <a:latin typeface="Calibri" pitchFamily="34" charset="0"/>
                          <a:ea typeface="Calibri" pitchFamily="34" charset="-122"/>
                          <a:cs typeface="Calibri" pitchFamily="34" charset="-120"/>
                        </a:rPr>
                        <a:t>Count of sunflower boxes</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1BE"/>
                    </a:solidFill>
                  </a:tcPr>
                </a:tc>
                <a:tc>
                  <a:txBody>
                    <a:bodyPr/>
                    <a:lstStyle/>
                    <a:p>
                      <a:pPr indent="0" marL="0">
                        <a:buNone/>
                      </a:pPr>
                      <a:r>
                        <a:rPr lang="en-US" sz="1400" b="1" dirty="0">
                          <a:solidFill>
                            <a:srgbClr val="253027"/>
                          </a:solidFill>
                          <a:latin typeface="Calibri" pitchFamily="34" charset="0"/>
                          <a:ea typeface="Calibri" pitchFamily="34" charset="-122"/>
                          <a:cs typeface="Calibri" pitchFamily="34" charset="-120"/>
                        </a:rPr>
                        <a:t>0.989</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1BE"/>
                    </a:solidFill>
                  </a:tcPr>
                </a:tc>
                <a:tc>
                  <a:txBody>
                    <a:bodyPr/>
                    <a:lstStyle/>
                    <a:p>
                      <a:pPr indent="0" marL="0">
                        <a:buNone/>
                      </a:pPr>
                      <a:r>
                        <a:rPr lang="en-US" sz="1400" b="1" dirty="0">
                          <a:solidFill>
                            <a:srgbClr val="253027"/>
                          </a:solidFill>
                          <a:latin typeface="Calibri" pitchFamily="34" charset="0"/>
                          <a:ea typeface="Calibri" pitchFamily="34" charset="-122"/>
                          <a:cs typeface="Calibri" pitchFamily="34" charset="-120"/>
                        </a:rPr>
                        <a:t>0.945 to 0.999</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1BE"/>
                    </a:solidFill>
                  </a:tcPr>
                </a:tc>
                <a:tc>
                  <a:txBody>
                    <a:bodyPr/>
                    <a:lstStyle/>
                    <a:p>
                      <a:pPr indent="0" marL="0">
                        <a:buNone/>
                      </a:pPr>
                      <a:r>
                        <a:rPr lang="en-US" sz="1400" b="1" dirty="0">
                          <a:solidFill>
                            <a:srgbClr val="253027"/>
                          </a:solidFill>
                          <a:latin typeface="Calibri" pitchFamily="34" charset="0"/>
                          <a:ea typeface="Calibri" pitchFamily="34" charset="-122"/>
                          <a:cs typeface="Calibri" pitchFamily="34" charset="-120"/>
                        </a:rPr>
                        <a:t>4.0 %</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1BE"/>
                    </a:solidFill>
                  </a:tcPr>
                </a:tc>
              </a:tr>
              <a:tr h="45720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Box area of sunflower boxes, mm²</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0.985</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0.930 to 0.999</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5.4 %</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Box area of sunflower boxes, pixels</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0.900</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0.635 to 0.990</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11.6 %</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Mean box area, pixels</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-0.271</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-0.984 to 0.753</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35.7 %</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206240"/>
            <a:ext cx="6766560" cy="365760"/>
          </a:xfrm>
          <a:prstGeom prst="rect">
            <a:avLst/>
          </a:prstGeom>
          <a:noFill/>
          <a:ln/>
        </p:spPr>
        <p:txBody>
          <a:bodyPr wrap="square" lIns="0" tIns="0" rIns="0" bIns="0" rtlCol="0" anchor="ctr"/>
          <a:lstStyle/>
          <a:p>
            <a:pPr indent="0" marL="0">
              <a:buNone/>
            </a:pPr>
            <a:r>
              <a:rPr lang="en-US" sz="1200" i="1" dirty="0">
                <a:solidFill>
                  <a:srgbClr val="687063"/>
                </a:solidFill>
                <a:latin typeface="Calibri" pitchFamily="34" charset="0"/>
                <a:ea typeface="Calibri" pitchFamily="34" charset="-122"/>
                <a:cs typeface="Calibri" pitchFamily="34" charset="-120"/>
              </a:rPr>
              <a:t>r = correlation with the weight (1 = perfect line). Spread = how much grams per unit of the feature varies between piles; lower is better. How many piles we need: slide 13.</a:t>
            </a:r>
            <a:endParaRPr lang="en-US" sz="1200" dirty="0"/>
          </a:p>
        </p:txBody>
      </p:sp>
      <p:sp>
        <p:nvSpPr>
          <p:cNvPr id="6" name="Shape 3"/>
          <p:cNvSpPr/>
          <p:nvPr/>
        </p:nvSpPr>
        <p:spPr>
          <a:xfrm>
            <a:off x="7589520" y="1280160"/>
            <a:ext cx="4069080" cy="1737360"/>
          </a:xfrm>
          <a:prstGeom prst="roundRect">
            <a:avLst>
              <a:gd name="adj" fmla="val 6316"/>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7" name="Text 4"/>
          <p:cNvSpPr txBox="1"/>
          <p:nvPr/>
        </p:nvSpPr>
        <p:spPr>
          <a:xfrm>
            <a:off x="7754112" y="1389888"/>
            <a:ext cx="3739896" cy="151790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Chosen model</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weight = number of sunflower boxes x 0.05336 g per seed (all 17 piles)</a:t>
            </a:r>
            <a:endParaRPr lang="en-US" sz="1600" dirty="0"/>
          </a:p>
        </p:txBody>
      </p:sp>
      <p:sp>
        <p:nvSpPr>
          <p:cNvPr id="8" name="Shape 5"/>
          <p:cNvSpPr/>
          <p:nvPr/>
        </p:nvSpPr>
        <p:spPr>
          <a:xfrm>
            <a:off x="7589520" y="3200400"/>
            <a:ext cx="4069080" cy="1463040"/>
          </a:xfrm>
          <a:prstGeom prst="roundRect">
            <a:avLst>
              <a:gd name="adj" fmla="val 7500"/>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9" name="Text 6"/>
          <p:cNvSpPr txBox="1"/>
          <p:nvPr/>
        </p:nvSpPr>
        <p:spPr>
          <a:xfrm>
            <a:off x="7754112" y="3310128"/>
            <a:ext cx="3739896" cy="12435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Why sunflower boxes only</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It ignores the false boxes on writing, notes and the ruler.</a:t>
            </a:r>
            <a:endParaRPr lang="en-US" sz="1600" dirty="0"/>
          </a:p>
        </p:txBody>
      </p:sp>
      <p:sp>
        <p:nvSpPr>
          <p:cNvPr id="10" name="Shape 7"/>
          <p:cNvSpPr/>
          <p:nvPr/>
        </p:nvSpPr>
        <p:spPr>
          <a:xfrm>
            <a:off x="7589520" y="4846320"/>
            <a:ext cx="4069080" cy="1325880"/>
          </a:xfrm>
          <a:prstGeom prst="roundRect">
            <a:avLst>
              <a:gd name="adj" fmla="val 8276"/>
            </a:avLst>
          </a:prstGeom>
          <a:solidFill>
            <a:srgbClr val="FFFFFF"/>
          </a:solidFill>
          <a:ln w="9525">
            <a:solidFill>
              <a:srgbClr val="E6E1D3"/>
            </a:solidFill>
            <a:prstDash val="solid"/>
          </a:ln>
          <a:effectLst>
            <a:outerShdw sx="100000" sy="100000" kx="0" ky="0" algn="bl" rotWithShape="0" blurRad="50800" dist="19050" dir="5400000">
              <a:srgbClr val="000000">
                <a:alpha val="8000"/>
              </a:srgbClr>
            </a:outerShdw>
          </a:effectLst>
        </p:spPr>
      </p:sp>
      <p:sp>
        <p:nvSpPr>
          <p:cNvPr id="11" name="Text 8"/>
          <p:cNvSpPr txBox="1"/>
          <p:nvPr/>
        </p:nvSpPr>
        <p:spPr>
          <a:xfrm>
            <a:off x="7754112" y="4956048"/>
            <a:ext cx="3739896" cy="110642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Still best for Jia</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Her photos: count r 0.994, box area 0.988.</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How sure are we? (task 3)</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UNCERTAINTY</a:t>
            </a:r>
            <a:endParaRPr lang="en-US" sz="1100" dirty="0"/>
          </a:p>
        </p:txBody>
      </p:sp>
      <p:graphicFrame>
        <p:nvGraphicFramePr>
          <p:cNvPr id="4" name="Chart 0" descr=""/>
          <p:cNvGraphicFramePr/>
          <p:nvPr/>
        </p:nvGraphicFramePr>
        <p:xfrm>
          <a:off x="548640" y="1234440"/>
          <a:ext cx="658368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212080"/>
            <a:ext cx="6583680" cy="640080"/>
          </a:xfrm>
          <a:prstGeom prst="rect">
            <a:avLst/>
          </a:prstGeom>
          <a:noFill/>
          <a:ln/>
        </p:spPr>
        <p:txBody>
          <a:bodyPr wrap="square" lIns="0" tIns="0" rIns="0" bIns="0" rtlCol="0" anchor="ctr"/>
          <a:lstStyle/>
          <a:p>
            <a:pPr indent="0" marL="0">
              <a:buNone/>
            </a:pPr>
            <a:r>
              <a:rPr lang="en-US" sz="1200" i="1" dirty="0">
                <a:solidFill>
                  <a:srgbClr val="687063"/>
                </a:solidFill>
                <a:latin typeface="Calibri" pitchFamily="34" charset="0"/>
                <a:ea typeface="Calibri" pitchFamily="34" charset="-122"/>
                <a:cs typeface="Calibri" pitchFamily="34" charset="-120"/>
              </a:rPr>
              <a:t>Relative standard deviation = typical error as % of the weight. Parts add as squares: 3.97² = 1.73² + 0.93² + 3.45². The remainder is found by subtraction, not measured.</a:t>
            </a:r>
            <a:endParaRPr lang="en-US" sz="1200" dirty="0"/>
          </a:p>
        </p:txBody>
      </p:sp>
      <p:sp>
        <p:nvSpPr>
          <p:cNvPr id="6" name="Shape 3"/>
          <p:cNvSpPr/>
          <p:nvPr/>
        </p:nvSpPr>
        <p:spPr>
          <a:xfrm>
            <a:off x="7406640" y="1234440"/>
            <a:ext cx="4251960" cy="2377440"/>
          </a:xfrm>
          <a:prstGeom prst="roundRect">
            <a:avLst>
              <a:gd name="adj" fmla="val 4615"/>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7" name="Text 4"/>
          <p:cNvSpPr txBox="1"/>
          <p:nvPr/>
        </p:nvSpPr>
        <p:spPr>
          <a:xfrm>
            <a:off x="7571232" y="1344168"/>
            <a:ext cx="3922776" cy="21579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The range for one photo</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range = t x s x sqrt(1 + 1/n)</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 2.12 x 3.97 % x 1.03 = ±8.7 %</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s = spread, n = 17 piles, t = factor for few piles. 19 of 20 true weights should fall inside.</a:t>
            </a:r>
            <a:endParaRPr lang="en-US" sz="1600" dirty="0"/>
          </a:p>
        </p:txBody>
      </p:sp>
      <p:sp>
        <p:nvSpPr>
          <p:cNvPr id="8" name="Shape 5"/>
          <p:cNvSpPr/>
          <p:nvPr/>
        </p:nvSpPr>
        <p:spPr>
          <a:xfrm>
            <a:off x="7406640" y="3794760"/>
            <a:ext cx="4251960" cy="2377440"/>
          </a:xfrm>
          <a:prstGeom prst="roundRect">
            <a:avLst>
              <a:gd name="adj" fmla="val 4615"/>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9" name="Text 6"/>
          <p:cNvSpPr txBox="1"/>
          <p:nvPr/>
        </p:nvSpPr>
        <p:spPr>
          <a:xfrm>
            <a:off x="7571232" y="3904488"/>
            <a:ext cx="3922776" cy="21579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What it tells us</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The photo is no longer the main error (0.9 %).</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The rest sits in the seeds and the 1 g kitchen scale: a 0.01 g scale would show the seed-to-seed part.</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Does it hold for another person? (task 4)</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TEST</a:t>
            </a:r>
            <a:endParaRPr lang="en-US" sz="1100" dirty="0"/>
          </a:p>
        </p:txBody>
      </p:sp>
      <p:graphicFrame>
        <p:nvGraphicFramePr>
          <p:cNvPr id="4" name="Chart 0" descr=""/>
          <p:cNvGraphicFramePr/>
          <p:nvPr/>
        </p:nvGraphicFramePr>
        <p:xfrm>
          <a:off x="548640" y="123444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234440"/>
            <a:ext cx="4069080" cy="2011680"/>
          </a:xfrm>
          <a:prstGeom prst="roundRect">
            <a:avLst>
              <a:gd name="adj" fmla="val 5455"/>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6" name="Text 3"/>
          <p:cNvSpPr txBox="1"/>
          <p:nvPr/>
        </p:nvSpPr>
        <p:spPr>
          <a:xfrm>
            <a:off x="7754112" y="1344168"/>
            <a:ext cx="3739896" cy="179222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9 of 9 inside the bounds</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Average error -1.3 %, mean absolute error 3.4 %.</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Also for the bigger piles (27 to 34 g) that Hadi never weighed.</a:t>
            </a:r>
            <a:endParaRPr lang="en-US" sz="1600" dirty="0"/>
          </a:p>
        </p:txBody>
      </p:sp>
      <p:sp>
        <p:nvSpPr>
          <p:cNvPr id="7" name="Shape 4"/>
          <p:cNvSpPr/>
          <p:nvPr/>
        </p:nvSpPr>
        <p:spPr>
          <a:xfrm>
            <a:off x="7589520" y="3429000"/>
            <a:ext cx="4069080" cy="1417320"/>
          </a:xfrm>
          <a:prstGeom prst="roundRect">
            <a:avLst>
              <a:gd name="adj" fmla="val 7742"/>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8" name="Text 5"/>
          <p:cNvSpPr txBox="1"/>
          <p:nvPr/>
        </p:nvSpPr>
        <p:spPr>
          <a:xfrm>
            <a:off x="7754112" y="3538728"/>
            <a:ext cx="3739896" cy="119786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Same grams per seed?</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Jia +1.5 % (95 % CI -2.7 to +5.7 %): no difference found.</a:t>
            </a:r>
            <a:endParaRPr lang="en-US" sz="1600" dirty="0"/>
          </a:p>
        </p:txBody>
      </p:sp>
      <p:sp>
        <p:nvSpPr>
          <p:cNvPr id="9" name="Shape 6"/>
          <p:cNvSpPr/>
          <p:nvPr/>
        </p:nvSpPr>
        <p:spPr>
          <a:xfrm>
            <a:off x="7589520" y="5029200"/>
            <a:ext cx="4069080" cy="1143000"/>
          </a:xfrm>
          <a:prstGeom prst="roundRect">
            <a:avLst>
              <a:gd name="adj" fmla="val 9600"/>
            </a:avLst>
          </a:prstGeom>
          <a:solidFill>
            <a:srgbClr val="FBE3D6"/>
          </a:solidFill>
          <a:ln w="9525">
            <a:solidFill>
              <a:srgbClr val="FBE3D6"/>
            </a:solidFill>
            <a:prstDash val="solid"/>
          </a:ln>
          <a:effectLst>
            <a:outerShdw sx="100000" sy="100000" kx="0" ky="0" algn="bl" rotWithShape="0" blurRad="50800" dist="19050" dir="5400000">
              <a:srgbClr val="000000">
                <a:alpha val="8000"/>
              </a:srgbClr>
            </a:outerShdw>
          </a:effectLst>
        </p:spPr>
      </p:sp>
      <p:sp>
        <p:nvSpPr>
          <p:cNvPr id="10" name="Text 7"/>
          <p:cNvSpPr txBox="1"/>
          <p:nvPr/>
        </p:nvSpPr>
        <p:spPr>
          <a:xfrm>
            <a:off x="7754112" y="5138928"/>
            <a:ext cx="3739896" cy="92354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Honest note</a:t>
            </a:r>
            <a:endParaRPr lang="en-US" sz="1600" dirty="0"/>
          </a:p>
          <a:p>
            <a:pPr indent="0" marL="0">
              <a:spcBef>
                <a:spcPts val="400"/>
              </a:spcBef>
              <a:buNone/>
            </a:pPr>
            <a:r>
              <a:rPr lang="en-US" sz="1200" dirty="0">
                <a:solidFill>
                  <a:srgbClr val="253027"/>
                </a:solidFill>
                <a:latin typeface="Calibri" pitchFamily="34" charset="0"/>
                <a:ea typeface="Calibri" pitchFamily="34" charset="-122"/>
                <a:cs typeface="Calibri" pitchFamily="34" charset="-120"/>
              </a:rPr>
              <a:t>T4-02: 14 g before, 12 g after the photos. With the before weight: 8 of 9 inside.</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For the user: one photo, one light, one sentence</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USER</a:t>
            </a:r>
            <a:endParaRPr lang="en-US" sz="1100" dirty="0"/>
          </a:p>
        </p:txBody>
      </p:sp>
      <p:sp>
        <p:nvSpPr>
          <p:cNvPr id="4" name="Shape 2"/>
          <p:cNvSpPr/>
          <p:nvPr/>
        </p:nvSpPr>
        <p:spPr>
          <a:xfrm>
            <a:off x="548640" y="1234440"/>
            <a:ext cx="4206240" cy="3246120"/>
          </a:xfrm>
          <a:prstGeom prst="roundRect">
            <a:avLst>
              <a:gd name="adj" fmla="val 3380"/>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5" name="Text 3"/>
          <p:cNvSpPr txBox="1"/>
          <p:nvPr/>
        </p:nvSpPr>
        <p:spPr>
          <a:xfrm>
            <a:off x="713232" y="1344168"/>
            <a:ext cx="3877056" cy="302666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On the screen before the photo</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1. Spread the seeds on white paper, no seed touching another.</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2. Put the marker sheet next to them. No sheet? The app still works, with a wider range.</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3. Phone flat, straight above, any height.</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4. Too many seeds? Split the sample.</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No ruler, no measured height, no settings.</a:t>
            </a:r>
            <a:endParaRPr lang="en-US" sz="1600" dirty="0"/>
          </a:p>
        </p:txBody>
      </p:sp>
      <p:sp>
        <p:nvSpPr>
          <p:cNvPr id="6" name="Shape 4"/>
          <p:cNvSpPr/>
          <p:nvPr/>
        </p:nvSpPr>
        <p:spPr>
          <a:xfrm>
            <a:off x="548640" y="4663440"/>
            <a:ext cx="4206240" cy="1600200"/>
          </a:xfrm>
          <a:prstGeom prst="roundRect">
            <a:avLst>
              <a:gd name="adj" fmla="val 6857"/>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7" name="Text 5"/>
          <p:cNvSpPr txBox="1"/>
          <p:nvPr/>
        </p:nvSpPr>
        <p:spPr>
          <a:xfrm>
            <a:off x="713232" y="4773168"/>
            <a:ext cx="3877056" cy="1380744"/>
          </a:xfrm>
          <a:prstGeom prst="rect">
            <a:avLst/>
          </a:prstGeom>
          <a:noFill/>
          <a:ln/>
        </p:spPr>
        <p:txBody>
          <a:bodyPr wrap="square" lIns="0" tIns="0" rIns="0" bIns="0" rtlCol="0" anchor="t"/>
          <a:lstStyle/>
          <a:p>
            <a:pPr indent="0" marL="0">
              <a:buNone/>
            </a:pPr>
            <a:r>
              <a:rPr lang="en-US" sz="1500" b="1" dirty="0">
                <a:solidFill>
                  <a:srgbClr val="2D5B3F"/>
                </a:solidFill>
                <a:latin typeface="Calibri" pitchFamily="34" charset="0"/>
                <a:ea typeface="Calibri" pitchFamily="34" charset="-122"/>
                <a:cs typeface="Calibri" pitchFamily="34" charset="-120"/>
              </a:rPr>
              <a:t>Light and range are two things</a:t>
            </a:r>
            <a:endParaRPr lang="en-US" sz="1500" dirty="0"/>
          </a:p>
          <a:p>
            <a:pPr indent="0" marL="0">
              <a:spcBef>
                <a:spcPts val="400"/>
              </a:spcBef>
              <a:buNone/>
            </a:pPr>
            <a:r>
              <a:rPr lang="en-US" sz="1300" dirty="0">
                <a:solidFill>
                  <a:srgbClr val="253027"/>
                </a:solidFill>
                <a:latin typeface="Calibri" pitchFamily="34" charset="0"/>
                <a:ea typeface="Calibri" pitchFamily="34" charset="-122"/>
                <a:cs typeface="Calibri" pitchFamily="34" charset="-120"/>
              </a:rPr>
              <a:t>The light says if the photo follows the rules. The range says how exact the ruler is (17 piles): ±8.7 % with the marker sheet, ±9.4 % with the seeds.</a:t>
            </a:r>
            <a:endParaRPr lang="en-US" sz="1500" dirty="0"/>
          </a:p>
        </p:txBody>
      </p:sp>
      <p:sp>
        <p:nvSpPr>
          <p:cNvPr id="8" name="Shape 6"/>
          <p:cNvSpPr/>
          <p:nvPr/>
        </p:nvSpPr>
        <p:spPr>
          <a:xfrm>
            <a:off x="5029200" y="1234440"/>
            <a:ext cx="6629400" cy="1078992"/>
          </a:xfrm>
          <a:prstGeom prst="roundRect">
            <a:avLst>
              <a:gd name="adj" fmla="val 10169"/>
            </a:avLst>
          </a:prstGeom>
          <a:solidFill>
            <a:srgbClr val="FFFFFF"/>
          </a:solidFill>
          <a:ln w="9525">
            <a:solidFill>
              <a:srgbClr val="E6E1D3"/>
            </a:solidFill>
            <a:prstDash val="solid"/>
          </a:ln>
        </p:spPr>
      </p:sp>
      <p:sp>
        <p:nvSpPr>
          <p:cNvPr id="9" name="Shape 7"/>
          <p:cNvSpPr/>
          <p:nvPr/>
        </p:nvSpPr>
        <p:spPr>
          <a:xfrm>
            <a:off x="5212080" y="1563624"/>
            <a:ext cx="457200" cy="457200"/>
          </a:xfrm>
          <a:prstGeom prst="ellipse">
            <a:avLst/>
          </a:prstGeom>
          <a:solidFill>
            <a:srgbClr val="2E8B57"/>
          </a:solidFill>
          <a:ln w="12700">
            <a:solidFill>
              <a:srgbClr val="2E8B57"/>
            </a:solidFill>
            <a:prstDash val="solid"/>
          </a:ln>
        </p:spPr>
      </p:sp>
      <p:sp>
        <p:nvSpPr>
          <p:cNvPr id="10" name="Text 8"/>
          <p:cNvSpPr txBox="1"/>
          <p:nvPr/>
        </p:nvSpPr>
        <p:spPr>
          <a:xfrm>
            <a:off x="5852160" y="1307592"/>
            <a:ext cx="5669280" cy="969264"/>
          </a:xfrm>
          <a:prstGeom prst="rect">
            <a:avLst/>
          </a:prstGeom>
          <a:noFill/>
          <a:ln/>
        </p:spPr>
        <p:txBody>
          <a:bodyPr wrap="square" lIns="0" tIns="0" rIns="0" bIns="0" rtlCol="0" anchor="ctr"/>
          <a:lstStyle/>
          <a:p>
            <a:pPr indent="0" marL="0">
              <a:buNone/>
            </a:pPr>
            <a:r>
              <a:rPr lang="en-US" sz="1600" b="1" dirty="0">
                <a:solidFill>
                  <a:srgbClr val="253027"/>
                </a:solidFill>
                <a:latin typeface="Calibri" pitchFamily="34" charset="0"/>
                <a:ea typeface="Calibri" pitchFamily="34" charset="-122"/>
                <a:cs typeface="Calibri" pitchFamily="34" charset="-120"/>
              </a:rPr>
              <a:t>12.1 g (11.0 to 13.1 g)   </a:t>
            </a:r>
            <a:pPr indent="0" marL="0">
              <a:buNone/>
            </a:pPr>
            <a:r>
              <a:rPr lang="en-US" sz="1200" dirty="0">
                <a:solidFill>
                  <a:srgbClr val="687063"/>
                </a:solidFill>
                <a:latin typeface="Calibri" pitchFamily="34" charset="0"/>
                <a:ea typeface="Calibri" pitchFamily="34" charset="-122"/>
                <a:cs typeface="Calibri" pitchFamily="34" charset="-120"/>
              </a:rPr>
              <a:t>Green</a:t>
            </a:r>
            <a:endParaRPr lang="en-US" sz="1600" dirty="0"/>
          </a:p>
          <a:p>
            <a:pPr indent="0" marL="0">
              <a:buNone/>
            </a:pPr>
            <a:r>
              <a:rPr lang="en-US" sz="1300" dirty="0">
                <a:solidFill>
                  <a:srgbClr val="253027"/>
                </a:solidFill>
                <a:latin typeface="Calibri" pitchFamily="34" charset="0"/>
                <a:ea typeface="Calibri" pitchFamily="34" charset="-122"/>
                <a:cs typeface="Calibri" pitchFamily="34" charset="-120"/>
              </a:rPr>
              <a:t>Good photo.   Real weight: 12 g.</a:t>
            </a:r>
            <a:endParaRPr lang="en-US" sz="1600" dirty="0"/>
          </a:p>
        </p:txBody>
      </p:sp>
      <p:sp>
        <p:nvSpPr>
          <p:cNvPr id="11" name="Shape 9"/>
          <p:cNvSpPr/>
          <p:nvPr/>
        </p:nvSpPr>
        <p:spPr>
          <a:xfrm>
            <a:off x="5029200" y="2423160"/>
            <a:ext cx="6629400" cy="1078992"/>
          </a:xfrm>
          <a:prstGeom prst="roundRect">
            <a:avLst>
              <a:gd name="adj" fmla="val 10169"/>
            </a:avLst>
          </a:prstGeom>
          <a:solidFill>
            <a:srgbClr val="FFFFFF"/>
          </a:solidFill>
          <a:ln w="9525">
            <a:solidFill>
              <a:srgbClr val="E6E1D3"/>
            </a:solidFill>
            <a:prstDash val="solid"/>
          </a:ln>
        </p:spPr>
      </p:sp>
      <p:sp>
        <p:nvSpPr>
          <p:cNvPr id="12" name="Shape 10"/>
          <p:cNvSpPr/>
          <p:nvPr/>
        </p:nvSpPr>
        <p:spPr>
          <a:xfrm>
            <a:off x="5212080" y="2752344"/>
            <a:ext cx="457200" cy="457200"/>
          </a:xfrm>
          <a:prstGeom prst="ellipse">
            <a:avLst/>
          </a:prstGeom>
          <a:solidFill>
            <a:srgbClr val="DC8F14"/>
          </a:solidFill>
          <a:ln w="12700">
            <a:solidFill>
              <a:srgbClr val="DC8F14"/>
            </a:solidFill>
            <a:prstDash val="solid"/>
          </a:ln>
        </p:spPr>
      </p:sp>
      <p:sp>
        <p:nvSpPr>
          <p:cNvPr id="13" name="Text 11"/>
          <p:cNvSpPr txBox="1"/>
          <p:nvPr/>
        </p:nvSpPr>
        <p:spPr>
          <a:xfrm>
            <a:off x="5852160" y="2496312"/>
            <a:ext cx="5669280" cy="969264"/>
          </a:xfrm>
          <a:prstGeom prst="rect">
            <a:avLst/>
          </a:prstGeom>
          <a:noFill/>
          <a:ln/>
        </p:spPr>
        <p:txBody>
          <a:bodyPr wrap="square" lIns="0" tIns="0" rIns="0" bIns="0" rtlCol="0" anchor="ctr"/>
          <a:lstStyle/>
          <a:p>
            <a:pPr indent="0" marL="0">
              <a:buNone/>
            </a:pPr>
            <a:r>
              <a:rPr lang="en-US" sz="1600" b="1" dirty="0">
                <a:solidFill>
                  <a:srgbClr val="253027"/>
                </a:solidFill>
                <a:latin typeface="Calibri" pitchFamily="34" charset="0"/>
                <a:ea typeface="Calibri" pitchFamily="34" charset="-122"/>
                <a:cs typeface="Calibri" pitchFamily="34" charset="-120"/>
              </a:rPr>
              <a:t>11.9 g (10.9 to 12.9 g)   </a:t>
            </a:r>
            <a:pPr indent="0" marL="0">
              <a:buNone/>
            </a:pPr>
            <a:r>
              <a:rPr lang="en-US" sz="1200" dirty="0">
                <a:solidFill>
                  <a:srgbClr val="687063"/>
                </a:solidFill>
                <a:latin typeface="Calibri" pitchFamily="34" charset="0"/>
                <a:ea typeface="Calibri" pitchFamily="34" charset="-122"/>
                <a:cs typeface="Calibri" pitchFamily="34" charset="-120"/>
              </a:rPr>
              <a:t>Orange</a:t>
            </a:r>
            <a:endParaRPr lang="en-US" sz="1600" dirty="0"/>
          </a:p>
          <a:p>
            <a:pPr indent="0" marL="0">
              <a:buNone/>
            </a:pPr>
            <a:r>
              <a:rPr lang="en-US" sz="1300" dirty="0">
                <a:solidFill>
                  <a:srgbClr val="253027"/>
                </a:solidFill>
                <a:latin typeface="Calibri" pitchFamily="34" charset="0"/>
                <a:ea typeface="Calibri" pitchFamily="34" charset="-122"/>
                <a:cs typeface="Calibri" pitchFamily="34" charset="-120"/>
              </a:rPr>
              <a:t>Seeds too close together: spread them so that no seed touches another, and take the photo again.   Real weight: 14 g.</a:t>
            </a:r>
            <a:endParaRPr lang="en-US" sz="1600" dirty="0"/>
          </a:p>
        </p:txBody>
      </p:sp>
      <p:sp>
        <p:nvSpPr>
          <p:cNvPr id="14" name="Shape 12"/>
          <p:cNvSpPr/>
          <p:nvPr/>
        </p:nvSpPr>
        <p:spPr>
          <a:xfrm>
            <a:off x="5029200" y="3611880"/>
            <a:ext cx="6629400" cy="1078992"/>
          </a:xfrm>
          <a:prstGeom prst="roundRect">
            <a:avLst>
              <a:gd name="adj" fmla="val 10169"/>
            </a:avLst>
          </a:prstGeom>
          <a:solidFill>
            <a:srgbClr val="FFFFFF"/>
          </a:solidFill>
          <a:ln w="9525">
            <a:solidFill>
              <a:srgbClr val="E6E1D3"/>
            </a:solidFill>
            <a:prstDash val="solid"/>
          </a:ln>
        </p:spPr>
      </p:sp>
      <p:sp>
        <p:nvSpPr>
          <p:cNvPr id="15" name="Shape 13"/>
          <p:cNvSpPr/>
          <p:nvPr/>
        </p:nvSpPr>
        <p:spPr>
          <a:xfrm>
            <a:off x="5212080" y="3941064"/>
            <a:ext cx="457200" cy="457200"/>
          </a:xfrm>
          <a:prstGeom prst="ellipse">
            <a:avLst/>
          </a:prstGeom>
          <a:solidFill>
            <a:srgbClr val="DC8F14"/>
          </a:solidFill>
          <a:ln w="12700">
            <a:solidFill>
              <a:srgbClr val="DC8F14"/>
            </a:solidFill>
            <a:prstDash val="solid"/>
          </a:ln>
        </p:spPr>
      </p:sp>
      <p:sp>
        <p:nvSpPr>
          <p:cNvPr id="16" name="Text 14"/>
          <p:cNvSpPr txBox="1"/>
          <p:nvPr/>
        </p:nvSpPr>
        <p:spPr>
          <a:xfrm>
            <a:off x="5852160" y="3685032"/>
            <a:ext cx="5669280" cy="969264"/>
          </a:xfrm>
          <a:prstGeom prst="rect">
            <a:avLst/>
          </a:prstGeom>
          <a:noFill/>
          <a:ln/>
        </p:spPr>
        <p:txBody>
          <a:bodyPr wrap="square" lIns="0" tIns="0" rIns="0" bIns="0" rtlCol="0" anchor="ctr"/>
          <a:lstStyle/>
          <a:p>
            <a:pPr indent="0" marL="0">
              <a:buNone/>
            </a:pPr>
            <a:r>
              <a:rPr lang="en-US" sz="1600" b="1" dirty="0">
                <a:solidFill>
                  <a:srgbClr val="253027"/>
                </a:solidFill>
                <a:latin typeface="Calibri" pitchFamily="34" charset="0"/>
                <a:ea typeface="Calibri" pitchFamily="34" charset="-122"/>
                <a:cs typeface="Calibri" pitchFamily="34" charset="-120"/>
              </a:rPr>
              <a:t>15.8 g (14.3 to 17.3 g)   </a:t>
            </a:r>
            <a:pPr indent="0" marL="0">
              <a:buNone/>
            </a:pPr>
            <a:r>
              <a:rPr lang="en-US" sz="1200" dirty="0">
                <a:solidFill>
                  <a:srgbClr val="687063"/>
                </a:solidFill>
                <a:latin typeface="Calibri" pitchFamily="34" charset="0"/>
                <a:ea typeface="Calibri" pitchFamily="34" charset="-122"/>
                <a:cs typeface="Calibri" pitchFamily="34" charset="-120"/>
              </a:rPr>
              <a:t>Orange</a:t>
            </a:r>
            <a:endParaRPr lang="en-US" sz="1600" dirty="0"/>
          </a:p>
          <a:p>
            <a:pPr indent="0" marL="0">
              <a:buNone/>
            </a:pPr>
            <a:r>
              <a:rPr lang="en-US" sz="1300" dirty="0">
                <a:solidFill>
                  <a:srgbClr val="253027"/>
                </a:solidFill>
                <a:latin typeface="Calibri" pitchFamily="34" charset="0"/>
                <a:ea typeface="Calibri" pitchFamily="34" charset="-122"/>
                <a:cs typeface="Calibri" pitchFamily="34" charset="-120"/>
              </a:rPr>
              <a:t>No marker found: the size was estimated from the seeds, so the range is wider. Put the marker sheet fully in the photo for a more precise result.</a:t>
            </a:r>
            <a:endParaRPr lang="en-US" sz="1600" dirty="0"/>
          </a:p>
        </p:txBody>
      </p:sp>
      <p:sp>
        <p:nvSpPr>
          <p:cNvPr id="17" name="Shape 15"/>
          <p:cNvSpPr/>
          <p:nvPr/>
        </p:nvSpPr>
        <p:spPr>
          <a:xfrm>
            <a:off x="5029200" y="4800600"/>
            <a:ext cx="6629400" cy="1078992"/>
          </a:xfrm>
          <a:prstGeom prst="roundRect">
            <a:avLst>
              <a:gd name="adj" fmla="val 10169"/>
            </a:avLst>
          </a:prstGeom>
          <a:solidFill>
            <a:srgbClr val="FFFFFF"/>
          </a:solidFill>
          <a:ln w="9525">
            <a:solidFill>
              <a:srgbClr val="E6E1D3"/>
            </a:solidFill>
            <a:prstDash val="solid"/>
          </a:ln>
        </p:spPr>
      </p:sp>
      <p:sp>
        <p:nvSpPr>
          <p:cNvPr id="18" name="Shape 16"/>
          <p:cNvSpPr/>
          <p:nvPr/>
        </p:nvSpPr>
        <p:spPr>
          <a:xfrm>
            <a:off x="5212080" y="5129784"/>
            <a:ext cx="457200" cy="457200"/>
          </a:xfrm>
          <a:prstGeom prst="ellipse">
            <a:avLst/>
          </a:prstGeom>
          <a:solidFill>
            <a:srgbClr val="C0392B"/>
          </a:solidFill>
          <a:ln w="12700">
            <a:solidFill>
              <a:srgbClr val="C0392B"/>
            </a:solidFill>
            <a:prstDash val="solid"/>
          </a:ln>
        </p:spPr>
      </p:sp>
      <p:sp>
        <p:nvSpPr>
          <p:cNvPr id="19" name="Text 17"/>
          <p:cNvSpPr txBox="1"/>
          <p:nvPr/>
        </p:nvSpPr>
        <p:spPr>
          <a:xfrm>
            <a:off x="5852160" y="4873752"/>
            <a:ext cx="5669280" cy="969264"/>
          </a:xfrm>
          <a:prstGeom prst="rect">
            <a:avLst/>
          </a:prstGeom>
          <a:noFill/>
          <a:ln/>
        </p:spPr>
        <p:txBody>
          <a:bodyPr wrap="square" lIns="0" tIns="0" rIns="0" bIns="0" rtlCol="0" anchor="ctr"/>
          <a:lstStyle/>
          <a:p>
            <a:pPr indent="0" marL="0">
              <a:buNone/>
            </a:pPr>
            <a:r>
              <a:rPr lang="en-US" sz="1600" b="1" dirty="0">
                <a:solidFill>
                  <a:srgbClr val="253027"/>
                </a:solidFill>
                <a:latin typeface="Calibri" pitchFamily="34" charset="0"/>
                <a:ea typeface="Calibri" pitchFamily="34" charset="-122"/>
                <a:cs typeface="Calibri" pitchFamily="34" charset="-120"/>
              </a:rPr>
              <a:t>no weight   </a:t>
            </a:r>
            <a:pPr indent="0" marL="0">
              <a:buNone/>
            </a:pPr>
            <a:r>
              <a:rPr lang="en-US" sz="1200" dirty="0">
                <a:solidFill>
                  <a:srgbClr val="687063"/>
                </a:solidFill>
                <a:latin typeface="Calibri" pitchFamily="34" charset="0"/>
                <a:ea typeface="Calibri" pitchFamily="34" charset="-122"/>
                <a:cs typeface="Calibri" pitchFamily="34" charset="-120"/>
              </a:rPr>
              <a:t>Red (example)</a:t>
            </a:r>
            <a:endParaRPr lang="en-US" sz="1600" dirty="0"/>
          </a:p>
          <a:p>
            <a:pPr indent="0" marL="0">
              <a:buNone/>
            </a:pPr>
            <a:r>
              <a:rPr lang="en-US" sz="1300" dirty="0">
                <a:solidFill>
                  <a:srgbClr val="253027"/>
                </a:solidFill>
                <a:latin typeface="Calibri" pitchFamily="34" charset="0"/>
                <a:ea typeface="Calibri" pitchFamily="34" charset="-122"/>
                <a:cs typeface="Calibri" pitchFamily="34" charset="-120"/>
              </a:rPr>
              <a:t>No seeds found: check that the seeds are in the photo.</a:t>
            </a:r>
            <a:endParaRPr lang="en-US" sz="1600" dirty="0"/>
          </a:p>
        </p:txBody>
      </p:sp>
      <p:sp>
        <p:nvSpPr>
          <p:cNvPr id="20" name="Text 18"/>
          <p:cNvSpPr txBox="1"/>
          <p:nvPr/>
        </p:nvSpPr>
        <p:spPr>
          <a:xfrm>
            <a:off x="5029200" y="5943600"/>
            <a:ext cx="6629400" cy="411480"/>
          </a:xfrm>
          <a:prstGeom prst="rect">
            <a:avLst/>
          </a:prstGeom>
          <a:noFill/>
          <a:ln/>
        </p:spPr>
        <p:txBody>
          <a:bodyPr wrap="square" lIns="0" tIns="0" rIns="0" bIns="0" rtlCol="0" anchor="ctr"/>
          <a:lstStyle/>
          <a:p>
            <a:pPr indent="0" marL="0">
              <a:buNone/>
            </a:pPr>
            <a:r>
              <a:rPr lang="en-US" sz="1100" i="1" dirty="0">
                <a:solidFill>
                  <a:srgbClr val="687063"/>
                </a:solidFill>
                <a:latin typeface="Calibri" pitchFamily="34" charset="0"/>
                <a:ea typeface="Calibri" pitchFamily="34" charset="-122"/>
                <a:cs typeface="Calibri" pitchFamily="34" charset="-120"/>
              </a:rPr>
              <a:t>The first three are real results from the app. Limits from our own photos: all 53 normal photos green, all 6 known problem photos orange.</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No marker? The seeds become the ruler</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USER</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132320" cy="914400"/>
        </p:xfrm>
        <a:graphic>
          <a:graphicData uri="http://schemas.openxmlformats.org/drawingml/2006/table">
            <a:tbl>
              <a:tblPr/>
              <a:tblGrid>
                <a:gridCol w="3108960"/>
                <a:gridCol w="1828800"/>
                <a:gridCol w="2194560"/>
              </a:tblGrid>
              <a:tr h="502920">
                <a:tc>
                  <a:txBody>
                    <a:bodyPr/>
                    <a:lstStyle/>
                    <a:p>
                      <a:pPr indent="0" marL="0">
                        <a:buNone/>
                      </a:pP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Marker sheet</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Seeds as ruler</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r>
              <a:tr h="50292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What the user needs</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Printed sheet</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Nothing extra</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Count compared with the marker count</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reference</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-1.0 % on average (worst ‑5.6 %)</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Range for one photo, 17 piles</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±8.7 %</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±9.4 %</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Same pile, 16 photos (Gauge R&amp;R)</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1.16 %</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1.22 %</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Photo where the markers were cut off</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-12.6 %</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+1.5 %</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bl>
          </a:graphicData>
        </a:graphic>
      </p:graphicFrame>
      <p:sp>
        <p:nvSpPr>
          <p:cNvPr id="5" name="Shape 2"/>
          <p:cNvSpPr/>
          <p:nvPr/>
        </p:nvSpPr>
        <p:spPr>
          <a:xfrm>
            <a:off x="7955280" y="1280160"/>
            <a:ext cx="3703320" cy="2331720"/>
          </a:xfrm>
          <a:prstGeom prst="roundRect">
            <a:avLst>
              <a:gd name="adj" fmla="val 4706"/>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6" name="Text 3"/>
          <p:cNvSpPr txBox="1"/>
          <p:nvPr/>
        </p:nvSpPr>
        <p:spPr>
          <a:xfrm>
            <a:off x="8119872" y="1389888"/>
            <a:ext cx="3374136" cy="211226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How it works</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Typical seed length (11.25 mm, measured once with the markers) / median box length in the photo = mm per pixel. Count once, resize, count again.</a:t>
            </a:r>
            <a:endParaRPr lang="en-US" sz="1600" dirty="0"/>
          </a:p>
        </p:txBody>
      </p:sp>
      <p:sp>
        <p:nvSpPr>
          <p:cNvPr id="7" name="Shape 4"/>
          <p:cNvSpPr/>
          <p:nvPr/>
        </p:nvSpPr>
        <p:spPr>
          <a:xfrm>
            <a:off x="7955280" y="3794760"/>
            <a:ext cx="3703320" cy="2377440"/>
          </a:xfrm>
          <a:prstGeom prst="roundRect">
            <a:avLst>
              <a:gd name="adj" fmla="val 4615"/>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8" name="Text 5"/>
          <p:cNvSpPr txBox="1"/>
          <p:nvPr/>
        </p:nvSpPr>
        <p:spPr>
          <a:xfrm>
            <a:off x="8119872" y="3904488"/>
            <a:ext cx="3374136" cy="21579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Next step for a real app</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Accept any object of known size: coin, bank card (85.60 x 53.98 mm) or an A4 sheet.</a:t>
            </a:r>
            <a:endParaRPr lang="en-US" sz="1600" dirty="0"/>
          </a:p>
          <a:p>
            <a:pPr indent="0" marL="0">
              <a:spcBef>
                <a:spcPts val="200"/>
              </a:spcBef>
              <a:buNone/>
            </a:pPr>
            <a:r>
              <a:rPr lang="en-US" sz="1400" dirty="0">
                <a:solidFill>
                  <a:srgbClr val="253027"/>
                </a:solidFill>
                <a:latin typeface="Calibri" pitchFamily="34" charset="0"/>
                <a:ea typeface="Calibri" pitchFamily="34" charset="-122"/>
                <a:cs typeface="Calibri" pitchFamily="34" charset="-120"/>
              </a:rPr>
              <a:t>Order: marker, then coin or card, then the seeds. Not tested yet.</a:t>
            </a:r>
            <a:endParaRPr lang="en-US" sz="1600" dirty="0"/>
          </a:p>
        </p:txBody>
      </p:sp>
      <p:sp>
        <p:nvSpPr>
          <p:cNvPr id="9" name="Shape 6"/>
          <p:cNvSpPr/>
          <p:nvPr/>
        </p:nvSpPr>
        <p:spPr>
          <a:xfrm>
            <a:off x="548640" y="4709160"/>
            <a:ext cx="7132320" cy="1463040"/>
          </a:xfrm>
          <a:prstGeom prst="roundRect">
            <a:avLst>
              <a:gd name="adj" fmla="val 7500"/>
            </a:avLst>
          </a:prstGeom>
          <a:solidFill>
            <a:srgbClr val="FBE3D6"/>
          </a:solidFill>
          <a:ln w="9525">
            <a:solidFill>
              <a:srgbClr val="FBE3D6"/>
            </a:solidFill>
            <a:prstDash val="solid"/>
          </a:ln>
          <a:effectLst>
            <a:outerShdw sx="100000" sy="100000" kx="0" ky="0" algn="bl" rotWithShape="0" blurRad="50800" dist="19050" dir="5400000">
              <a:srgbClr val="000000">
                <a:alpha val="8000"/>
              </a:srgbClr>
            </a:outerShdw>
          </a:effectLst>
        </p:spPr>
      </p:sp>
      <p:sp>
        <p:nvSpPr>
          <p:cNvPr id="10" name="Text 7"/>
          <p:cNvSpPr txBox="1"/>
          <p:nvPr/>
        </p:nvSpPr>
        <p:spPr>
          <a:xfrm>
            <a:off x="713232" y="4818888"/>
            <a:ext cx="6803136" cy="12435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Limit</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The seed length must be known per crop and seed lot. It varied 11.25 to 11.88 mm between our sessions; on Jia's piles the seeds-as-ruler error was -2.9 % on average. A 5 % wrong seed length changed the count by about 1.4 % (controlled test, 4 photos).</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Business case: what one more pile buys</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BUSINESS CASE</a:t>
            </a:r>
            <a:endParaRPr lang="en-US" sz="1100" dirty="0"/>
          </a:p>
        </p:txBody>
      </p:sp>
      <p:graphicFrame>
        <p:nvGraphicFramePr>
          <p:cNvPr id="4" name="Chart 0" descr=""/>
          <p:cNvGraphicFramePr/>
          <p:nvPr/>
        </p:nvGraphicFramePr>
        <p:xfrm>
          <a:off x="548640" y="123444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486400"/>
            <a:ext cx="6766560" cy="685800"/>
          </a:xfrm>
          <a:prstGeom prst="rect">
            <a:avLst/>
          </a:prstGeom>
          <a:noFill/>
          <a:ln/>
        </p:spPr>
        <p:txBody>
          <a:bodyPr wrap="square" lIns="0" tIns="0" rIns="0" bIns="0" rtlCol="0" anchor="ctr"/>
          <a:lstStyle/>
          <a:p>
            <a:pPr indent="0" marL="0">
              <a:buNone/>
            </a:pPr>
            <a:r>
              <a:rPr lang="en-US" sz="1200" i="1" dirty="0">
                <a:solidFill>
                  <a:srgbClr val="687063"/>
                </a:solidFill>
                <a:latin typeface="Calibri" pitchFamily="34" charset="0"/>
                <a:ea typeface="Calibri" pitchFamily="34" charset="-122"/>
                <a:cs typeface="Calibri" pitchFamily="34" charset="-120"/>
              </a:rPr>
              <a:t>8 piles ±10.0 %   |   10 piles ±9.4 %   |   17 piles ±8.7 %   |   never below ±7.8 % (1 g kitchen scale, one seed lot). With only 17 piles the true value at 17 could be ±6.4 to ±13.2 %.</a:t>
            </a:r>
            <a:endParaRPr lang="en-US" sz="1200" dirty="0"/>
          </a:p>
        </p:txBody>
      </p:sp>
      <p:sp>
        <p:nvSpPr>
          <p:cNvPr id="6" name="Shape 3"/>
          <p:cNvSpPr/>
          <p:nvPr/>
        </p:nvSpPr>
        <p:spPr>
          <a:xfrm>
            <a:off x="7589520" y="1234440"/>
            <a:ext cx="4069080" cy="1600200"/>
          </a:xfrm>
          <a:prstGeom prst="roundRect">
            <a:avLst>
              <a:gd name="adj" fmla="val 6857"/>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7" name="Text 4"/>
          <p:cNvSpPr txBox="1"/>
          <p:nvPr/>
        </p:nvSpPr>
        <p:spPr>
          <a:xfrm>
            <a:off x="7754112" y="1344168"/>
            <a:ext cx="3739896" cy="138074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Cost of one pile</a:t>
            </a:r>
            <a:endParaRPr lang="en-US" sz="1600" dirty="0"/>
          </a:p>
          <a:p>
            <a:pPr indent="0" marL="0">
              <a:spcBef>
                <a:spcPts val="400"/>
              </a:spcBef>
              <a:buNone/>
            </a:pPr>
            <a:r>
              <a:rPr lang="en-US" sz="1200" dirty="0">
                <a:solidFill>
                  <a:srgbClr val="253027"/>
                </a:solidFill>
                <a:latin typeface="Calibri" pitchFamily="34" charset="0"/>
                <a:ea typeface="Calibri" pitchFamily="34" charset="-122"/>
                <a:cs typeface="Calibri" pitchFamily="34" charset="-120"/>
              </a:rPr>
              <a:t>10.20 euro (12.7 min, piles of 10 to 24 g) to 17.35 euro (21.6 min, 27 to 34 g). Example rate 48.2 euro per hour, Eurostat 2024, Belgium.</a:t>
            </a:r>
            <a:endParaRPr lang="en-US" sz="1600" dirty="0"/>
          </a:p>
        </p:txBody>
      </p:sp>
      <p:sp>
        <p:nvSpPr>
          <p:cNvPr id="8" name="Shape 5"/>
          <p:cNvSpPr/>
          <p:nvPr/>
        </p:nvSpPr>
        <p:spPr>
          <a:xfrm>
            <a:off x="7589520" y="2971800"/>
            <a:ext cx="4069080" cy="1600200"/>
          </a:xfrm>
          <a:prstGeom prst="roundRect">
            <a:avLst>
              <a:gd name="adj" fmla="val 6857"/>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9" name="Text 6"/>
          <p:cNvSpPr txBox="1"/>
          <p:nvPr/>
        </p:nvSpPr>
        <p:spPr>
          <a:xfrm>
            <a:off x="7754112" y="3081528"/>
            <a:ext cx="3739896" cy="138074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Stop rule: 10 piles</a:t>
            </a:r>
            <a:endParaRPr lang="en-US" sz="1600" dirty="0"/>
          </a:p>
          <a:p>
            <a:pPr indent="0" marL="0">
              <a:spcBef>
                <a:spcPts val="400"/>
              </a:spcBef>
              <a:buNone/>
            </a:pPr>
            <a:r>
              <a:rPr lang="en-US" sz="1200" dirty="0">
                <a:solidFill>
                  <a:srgbClr val="253027"/>
                </a:solidFill>
                <a:latin typeface="Calibri" pitchFamily="34" charset="0"/>
                <a:ea typeface="Calibri" pitchFamily="34" charset="-122"/>
                <a:cs typeface="Calibri" pitchFamily="34" charset="-120"/>
              </a:rPr>
              <a:t>From 10 piles on, one more pile narrows the range by less than 0.2 percentage points: 0.1 point costs 5.67 euro or more, and the price keeps rising.</a:t>
            </a:r>
            <a:endParaRPr lang="en-US" sz="1600" dirty="0"/>
          </a:p>
        </p:txBody>
      </p:sp>
      <p:sp>
        <p:nvSpPr>
          <p:cNvPr id="10" name="Shape 7"/>
          <p:cNvSpPr/>
          <p:nvPr/>
        </p:nvSpPr>
        <p:spPr>
          <a:xfrm>
            <a:off x="7589520" y="4709160"/>
            <a:ext cx="4069080" cy="1463040"/>
          </a:xfrm>
          <a:prstGeom prst="roundRect">
            <a:avLst>
              <a:gd name="adj" fmla="val 7500"/>
            </a:avLst>
          </a:prstGeom>
          <a:solidFill>
            <a:srgbClr val="FBE3D6"/>
          </a:solidFill>
          <a:ln w="9525">
            <a:solidFill>
              <a:srgbClr val="FBE3D6"/>
            </a:solidFill>
            <a:prstDash val="solid"/>
          </a:ln>
          <a:effectLst>
            <a:outerShdw sx="100000" sy="100000" kx="0" ky="0" algn="bl" rotWithShape="0" blurRad="50800" dist="19050" dir="5400000">
              <a:srgbClr val="000000">
                <a:alpha val="8000"/>
              </a:srgbClr>
            </a:outerShdw>
          </a:effectLst>
        </p:spPr>
      </p:sp>
      <p:sp>
        <p:nvSpPr>
          <p:cNvPr id="11" name="Text 8"/>
          <p:cNvSpPr txBox="1"/>
          <p:nvPr/>
        </p:nvSpPr>
        <p:spPr>
          <a:xfrm>
            <a:off x="7754112" y="4818888"/>
            <a:ext cx="3739896" cy="124358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Spend the money elsewhere</a:t>
            </a:r>
            <a:endParaRPr lang="en-US" sz="1600" dirty="0"/>
          </a:p>
          <a:p>
            <a:pPr indent="0" marL="0">
              <a:spcBef>
                <a:spcPts val="400"/>
              </a:spcBef>
              <a:buNone/>
            </a:pPr>
            <a:r>
              <a:rPr lang="en-US" sz="1200" dirty="0">
                <a:solidFill>
                  <a:srgbClr val="253027"/>
                </a:solidFill>
                <a:latin typeface="Calibri" pitchFamily="34" charset="0"/>
                <a:ea typeface="Calibri" pitchFamily="34" charset="-122"/>
                <a:cs typeface="Calibri" pitchFamily="34" charset="-120"/>
              </a:rPr>
              <a:t>A 0.01 g scale, and a new calibration (about 10 piles, about 100 euro) per seed lot. An extra photo of the same pile costs 0.25 euro but helps little.</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What we would do next</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IMPROVEMENTS</a:t>
            </a:r>
            <a:endParaRPr lang="en-US" sz="1100" dirty="0"/>
          </a:p>
        </p:txBody>
      </p:sp>
      <p:sp>
        <p:nvSpPr>
          <p:cNvPr id="4" name="Shape 2"/>
          <p:cNvSpPr/>
          <p:nvPr/>
        </p:nvSpPr>
        <p:spPr>
          <a:xfrm>
            <a:off x="548640" y="1280160"/>
            <a:ext cx="3566160" cy="2011680"/>
          </a:xfrm>
          <a:prstGeom prst="roundRect">
            <a:avLst>
              <a:gd name="adj" fmla="val 5455"/>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5" name="Text 3"/>
          <p:cNvSpPr txBox="1"/>
          <p:nvPr/>
        </p:nvSpPr>
        <p:spPr>
          <a:xfrm>
            <a:off x="713232" y="1389888"/>
            <a:ext cx="3236976" cy="179222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1  Hand-count piles with markers</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Our 3 hand-counted batches had no markers: count again with the markers for a clean detector error.</a:t>
            </a:r>
            <a:endParaRPr lang="en-US" sz="1600" dirty="0"/>
          </a:p>
        </p:txBody>
      </p:sp>
      <p:sp>
        <p:nvSpPr>
          <p:cNvPr id="6" name="Shape 4"/>
          <p:cNvSpPr/>
          <p:nvPr/>
        </p:nvSpPr>
        <p:spPr>
          <a:xfrm>
            <a:off x="4297680" y="1280160"/>
            <a:ext cx="3566160" cy="2011680"/>
          </a:xfrm>
          <a:prstGeom prst="roundRect">
            <a:avLst>
              <a:gd name="adj" fmla="val 5455"/>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7" name="Text 5"/>
          <p:cNvSpPr txBox="1"/>
          <p:nvPr/>
        </p:nvSpPr>
        <p:spPr>
          <a:xfrm>
            <a:off x="4462272" y="1389888"/>
            <a:ext cx="3236976" cy="179222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2  Measure with and without hulls</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Shows how much the hulls add; we only measured seeds with hulls.</a:t>
            </a:r>
            <a:endParaRPr lang="en-US" sz="1600" dirty="0"/>
          </a:p>
        </p:txBody>
      </p:sp>
      <p:sp>
        <p:nvSpPr>
          <p:cNvPr id="8" name="Shape 6"/>
          <p:cNvSpPr/>
          <p:nvPr/>
        </p:nvSpPr>
        <p:spPr>
          <a:xfrm>
            <a:off x="8046720" y="1280160"/>
            <a:ext cx="3566160" cy="2011680"/>
          </a:xfrm>
          <a:prstGeom prst="roundRect">
            <a:avLst>
              <a:gd name="adj" fmla="val 5455"/>
            </a:avLst>
          </a:prstGeom>
          <a:solidFill>
            <a:srgbClr val="FBE3D6"/>
          </a:solidFill>
          <a:ln w="9525">
            <a:solidFill>
              <a:srgbClr val="FBE3D6"/>
            </a:solidFill>
            <a:prstDash val="solid"/>
          </a:ln>
          <a:effectLst>
            <a:outerShdw sx="100000" sy="100000" kx="0" ky="0" algn="bl" rotWithShape="0" blurRad="50800" dist="19050" dir="5400000">
              <a:srgbClr val="000000">
                <a:alpha val="8000"/>
              </a:srgbClr>
            </a:outerShdw>
          </a:effectLst>
        </p:spPr>
      </p:sp>
      <p:sp>
        <p:nvSpPr>
          <p:cNvPr id="9" name="Text 7"/>
          <p:cNvSpPr txBox="1"/>
          <p:nvPr/>
        </p:nvSpPr>
        <p:spPr>
          <a:xfrm>
            <a:off x="8211312" y="1389888"/>
            <a:ext cx="3236976" cy="179222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3  Better scale, and check rounding</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A 0.01 g scale shows seed-to-seed weight; coins of known weight show if the scale rounds or cuts off.</a:t>
            </a:r>
            <a:endParaRPr lang="en-US" sz="1600" dirty="0"/>
          </a:p>
        </p:txBody>
      </p:sp>
      <p:sp>
        <p:nvSpPr>
          <p:cNvPr id="10" name="Shape 8"/>
          <p:cNvSpPr/>
          <p:nvPr/>
        </p:nvSpPr>
        <p:spPr>
          <a:xfrm>
            <a:off x="548640" y="3520440"/>
            <a:ext cx="3566160" cy="2011680"/>
          </a:xfrm>
          <a:prstGeom prst="roundRect">
            <a:avLst>
              <a:gd name="adj" fmla="val 5455"/>
            </a:avLst>
          </a:prstGeom>
          <a:solidFill>
            <a:srgbClr val="E2ECDB"/>
          </a:solidFill>
          <a:ln w="9525">
            <a:solidFill>
              <a:srgbClr val="E2ECDB"/>
            </a:solidFill>
            <a:prstDash val="solid"/>
          </a:ln>
          <a:effectLst>
            <a:outerShdw sx="100000" sy="100000" kx="0" ky="0" algn="bl" rotWithShape="0" blurRad="50800" dist="19050" dir="5400000">
              <a:srgbClr val="000000">
                <a:alpha val="8000"/>
              </a:srgbClr>
            </a:outerShdw>
          </a:effectLst>
        </p:spPr>
      </p:sp>
      <p:sp>
        <p:nvSpPr>
          <p:cNvPr id="11" name="Text 9"/>
          <p:cNvSpPr txBox="1"/>
          <p:nvPr/>
        </p:nvSpPr>
        <p:spPr>
          <a:xfrm>
            <a:off x="713232" y="3630168"/>
            <a:ext cx="3236976" cy="179222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4  Coin, card or A4 as ruler</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Build and test them, so no user needs our printed sheet.</a:t>
            </a:r>
            <a:endParaRPr lang="en-US" sz="1600" dirty="0"/>
          </a:p>
        </p:txBody>
      </p:sp>
      <p:sp>
        <p:nvSpPr>
          <p:cNvPr id="12" name="Shape 10"/>
          <p:cNvSpPr/>
          <p:nvPr/>
        </p:nvSpPr>
        <p:spPr>
          <a:xfrm>
            <a:off x="4297680" y="3520440"/>
            <a:ext cx="3566160" cy="2011680"/>
          </a:xfrm>
          <a:prstGeom prst="roundRect">
            <a:avLst>
              <a:gd name="adj" fmla="val 5455"/>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13" name="Text 11"/>
          <p:cNvSpPr txBox="1"/>
          <p:nvPr/>
        </p:nvSpPr>
        <p:spPr>
          <a:xfrm>
            <a:off x="4462272" y="3630168"/>
            <a:ext cx="3236976" cy="179222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5  Other crops and seed lots</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Per crop: measure grams per seed and the typical seed length on about 10 piles.</a:t>
            </a:r>
            <a:endParaRPr lang="en-US" sz="1600" dirty="0"/>
          </a:p>
        </p:txBody>
      </p:sp>
      <p:sp>
        <p:nvSpPr>
          <p:cNvPr id="14" name="Shape 12"/>
          <p:cNvSpPr/>
          <p:nvPr/>
        </p:nvSpPr>
        <p:spPr>
          <a:xfrm>
            <a:off x="8046720" y="3520440"/>
            <a:ext cx="3566160" cy="2011680"/>
          </a:xfrm>
          <a:prstGeom prst="roundRect">
            <a:avLst>
              <a:gd name="adj" fmla="val 5455"/>
            </a:avLst>
          </a:prstGeom>
          <a:solidFill>
            <a:srgbClr val="FBE3D6"/>
          </a:solidFill>
          <a:ln w="9525">
            <a:solidFill>
              <a:srgbClr val="FBE3D6"/>
            </a:solidFill>
            <a:prstDash val="solid"/>
          </a:ln>
          <a:effectLst>
            <a:outerShdw sx="100000" sy="100000" kx="0" ky="0" algn="bl" rotWithShape="0" blurRad="50800" dist="19050" dir="5400000">
              <a:srgbClr val="000000">
                <a:alpha val="8000"/>
              </a:srgbClr>
            </a:outerShdw>
          </a:effectLst>
        </p:spPr>
      </p:sp>
      <p:sp>
        <p:nvSpPr>
          <p:cNvPr id="15" name="Text 13"/>
          <p:cNvSpPr txBox="1"/>
          <p:nvPr/>
        </p:nvSpPr>
        <p:spPr>
          <a:xfrm>
            <a:off x="8211312" y="3630168"/>
            <a:ext cx="3236976" cy="179222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6  Use a checklist while working</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The procedure was written, but steps were missed when it was not at hand.</a:t>
            </a:r>
            <a:endParaRPr lang="en-US" sz="1600" dirty="0"/>
          </a:p>
        </p:txBody>
      </p:sp>
      <p:sp>
        <p:nvSpPr>
          <p:cNvPr id="16" name="Text 14"/>
          <p:cNvSpPr txBox="1"/>
          <p:nvPr/>
        </p:nvSpPr>
        <p:spPr>
          <a:xfrm>
            <a:off x="548640" y="5806440"/>
            <a:ext cx="11109960" cy="457200"/>
          </a:xfrm>
          <a:prstGeom prst="rect">
            <a:avLst/>
          </a:prstGeom>
          <a:noFill/>
          <a:ln/>
        </p:spPr>
        <p:txBody>
          <a:bodyPr wrap="square" lIns="0" tIns="0" rIns="0" bIns="0" rtlCol="0" anchor="ctr"/>
          <a:lstStyle/>
          <a:p>
            <a:pPr indent="0" marL="0">
              <a:buNone/>
            </a:pPr>
            <a:r>
              <a:rPr lang="en-US" sz="1500" b="1" dirty="0">
                <a:solidFill>
                  <a:srgbClr val="2D5B3F"/>
                </a:solidFill>
                <a:latin typeface="Calibri" pitchFamily="34" charset="0"/>
                <a:ea typeface="Calibri" pitchFamily="34" charset="-122"/>
                <a:cs typeface="Calibri" pitchFamily="34" charset="-120"/>
              </a:rPr>
              <a:t>Main lesson: measure every variable, then put the result where the user meets it: in the procedure and in the app.</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The six course tasks, and the live demo</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SUMMARY</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109960" cy="914400"/>
        </p:xfrm>
        <a:graphic>
          <a:graphicData uri="http://schemas.openxmlformats.org/drawingml/2006/table">
            <a:tbl>
              <a:tblPr/>
              <a:tblGrid>
                <a:gridCol w="3291840"/>
                <a:gridCol w="2743200"/>
                <a:gridCol w="507492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Where</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Answer in one line</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2D5B3F"/>
                    </a:solidFill>
                  </a:tcPr>
                </a:tc>
              </a:tr>
              <a:tr h="50292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1  Plan the collection</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Slides 3 to 5</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Procedure version 3; every rule from a measured problem</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2  Feature and number of samples</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Slides 8 and 13</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Count of sunflower boxes; about 10 piles</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3  Bounds and error propagation</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Slide 9</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±8.7 % for one photo; the photo is not the main error</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4  Team-mate repeats</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Slide 10</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Jia: 9 of 9 piles inside the bounds</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5  Report</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This deck and the repository</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All numbers can be rebuilt from the code</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6  Deployment</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Now: live demo</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c>
                  <a:txBody>
                    <a:bodyPr/>
                    <a:lstStyle/>
                    <a:p>
                      <a:pPr indent="0" marL="0">
                        <a:buNone/>
                      </a:pPr>
                      <a:r>
                        <a:rPr lang="en-US" sz="1400" dirty="0">
                          <a:solidFill>
                            <a:srgbClr val="253027"/>
                          </a:solidFill>
                          <a:latin typeface="Calibri" pitchFamily="34" charset="0"/>
                          <a:ea typeface="Calibri" pitchFamily="34" charset="-122"/>
                          <a:cs typeface="Calibri" pitchFamily="34" charset="-120"/>
                        </a:rPr>
                        <a:t>You take a photo with your phone, following the instructions in the app</a:t>
                      </a:r>
                      <a:endParaRPr lang="en-US" sz="1400" dirty="0">
                        <a:latin typeface="Calibri" charset="0"/>
                        <a:ea typeface="Calibri" charset="0"/>
                        <a:cs typeface="Calibri" charset="0"/>
                      </a:endParaRPr>
                    </a:p>
                  </a:txBody>
                  <a:tcPr marL="91440" marR="91440" marT="45720" marB="45720">
                    <a:lnL w="9525" cap="flat" cmpd="sng" algn="ctr">
                      <a:solidFill>
                        <a:srgbClr val="E6E1D3"/>
                      </a:solidFill>
                      <a:prstDash val="solid"/>
                      <a:round/>
                      <a:headEnd type="none" w="med" len="med"/>
                      <a:tailEnd type="none" w="med" len="med"/>
                    </a:lnL>
                    <a:lnR w="9525" cap="flat" cmpd="sng" algn="ctr">
                      <a:solidFill>
                        <a:srgbClr val="E6E1D3"/>
                      </a:solidFill>
                      <a:prstDash val="solid"/>
                      <a:round/>
                      <a:headEnd type="none" w="med" len="med"/>
                      <a:tailEnd type="none" w="med" len="med"/>
                    </a:lnR>
                    <a:lnT w="9525" cap="flat" cmpd="sng" algn="ctr">
                      <a:solidFill>
                        <a:srgbClr val="E6E1D3"/>
                      </a:solidFill>
                      <a:prstDash val="solid"/>
                      <a:round/>
                      <a:headEnd type="none" w="med" len="med"/>
                      <a:tailEnd type="none" w="med" len="med"/>
                    </a:lnT>
                    <a:lnB w="9525" cap="flat" cmpd="sng" algn="ctr">
                      <a:solidFill>
                        <a:srgbClr val="E6E1D3"/>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074920"/>
            <a:ext cx="11109960" cy="1097280"/>
          </a:xfrm>
          <a:prstGeom prst="roundRect">
            <a:avLst>
              <a:gd name="adj" fmla="val 10000"/>
            </a:avLst>
          </a:prstGeom>
          <a:solidFill>
            <a:srgbClr val="FFF1BE"/>
          </a:solidFill>
          <a:ln w="9525">
            <a:solidFill>
              <a:srgbClr val="FFF1BE"/>
            </a:solidFill>
            <a:prstDash val="solid"/>
          </a:ln>
          <a:effectLst>
            <a:outerShdw sx="100000" sy="100000" kx="0" ky="0" algn="bl" rotWithShape="0" blurRad="50800" dist="19050" dir="5400000">
              <a:srgbClr val="000000">
                <a:alpha val="8000"/>
              </a:srgbClr>
            </a:outerShdw>
          </a:effectLst>
        </p:spPr>
      </p:sp>
      <p:sp>
        <p:nvSpPr>
          <p:cNvPr id="6" name="Text 3"/>
          <p:cNvSpPr txBox="1"/>
          <p:nvPr/>
        </p:nvSpPr>
        <p:spPr>
          <a:xfrm>
            <a:off x="713232" y="5184648"/>
            <a:ext cx="10780776" cy="877824"/>
          </a:xfrm>
          <a:prstGeom prst="rect">
            <a:avLst/>
          </a:prstGeom>
          <a:noFill/>
          <a:ln/>
        </p:spPr>
        <p:txBody>
          <a:bodyPr wrap="square" lIns="0" tIns="0" rIns="0" bIns="0" rtlCol="0" anchor="t"/>
          <a:lstStyle/>
          <a:p>
            <a:pPr indent="0" marL="0">
              <a:buNone/>
            </a:pPr>
            <a:r>
              <a:rPr lang="en-US" sz="1600" b="1" dirty="0">
                <a:solidFill>
                  <a:srgbClr val="2D5B3F"/>
                </a:solidFill>
                <a:latin typeface="Calibri" pitchFamily="34" charset="0"/>
                <a:ea typeface="Calibri" pitchFamily="34" charset="-122"/>
                <a:cs typeface="Calibri" pitchFamily="34" charset="-120"/>
              </a:rPr>
              <a:t>Demo</a:t>
            </a:r>
            <a:endParaRPr lang="en-US" sz="1600" dirty="0"/>
          </a:p>
          <a:p>
            <a:pPr indent="0" marL="0">
              <a:spcBef>
                <a:spcPts val="400"/>
              </a:spcBef>
              <a:buNone/>
            </a:pPr>
            <a:r>
              <a:rPr lang="en-US" sz="1400" dirty="0">
                <a:solidFill>
                  <a:srgbClr val="253027"/>
                </a:solidFill>
                <a:latin typeface="Calibri" pitchFamily="34" charset="0"/>
                <a:ea typeface="Calibri" pitchFamily="34" charset="-122"/>
                <a:cs typeface="Calibri" pitchFamily="34" charset="-120"/>
              </a:rPr>
              <a:t>Your phone, our app: the result shows the weight, its range, and one light with one sentence. Try one photo with the marker sheet and one without.</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9509760" cy="685800"/>
          </a:xfrm>
          <a:prstGeom prst="rect">
            <a:avLst/>
          </a:prstGeom>
          <a:noFill/>
          <a:ln/>
        </p:spPr>
        <p:txBody>
          <a:bodyPr wrap="square" lIns="0" tIns="0" rIns="0" bIns="0" rtlCol="0" anchor="ctr"/>
          <a:lstStyle/>
          <a:p>
            <a:pPr indent="0" marL="0">
              <a:buNone/>
            </a:pPr>
            <a:r>
              <a:rPr lang="en-US" sz="3000" b="1" dirty="0">
                <a:solidFill>
                  <a:srgbClr val="2D5B3F"/>
                </a:solidFill>
                <a:latin typeface="Cambria" pitchFamily="34" charset="0"/>
                <a:ea typeface="Cambria" pitchFamily="34" charset="-122"/>
                <a:cs typeface="Cambria" pitchFamily="34" charset="-120"/>
              </a:rPr>
              <a:t>Sources and files</a:t>
            </a:r>
            <a:endParaRPr lang="en-US" sz="3000" dirty="0"/>
          </a:p>
        </p:txBody>
      </p:sp>
      <p:sp>
        <p:nvSpPr>
          <p:cNvPr id="3" name="Text 1"/>
          <p:cNvSpPr txBox="1"/>
          <p:nvPr/>
        </p:nvSpPr>
        <p:spPr>
          <a:xfrm>
            <a:off x="9692640" y="411480"/>
            <a:ext cx="2011680" cy="365760"/>
          </a:xfrm>
          <a:prstGeom prst="rect">
            <a:avLst/>
          </a:prstGeom>
          <a:noFill/>
          <a:ln/>
        </p:spPr>
        <p:txBody>
          <a:bodyPr wrap="square" lIns="0" tIns="0" rIns="0" bIns="0" rtlCol="0" anchor="ctr"/>
          <a:lstStyle/>
          <a:p>
            <a:pPr algn="r" indent="0" marL="0">
              <a:buNone/>
            </a:pPr>
            <a:r>
              <a:rPr lang="en-US" sz="1100" b="1" spc="200" kern="0" dirty="0">
                <a:solidFill>
                  <a:srgbClr val="DC8F14"/>
                </a:solidFill>
                <a:latin typeface="Calibri" pitchFamily="34" charset="0"/>
                <a:ea typeface="Calibri" pitchFamily="34" charset="-122"/>
                <a:cs typeface="Calibri" pitchFamily="34" charset="-120"/>
              </a:rPr>
              <a:t>APPENDIX</a:t>
            </a:r>
            <a:endParaRPr lang="en-US" sz="1100" dirty="0"/>
          </a:p>
        </p:txBody>
      </p:sp>
      <p:sp>
        <p:nvSpPr>
          <p:cNvPr id="4" name="Text 2"/>
          <p:cNvSpPr txBox="1"/>
          <p:nvPr/>
        </p:nvSpPr>
        <p:spPr>
          <a:xfrm>
            <a:off x="548640" y="1280160"/>
            <a:ext cx="10972800" cy="4754880"/>
          </a:xfrm>
          <a:prstGeom prst="rect">
            <a:avLst/>
          </a:prstGeom>
          <a:noFill/>
          <a:ln/>
        </p:spPr>
        <p:txBody>
          <a:bodyPr wrap="square" rtlCol="0" anchor="t"/>
          <a:lstStyle/>
          <a:p>
            <a:pPr marL="342900" indent="-342900">
              <a:spcAft>
                <a:spcPts val="600"/>
              </a:spcAft>
              <a:buSzPct val="100000"/>
              <a:buChar char="•"/>
            </a:pPr>
            <a:r>
              <a:rPr lang="en-US" sz="1600" dirty="0">
                <a:solidFill>
                  <a:srgbClr val="253027"/>
                </a:solidFill>
                <a:latin typeface="Calibri" pitchFamily="34" charset="0"/>
                <a:ea typeface="Calibri" pitchFamily="34" charset="-122"/>
                <a:cs typeface="Calibri" pitchFamily="34" charset="-120"/>
              </a:rPr>
              <a:t>Repository: github.com/HadiNasooti/cnh-sunflower-weight (code, data, results)</a:t>
            </a:r>
            <a:endParaRPr lang="en-US" sz="1600" dirty="0"/>
          </a:p>
          <a:p>
            <a:pPr marL="342900" indent="-342900">
              <a:spcAft>
                <a:spcPts val="600"/>
              </a:spcAft>
              <a:buSzPct val="100000"/>
              <a:buChar char="•"/>
            </a:pPr>
            <a:r>
              <a:rPr lang="en-US" sz="1600" dirty="0">
                <a:solidFill>
                  <a:srgbClr val="253027"/>
                </a:solidFill>
                <a:latin typeface="Calibri" pitchFamily="34" charset="0"/>
                <a:ea typeface="Calibri" pitchFamily="34" charset="-122"/>
                <a:cs typeface="Calibri" pitchFamily="34" charset="-120"/>
              </a:rPr>
              <a:t>Procedure version 3: docs/group/PROCEDURE.md; all variables: docs/group/VARIABLES.md</a:t>
            </a:r>
            <a:endParaRPr lang="en-US" sz="1600" dirty="0"/>
          </a:p>
          <a:p>
            <a:pPr marL="342900" indent="-342900">
              <a:spcAft>
                <a:spcPts val="600"/>
              </a:spcAft>
              <a:buSzPct val="100000"/>
              <a:buChar char="•"/>
            </a:pPr>
            <a:r>
              <a:rPr lang="en-US" sz="1600" dirty="0">
                <a:solidFill>
                  <a:srgbClr val="253027"/>
                </a:solidFill>
                <a:latin typeface="Calibri" pitchFamily="34" charset="0"/>
                <a:ea typeface="Calibri" pitchFamily="34" charset="-122"/>
                <a:cs typeface="Calibri" pitchFamily="34" charset="-120"/>
              </a:rPr>
              <a:t>Results per photo and per pile: analysis/results/2026-10-22_analysis/ (per_photo.csv, per_pile.csv)</a:t>
            </a:r>
            <a:endParaRPr lang="en-US" sz="1600" dirty="0"/>
          </a:p>
          <a:p>
            <a:pPr marL="342900" indent="-342900">
              <a:spcAft>
                <a:spcPts val="600"/>
              </a:spcAft>
              <a:buSzPct val="100000"/>
              <a:buChar char="•"/>
            </a:pPr>
            <a:r>
              <a:rPr lang="en-US" sz="1600" dirty="0">
                <a:solidFill>
                  <a:srgbClr val="253027"/>
                </a:solidFill>
                <a:latin typeface="Calibri" pitchFamily="34" charset="0"/>
                <a:ea typeface="Calibri" pitchFamily="34" charset="-122"/>
                <a:cs typeface="Calibri" pitchFamily="34" charset="-120"/>
              </a:rPr>
              <a:t>Business case: analysis/business_case.py; seeds as ruler: analysis/seed_scale_test.py</a:t>
            </a:r>
            <a:endParaRPr lang="en-US" sz="1600" dirty="0"/>
          </a:p>
          <a:p>
            <a:pPr marL="342900" indent="-342900">
              <a:spcAft>
                <a:spcPts val="600"/>
              </a:spcAft>
              <a:buSzPct val="100000"/>
              <a:buChar char="•"/>
            </a:pPr>
            <a:r>
              <a:rPr lang="en-US" sz="1600" dirty="0">
                <a:solidFill>
                  <a:srgbClr val="253027"/>
                </a:solidFill>
                <a:latin typeface="Calibri" pitchFamily="34" charset="0"/>
                <a:ea typeface="Calibri" pitchFamily="34" charset="-122"/>
                <a:cs typeface="Calibri" pitchFamily="34" charset="-120"/>
              </a:rPr>
              <a:t>App checks: detkit/quality.py; checked on all 59 photos by analysis/validate_light.py</a:t>
            </a:r>
            <a:endParaRPr lang="en-US" sz="1600" dirty="0"/>
          </a:p>
          <a:p>
            <a:pPr marL="342900" indent="-342900">
              <a:spcAft>
                <a:spcPts val="600"/>
              </a:spcAft>
              <a:buSzPct val="100000"/>
              <a:buChar char="•"/>
            </a:pPr>
            <a:r>
              <a:rPr lang="en-US" sz="1600" dirty="0">
                <a:solidFill>
                  <a:srgbClr val="253027"/>
                </a:solidFill>
                <a:latin typeface="Calibri" pitchFamily="34" charset="0"/>
                <a:ea typeface="Calibri" pitchFamily="34" charset="-122"/>
                <a:cs typeface="Calibri" pitchFamily="34" charset="-120"/>
              </a:rPr>
              <a:t>Labour cost: Eurostat, hourly labour costs 2024 (Belgium 48.2 euro per hour)</a:t>
            </a:r>
            <a:endParaRPr lang="en-US" sz="1600" dirty="0"/>
          </a:p>
          <a:p>
            <a:pPr marL="342900" indent="-342900">
              <a:spcAft>
                <a:spcPts val="600"/>
              </a:spcAft>
              <a:buSzPct val="100000"/>
              <a:buChar char="•"/>
            </a:pPr>
            <a:r>
              <a:rPr lang="en-US" sz="1600" dirty="0">
                <a:solidFill>
                  <a:srgbClr val="253027"/>
                </a:solidFill>
                <a:latin typeface="Calibri" pitchFamily="34" charset="0"/>
                <a:ea typeface="Calibri" pitchFamily="34" charset="-122"/>
                <a:cs typeface="Calibri" pitchFamily="34" charset="-120"/>
              </a:rPr>
              <a:t>Bank card size: ISO/IEC 7810 ID-1</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06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sunflower seeds to a weight estimate</dc:title>
  <dc:subject>CNH Data Collection project, KU Leuven</dc:subject>
  <dc:creator>Hadi Nasooti and Jia</dc:creator>
  <cp:lastModifiedBy>Hadi Nasooti and Jia</cp:lastModifiedBy>
  <cp:revision>1</cp:revision>
  <dcterms:created xsi:type="dcterms:W3CDTF">2026-10-22T21:32:07Z</dcterms:created>
  <dcterms:modified xsi:type="dcterms:W3CDTF">2026-10-22T21:32:07Z</dcterms:modified>
</cp:coreProperties>
</file>