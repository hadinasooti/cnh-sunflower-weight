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72" r:id="rId24"/>
    <p:sldId id="273" r:id="rId25"/>
    <p:sldId id="274" r:id="rId26"/>
    <p:sldId id="275" r:id="rId27"/>
    <p:sldId id="276" r:id="rId28"/>
    <p:sldId id="279" r:id="rId31"/>
    <p:sldId id="277" r:id="rId29"/>
    <p:sldId id="278" r:id="rId30"/>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b="def" i="def"/>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b="def" i="def"/>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standalone='yes'?>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0">
                <a:solidFill>
                  <a:srgbClr val="2D5B3F"/>
                </a:solidFill>
                <a:latin typeface="Calibri"/>
              </a:rPr>
              <a:t>Same untouched pile, 16 photos: seeds counted</a:t>
            </a:r>
          </a:p>
        </c:rich>
      </c:tx>
      <c:layout/>
      <c:overlay val="0"/>
    </c:title>
    <c:autoTitleDeleted val="0"/>
    <c:plotArea>
      <c:barChart>
        <c:barDir val="col"/>
        <c:grouping val="clustered"/>
        <c:ser>
          <c:idx val="0"/>
          <c:order val="0"/>
          <c:tx>
            <c:strRef>
              <c:f>Sheet1!$B$1</c:f>
              <c:strCache>
                <c:ptCount val="1"/>
                <c:pt idx="0">
                  <c:v>Photo as taken</c:v>
                </c:pt>
              </c:strCache>
            </c:strRef>
          </c:tx>
          <c:spPr>
            <a:solidFill>
              <a:srgbClr val="DC8F14"/>
            </a:solidFill>
          </c:spPr>
          <c:cat>
            <c:strRef>
              <c:f>Sheet1!$A$2:$A$17</c:f>
              <c:strCache>
                <c:ptCount val="16"/>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strCache>
            </c:strRef>
          </c:cat>
          <c:val>
            <c:numRef>
              <c:f>Sheet1!$B$2:$B$17</c:f>
              <c:numCache>
                <c:formatCode>General</c:formatCode>
                <c:ptCount val="16"/>
                <c:pt idx="0">
                  <c:v>206</c:v>
                </c:pt>
                <c:pt idx="1">
                  <c:v>112</c:v>
                </c:pt>
                <c:pt idx="2">
                  <c:v>262</c:v>
                </c:pt>
                <c:pt idx="3">
                  <c:v>234</c:v>
                </c:pt>
                <c:pt idx="4">
                  <c:v>228</c:v>
                </c:pt>
                <c:pt idx="5">
                  <c:v>213</c:v>
                </c:pt>
                <c:pt idx="6">
                  <c:v>234</c:v>
                </c:pt>
                <c:pt idx="7">
                  <c:v>255</c:v>
                </c:pt>
                <c:pt idx="8">
                  <c:v>259</c:v>
                </c:pt>
                <c:pt idx="9">
                  <c:v>290</c:v>
                </c:pt>
                <c:pt idx="10">
                  <c:v>289</c:v>
                </c:pt>
                <c:pt idx="11">
                  <c:v>290</c:v>
                </c:pt>
                <c:pt idx="12">
                  <c:v>272</c:v>
                </c:pt>
                <c:pt idx="13">
                  <c:v>268</c:v>
                </c:pt>
                <c:pt idx="14">
                  <c:v>286</c:v>
                </c:pt>
                <c:pt idx="15">
                  <c:v>292</c:v>
                </c:pt>
              </c:numCache>
            </c:numRef>
          </c:val>
        </c:ser>
        <c:ser>
          <c:idx val="1"/>
          <c:order val="1"/>
          <c:tx>
            <c:strRef>
              <c:f>Sheet1!$C$1</c:f>
              <c:strCache>
                <c:ptCount val="1"/>
                <c:pt idx="0">
                  <c:v>Fixed scale (0.110 mm per pixel)</c:v>
                </c:pt>
              </c:strCache>
            </c:strRef>
          </c:tx>
          <c:spPr>
            <a:solidFill>
              <a:srgbClr val="2D5B3F"/>
            </a:solidFill>
          </c:spPr>
          <c:cat>
            <c:strRef>
              <c:f>Sheet1!$A$2:$A$17</c:f>
              <c:strCache>
                <c:ptCount val="16"/>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strCache>
            </c:strRef>
          </c:cat>
          <c:val>
            <c:numRef>
              <c:f>Sheet1!$C$2:$C$17</c:f>
              <c:numCache>
                <c:formatCode>General</c:formatCode>
                <c:ptCount val="16"/>
                <c:pt idx="0">
                  <c:v>288</c:v>
                </c:pt>
                <c:pt idx="1">
                  <c:v>289</c:v>
                </c:pt>
                <c:pt idx="2">
                  <c:v>292</c:v>
                </c:pt>
                <c:pt idx="3">
                  <c:v>287</c:v>
                </c:pt>
                <c:pt idx="4">
                  <c:v>287</c:v>
                </c:pt>
                <c:pt idx="5">
                  <c:v>298</c:v>
                </c:pt>
                <c:pt idx="6">
                  <c:v>289</c:v>
                </c:pt>
                <c:pt idx="7">
                  <c:v>287</c:v>
                </c:pt>
                <c:pt idx="8">
                  <c:v>288</c:v>
                </c:pt>
                <c:pt idx="9">
                  <c:v>294</c:v>
                </c:pt>
                <c:pt idx="10">
                  <c:v>290</c:v>
                </c:pt>
                <c:pt idx="11">
                  <c:v>290</c:v>
                </c:pt>
                <c:pt idx="12">
                  <c:v>289</c:v>
                </c:pt>
                <c:pt idx="13">
                  <c:v>290</c:v>
                </c:pt>
                <c:pt idx="14">
                  <c:v>291</c:v>
                </c:pt>
                <c:pt idx="15">
                  <c:v>283</c:v>
                </c:pt>
              </c:numCache>
            </c:numRef>
          </c:val>
        </c:ser>
        <c:axId val="-2068027336"/>
        <c:axId val="-2113994440"/>
      </c:barChart>
      <c:catAx>
        <c:axId val="-2068027336"/>
        <c:scaling>
          <c:orientation val="minMax"/>
        </c:scaling>
        <c:delete val="0"/>
        <c:axPos val="b"/>
        <c:title>
          <c:tx>
            <c:rich>
              <a:bodyPr/>
              <a:lstStyle/>
              <a:p>
                <a:r>
                  <a:t>photo (2 persons, 2 phones, 2 heights)</a:t>
                </a:r>
              </a:p>
            </c:rich>
          </c:tx>
          <c:layout/>
          <c:overlay val="0"/>
        </c:title>
        <c:majorTickMark val="out"/>
        <c:minorTickMark val="none"/>
        <c:tickLblPos val="nextTo"/>
        <c:spPr>
          <a:ln>
            <a:solidFill>
              <a:srgbClr val="E6E1D3"/>
            </a:solidFill>
          </a:ln>
        </c:spPr>
        <c:crossAx val="-2113994440"/>
        <c:crosses val="autoZero"/>
        <c:auto val="1"/>
        <c:lblAlgn val="ctr"/>
        <c:lblOffset val="100"/>
        <c:noMultiLvlLbl val="0"/>
      </c:catAx>
      <c:valAx>
        <c:axId val="-2113994440"/>
        <c:scaling>
          <c:max val="320.0"/>
          <c:min val="0.0"/>
        </c:scaling>
        <c:delete val="0"/>
        <c:axPos val="l"/>
        <c:majorGridlines>
          <c:spPr>
            <a:ln>
              <a:solidFill>
                <a:srgbClr val="E6E1D3"/>
              </a:solidFill>
            </a:ln>
          </c:spPr>
        </c:majorGridlines>
        <c:majorTickMark val="out"/>
        <c:minorTickMark val="none"/>
        <c:tickLblPos val="nextTo"/>
        <c:spPr>
          <a:ln>
            <a:solidFill>
              <a:srgbClr val="E6E1D3"/>
            </a:solidFill>
          </a:ln>
        </c:spPr>
        <c:crossAx val="-2068027336"/>
        <c:crosses val="autoZero"/>
      </c:valAx>
    </c:plotArea>
    <c:legend>
      <c:legendPos val="b"/>
      <c:overlay val="0"/>
    </c:legend>
    <c:dispBlanksAs val="gap"/>
  </c:chart>
  <c:txPr>
    <a:bodyPr/>
    <a:lstStyle/>
    <a:p>
      <a:pPr>
        <a:defRPr sz="1100">
          <a:solidFill>
            <a:srgbClr val="687063"/>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0">
                <a:solidFill>
                  <a:srgbClr val="2D5B3F"/>
                </a:solidFill>
                <a:latin typeface="Calibri"/>
              </a:rPr>
              <a:t>Error budget, 17 piles (relative standard deviation, %)</a:t>
            </a:r>
          </a:p>
        </c:rich>
      </c:tx>
      <c:layout/>
      <c:overlay val="0"/>
    </c:title>
    <c:autoTitleDeleted val="0"/>
    <c:plotArea>
      <c:barChart>
        <c:barDir val="bar"/>
        <c:grouping val="clustered"/>
        <c:varyColors/>
        <c:ser>
          <c:idx val="0"/>
          <c:order val="0"/>
          <c:tx>
            <c:strRef>
              <c:f>Sheet1!$B$1</c:f>
              <c:strCache>
                <c:ptCount val="1"/>
                <c:pt idx="0">
                  <c:v>Relative error (%)</c:v>
                </c:pt>
              </c:strCache>
            </c:strRef>
          </c:tx>
          <c:dPt>
            <c:idx val="0"/>
            <c:spPr>
              <a:solidFill>
                <a:srgbClr val="2D5B3F"/>
              </a:solidFill>
            </c:spPr>
          </c:dPt>
          <c:dPt>
            <c:idx val="1"/>
            <c:spPr>
              <a:solidFill>
                <a:srgbClr val="DC8F14"/>
              </a:solidFill>
            </c:spPr>
          </c:dPt>
          <c:dPt>
            <c:idx val="2"/>
            <c:spPr>
              <a:solidFill>
                <a:srgbClr val="F2B705"/>
              </a:solidFill>
            </c:spPr>
          </c:dPt>
          <c:dPt>
            <c:idx val="3"/>
            <c:spPr>
              <a:solidFill>
                <a:srgbClr val="5C3D23"/>
              </a:solidFill>
            </c:spPr>
          </c:dPt>
          <c:cat>
            <c:strRef>
              <c:f>Sheet1!$A$2:$A$5</c:f>
              <c:strCache>
                <c:ptCount val="4"/>
                <c:pt idx="0">
                  <c:v>Total spread between piles</c:v>
                </c:pt>
                <c:pt idx="1">
                  <c:v>Kitchen scale (1 g steps)</c:v>
                </c:pt>
                <c:pt idx="2">
                  <c:v>Photo (mean of 2 photos)</c:v>
                </c:pt>
                <c:pt idx="3">
                  <c:v>Remainder: seeds and the rest</c:v>
                </c:pt>
              </c:strCache>
            </c:strRef>
          </c:cat>
          <c:val>
            <c:numRef>
              <c:f>Sheet1!$B$2:$B$5</c:f>
              <c:numCache>
                <c:formatCode>General</c:formatCode>
                <c:ptCount val="4"/>
                <c:pt idx="0">
                  <c:v>3.99</c:v>
                </c:pt>
                <c:pt idx="1">
                  <c:v>1.73</c:v>
                </c:pt>
                <c:pt idx="2">
                  <c:v>0.93</c:v>
                </c:pt>
                <c:pt idx="3">
                  <c:v>3.47</c:v>
                </c:pt>
              </c:numCache>
            </c:numRef>
          </c:val>
        </c:ser>
        <c:dLbls>
          <c:numFmt formatCode="0.00" sourceLinked="0"/>
          <c:txPr>
            <a:bodyPr/>
            <a:lstStyle/>
            <a:p>
              <a:pPr>
                <a:defRPr sz="1000"/>
              </a:pPr>
            </a:p>
          </c:txPr>
          <c:dLblPos val="outEnd"/>
          <c:showLegendKey val="0"/>
          <c:showVal val="1"/>
          <c:showCatName val="0"/>
          <c:showSerName val="0"/>
          <c:showPercent val="0"/>
          <c:showBubbleSize val="0"/>
          <c:showLeaderLines val="1"/>
        </c:dLbls>
        <c:axId val="-2068027336"/>
        <c:axId val="-2113994440"/>
      </c:barChart>
      <c:catAx>
        <c:axId val="-2068027336"/>
        <c:scaling>
          <c:orientation val="maxMin"/>
        </c:scaling>
        <c:delete val="0"/>
        <c:axPos val="l"/>
        <c:majorTickMark val="out"/>
        <c:minorTickMark val="none"/>
        <c:tickLblPos val="nextTo"/>
        <c:spPr>
          <a:ln>
            <a:solidFill>
              <a:srgbClr val="E6E1D3"/>
            </a:solidFill>
          </a:ln>
        </c:spPr>
        <c:crossAx val="-2113994440"/>
        <c:crosses val="autoZero"/>
        <c:auto val="1"/>
        <c:lblAlgn val="ctr"/>
        <c:lblOffset val="100"/>
        <c:noMultiLvlLbl val="0"/>
      </c:catAx>
      <c:valAx>
        <c:axId val="-2113994440"/>
        <c:scaling>
          <c:max val="5.0"/>
          <c:min val="0.0"/>
        </c:scaling>
        <c:delete val="0"/>
        <c:axPos val="b"/>
        <c:majorGridlines>
          <c:spPr>
            <a:ln>
              <a:solidFill>
                <a:srgbClr val="E6E1D3"/>
              </a:solidFill>
            </a:ln>
          </c:spPr>
        </c:majorGridlines>
        <c:majorTickMark val="out"/>
        <c:minorTickMark val="none"/>
        <c:tickLblPos val="nextTo"/>
        <c:spPr>
          <a:ln>
            <a:solidFill>
              <a:srgbClr val="E6E1D3"/>
            </a:solidFill>
          </a:ln>
        </c:spPr>
        <c:crossAx val="-2068027336"/>
        <c:crosses val="autoZero"/>
      </c:valAx>
    </c:plotArea>
    <c:dispBlanksAs val="gap"/>
  </c:chart>
  <c:txPr>
    <a:bodyPr/>
    <a:lstStyle/>
    <a:p>
      <a:pPr>
        <a:defRPr sz="1100">
          <a:solidFill>
            <a:srgbClr val="687063"/>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0">
                <a:solidFill>
                  <a:srgbClr val="2D5B3F"/>
                </a:solidFill>
                <a:latin typeface="Calibri"/>
              </a:rPr>
              <a:t>Jia's 9 piles, model of 19 Oct (Hadi's 8 piles), not refitted; dashed: the ±10 % bounds</a:t>
            </a:r>
          </a:p>
        </c:rich>
      </c:tx>
      <c:layout/>
      <c:overlay val="0"/>
    </c:title>
    <c:autoTitleDeleted val="0"/>
    <c:plotArea>
      <c:layout>
        <c:manualLayout>
          <c:layoutTarget val="inner"/>
          <c:xMode val="edge"/>
          <c:yMode val="edge"/>
          <c:x val="0.08"/>
          <c:y val="0.14"/>
          <c:w val="0.9"/>
          <c:h val="0.72"/>
        </c:manualLayout>
      </c:layout>
      <c:barChart>
        <c:barDir val="col"/>
        <c:grouping val="clustered"/>
        <c:ser>
          <c:idx val="0"/>
          <c:order val="0"/>
          <c:tx>
            <c:strRef>
              <c:f>Sheet1!$B$1</c:f>
              <c:strCache>
                <c:ptCount val="1"/>
                <c:pt idx="0">
                  <c:v>Error of the prediction (%)</c:v>
                </c:pt>
              </c:strCache>
            </c:strRef>
          </c:tx>
          <c:spPr>
            <a:solidFill>
              <a:srgbClr val="2D5B3F"/>
            </a:solidFill>
          </c:spPr>
          <c:cat>
            <c:strRef>
              <c:f>Sheet1!$A$2:$A$10</c:f>
              <c:strCache>
                <c:ptCount val="9"/>
                <c:pt idx="0">
                  <c:v>T4-01</c:v>
                </c:pt>
                <c:pt idx="1">
                  <c:v>T4-02</c:v>
                </c:pt>
                <c:pt idx="2">
                  <c:v>T4-03</c:v>
                </c:pt>
                <c:pt idx="3">
                  <c:v>T4-04</c:v>
                </c:pt>
                <c:pt idx="4">
                  <c:v>P09</c:v>
                </c:pt>
                <c:pt idx="5">
                  <c:v>P10</c:v>
                </c:pt>
                <c:pt idx="6">
                  <c:v>P11</c:v>
                </c:pt>
                <c:pt idx="7">
                  <c:v>P12</c:v>
                </c:pt>
                <c:pt idx="8">
                  <c:v>P13</c:v>
                </c:pt>
              </c:strCache>
            </c:strRef>
          </c:cat>
          <c:val>
            <c:numRef>
              <c:f>Sheet1!$B$2:$B$10</c:f>
              <c:numCache>
                <c:formatCode>General</c:formatCode>
                <c:ptCount val="9"/>
                <c:pt idx="0">
                  <c:v>-2.5</c:v>
                </c:pt>
                <c:pt idx="1">
                  <c:v>4.3</c:v>
                </c:pt>
                <c:pt idx="2">
                  <c:v>-3.4</c:v>
                </c:pt>
                <c:pt idx="3">
                  <c:v>-6.0</c:v>
                </c:pt>
                <c:pt idx="4">
                  <c:v>-7.4</c:v>
                </c:pt>
                <c:pt idx="5">
                  <c:v>-2.3</c:v>
                </c:pt>
                <c:pt idx="6">
                  <c:v>2.0</c:v>
                </c:pt>
                <c:pt idx="7">
                  <c:v>2.4</c:v>
                </c:pt>
                <c:pt idx="8">
                  <c:v>0.7</c:v>
                </c:pt>
              </c:numCache>
            </c:numRef>
          </c:val>
        </c:ser>
        <c:axId val="-2068027336"/>
        <c:axId val="-2113994440"/>
      </c:barChart>
      <c:catAx>
        <c:axId val="-2068027336"/>
        <c:scaling>
          <c:orientation val="minMax"/>
        </c:scaling>
        <c:delete val="0"/>
        <c:axPos val="b"/>
        <c:majorTickMark val="out"/>
        <c:minorTickMark val="none"/>
        <c:tickLblPos val="low"/>
        <c:spPr>
          <a:ln>
            <a:solidFill>
              <a:srgbClr val="E6E1D3"/>
            </a:solidFill>
          </a:ln>
        </c:spPr>
        <c:crossAx val="-2113994440"/>
        <c:crosses val="autoZero"/>
        <c:auto val="1"/>
        <c:lblAlgn val="ctr"/>
        <c:lblOffset val="100"/>
        <c:noMultiLvlLbl val="0"/>
      </c:catAx>
      <c:valAx>
        <c:axId val="-2113994440"/>
        <c:scaling>
          <c:max val="12.0"/>
          <c:min val="-12.0"/>
        </c:scaling>
        <c:delete val="0"/>
        <c:axPos val="l"/>
        <c:majorGridlines>
          <c:spPr>
            <a:ln>
              <a:solidFill>
                <a:srgbClr val="E6E1D3"/>
              </a:solidFill>
            </a:ln>
          </c:spPr>
        </c:majorGridlines>
        <c:majorTickMark val="out"/>
        <c:minorTickMark val="none"/>
        <c:tickLblPos val="nextTo"/>
        <c:spPr>
          <a:ln>
            <a:solidFill>
              <a:srgbClr val="E6E1D3"/>
            </a:solidFill>
          </a:ln>
        </c:spPr>
        <c:crossAx val="-2068027336"/>
        <c:crosses val="autoZero"/>
        <c:majorUnit val="4.0"/>
      </c:valAx>
    </c:plotArea>
    <c:dispBlanksAs val="gap"/>
  </c:chart>
  <c:txPr>
    <a:bodyPr/>
    <a:lstStyle/>
    <a:p>
      <a:pPr>
        <a:defRPr sz="1100">
          <a:solidFill>
            <a:srgbClr val="687063"/>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0">
                <a:solidFill>
                  <a:srgbClr val="2D5B3F"/>
                </a:solidFill>
                <a:latin typeface="Calibri"/>
              </a:rPr>
              <a:t>95 % range for one photo against the number of piles</a:t>
            </a:r>
          </a:p>
        </c:rich>
      </c:tx>
      <c:layout/>
      <c:overlay val="0"/>
    </c:title>
    <c:autoTitleDeleted val="0"/>
    <c:plotArea>
      <c:lineChart>
        <c:grouping val="standard"/>
        <c:varyColors val="0"/>
        <c:ser>
          <c:idx val="0"/>
          <c:order val="0"/>
          <c:tx>
            <c:strRef>
              <c:f>Sheet1!$B$1</c:f>
              <c:strCache>
                <c:ptCount val="1"/>
                <c:pt idx="0">
                  <c:v>Range for one photo (±%)</c:v>
                </c:pt>
              </c:strCache>
            </c:strRef>
          </c:tx>
          <c:spPr>
            <a:ln w="38100">
              <a:solidFill>
                <a:srgbClr val="2D5B3F"/>
              </a:solidFill>
            </a:ln>
          </c:spPr>
          <c:marker>
            <c:symbol val="none"/>
          </c:marker>
          <c:cat>
            <c:strRef>
              <c:f>Sheet1!$A$2:$A$49</c:f>
              <c:strCache>
                <c:ptCount val="48"/>
                <c:pt idx="0">
                  <c:v>3</c:v>
                </c:pt>
                <c:pt idx="1">
                  <c:v>4</c:v>
                </c:pt>
                <c:pt idx="2">
                  <c:v>5</c:v>
                </c:pt>
                <c:pt idx="3">
                  <c:v>6</c:v>
                </c:pt>
                <c:pt idx="4">
                  <c:v>7</c:v>
                </c:pt>
                <c:pt idx="5">
                  <c:v>8</c:v>
                </c:pt>
                <c:pt idx="6">
                  <c:v>9</c:v>
                </c:pt>
                <c:pt idx="7">
                  <c:v>10</c:v>
                </c:pt>
                <c:pt idx="8">
                  <c:v>11</c:v>
                </c:pt>
                <c:pt idx="9">
                  <c:v>12</c:v>
                </c:pt>
                <c:pt idx="10">
                  <c:v>13</c:v>
                </c:pt>
                <c:pt idx="11">
                  <c:v>14</c:v>
                </c:pt>
                <c:pt idx="12">
                  <c:v>15</c:v>
                </c:pt>
                <c:pt idx="13">
                  <c:v>16</c:v>
                </c:pt>
                <c:pt idx="14">
                  <c:v>17</c:v>
                </c:pt>
                <c:pt idx="15">
                  <c:v>18</c:v>
                </c:pt>
                <c:pt idx="16">
                  <c:v>19</c:v>
                </c:pt>
                <c:pt idx="17">
                  <c:v>20</c:v>
                </c:pt>
                <c:pt idx="18">
                  <c:v>21</c:v>
                </c:pt>
                <c:pt idx="19">
                  <c:v>22</c:v>
                </c:pt>
                <c:pt idx="20">
                  <c:v>23</c:v>
                </c:pt>
                <c:pt idx="21">
                  <c:v>24</c:v>
                </c:pt>
                <c:pt idx="22">
                  <c:v>25</c:v>
                </c:pt>
                <c:pt idx="23">
                  <c:v>26</c:v>
                </c:pt>
                <c:pt idx="24">
                  <c:v>27</c:v>
                </c:pt>
                <c:pt idx="25">
                  <c:v>28</c:v>
                </c:pt>
                <c:pt idx="26">
                  <c:v>29</c:v>
                </c:pt>
                <c:pt idx="27">
                  <c:v>30</c:v>
                </c:pt>
                <c:pt idx="28">
                  <c:v>31</c:v>
                </c:pt>
                <c:pt idx="29">
                  <c:v>32</c:v>
                </c:pt>
                <c:pt idx="30">
                  <c:v>33</c:v>
                </c:pt>
                <c:pt idx="31">
                  <c:v>34</c:v>
                </c:pt>
                <c:pt idx="32">
                  <c:v>35</c:v>
                </c:pt>
                <c:pt idx="33">
                  <c:v>36</c:v>
                </c:pt>
                <c:pt idx="34">
                  <c:v>37</c:v>
                </c:pt>
                <c:pt idx="35">
                  <c:v>38</c:v>
                </c:pt>
                <c:pt idx="36">
                  <c:v>39</c:v>
                </c:pt>
                <c:pt idx="37">
                  <c:v>40</c:v>
                </c:pt>
                <c:pt idx="38">
                  <c:v>41</c:v>
                </c:pt>
                <c:pt idx="39">
                  <c:v>42</c:v>
                </c:pt>
                <c:pt idx="40">
                  <c:v>43</c:v>
                </c:pt>
                <c:pt idx="41">
                  <c:v>44</c:v>
                </c:pt>
                <c:pt idx="42">
                  <c:v>45</c:v>
                </c:pt>
                <c:pt idx="43">
                  <c:v>46</c:v>
                </c:pt>
                <c:pt idx="44">
                  <c:v>47</c:v>
                </c:pt>
                <c:pt idx="45">
                  <c:v>48</c:v>
                </c:pt>
                <c:pt idx="46">
                  <c:v>49</c:v>
                </c:pt>
                <c:pt idx="47">
                  <c:v>50</c:v>
                </c:pt>
              </c:strCache>
            </c:strRef>
          </c:cat>
          <c:val>
            <c:numRef>
              <c:f>Sheet1!$B$2:$B$49</c:f>
              <c:numCache>
                <c:formatCode>General</c:formatCode>
                <c:ptCount val="48"/>
                <c:pt idx="0">
                  <c:v>19.82</c:v>
                </c:pt>
                <c:pt idx="1">
                  <c:v>14.2</c:v>
                </c:pt>
                <c:pt idx="2">
                  <c:v>12.14</c:v>
                </c:pt>
                <c:pt idx="3">
                  <c:v>11.08</c:v>
                </c:pt>
                <c:pt idx="4">
                  <c:v>10.44</c:v>
                </c:pt>
                <c:pt idx="5">
                  <c:v>10.01</c:v>
                </c:pt>
                <c:pt idx="6">
                  <c:v>9.7</c:v>
                </c:pt>
                <c:pt idx="7">
                  <c:v>9.47</c:v>
                </c:pt>
                <c:pt idx="8">
                  <c:v>9.29</c:v>
                </c:pt>
                <c:pt idx="9">
                  <c:v>9.14</c:v>
                </c:pt>
                <c:pt idx="10">
                  <c:v>9.02</c:v>
                </c:pt>
                <c:pt idx="11">
                  <c:v>8.92</c:v>
                </c:pt>
                <c:pt idx="12">
                  <c:v>8.84</c:v>
                </c:pt>
                <c:pt idx="13">
                  <c:v>8.77</c:v>
                </c:pt>
                <c:pt idx="14">
                  <c:v>8.7</c:v>
                </c:pt>
                <c:pt idx="15">
                  <c:v>8.65</c:v>
                </c:pt>
                <c:pt idx="16">
                  <c:v>8.6</c:v>
                </c:pt>
                <c:pt idx="17">
                  <c:v>8.56</c:v>
                </c:pt>
                <c:pt idx="18">
                  <c:v>8.52</c:v>
                </c:pt>
                <c:pt idx="19">
                  <c:v>8.48</c:v>
                </c:pt>
                <c:pt idx="20">
                  <c:v>8.45</c:v>
                </c:pt>
                <c:pt idx="21">
                  <c:v>8.42</c:v>
                </c:pt>
                <c:pt idx="22">
                  <c:v>8.4</c:v>
                </c:pt>
                <c:pt idx="23">
                  <c:v>8.37</c:v>
                </c:pt>
                <c:pt idx="24">
                  <c:v>8.35</c:v>
                </c:pt>
                <c:pt idx="25">
                  <c:v>8.33</c:v>
                </c:pt>
                <c:pt idx="26">
                  <c:v>8.31</c:v>
                </c:pt>
                <c:pt idx="27">
                  <c:v>8.3</c:v>
                </c:pt>
                <c:pt idx="28">
                  <c:v>8.28</c:v>
                </c:pt>
                <c:pt idx="29">
                  <c:v>8.26</c:v>
                </c:pt>
                <c:pt idx="30">
                  <c:v>8.25</c:v>
                </c:pt>
                <c:pt idx="31">
                  <c:v>8.24</c:v>
                </c:pt>
                <c:pt idx="32">
                  <c:v>8.22</c:v>
                </c:pt>
                <c:pt idx="33">
                  <c:v>8.21</c:v>
                </c:pt>
                <c:pt idx="34">
                  <c:v>8.2</c:v>
                </c:pt>
                <c:pt idx="35">
                  <c:v>8.19</c:v>
                </c:pt>
                <c:pt idx="36">
                  <c:v>8.18</c:v>
                </c:pt>
                <c:pt idx="37">
                  <c:v>8.17</c:v>
                </c:pt>
                <c:pt idx="38">
                  <c:v>8.16</c:v>
                </c:pt>
                <c:pt idx="39">
                  <c:v>8.15</c:v>
                </c:pt>
                <c:pt idx="40">
                  <c:v>8.15</c:v>
                </c:pt>
                <c:pt idx="41">
                  <c:v>8.14</c:v>
                </c:pt>
                <c:pt idx="42">
                  <c:v>8.13</c:v>
                </c:pt>
                <c:pt idx="43">
                  <c:v>8.12</c:v>
                </c:pt>
                <c:pt idx="44">
                  <c:v>8.12</c:v>
                </c:pt>
                <c:pt idx="45">
                  <c:v>8.11</c:v>
                </c:pt>
                <c:pt idx="46">
                  <c:v>8.1</c:v>
                </c:pt>
                <c:pt idx="47">
                  <c:v>8.1</c:v>
                </c:pt>
              </c:numCache>
            </c:numRef>
          </c:val>
          <c:smooth val="0"/>
        </c:ser>
        <c:marker val="1"/>
        <c:smooth val="0"/>
        <c:axId val="2118791784"/>
        <c:axId val="2140495176"/>
      </c:lineChart>
      <c:catAx>
        <c:axId val="2118791784"/>
        <c:scaling>
          <c:orientation val="minMax"/>
        </c:scaling>
        <c:delete val="0"/>
        <c:axPos val="b"/>
        <c:title>
          <c:tx>
            <c:rich>
              <a:bodyPr/>
              <a:lstStyle/>
              <a:p>
                <a:r>
                  <a:t>number of piles (3 to 50)</a:t>
                </a:r>
              </a:p>
            </c:rich>
          </c:tx>
          <c:layout/>
          <c:overlay val="0"/>
        </c:title>
        <c:majorTickMark val="out"/>
        <c:minorTickMark val="none"/>
        <c:tickLblPos val="nextTo"/>
        <c:spPr>
          <a:ln>
            <a:solidFill>
              <a:srgbClr val="E6E1D3"/>
            </a:solidFill>
          </a:ln>
        </c:spPr>
        <c:crossAx val="2140495176"/>
        <c:crosses val="autoZero"/>
        <c:auto val="1"/>
        <c:lblAlgn val="ctr"/>
        <c:lblOffset val="100"/>
        <c:tickLblSkip val="5"/>
        <c:tickMarkSkip val="5"/>
        <c:noMultiLvlLbl val="0"/>
      </c:catAx>
      <c:valAx>
        <c:axId val="2140495176"/>
        <c:scaling>
          <c:max val="21.0"/>
          <c:min val="6.0"/>
        </c:scaling>
        <c:delete val="0"/>
        <c:axPos val="l"/>
        <c:majorGridlines>
          <c:spPr>
            <a:ln>
              <a:solidFill>
                <a:srgbClr val="E6E1D3"/>
              </a:solidFill>
            </a:ln>
          </c:spPr>
        </c:majorGridlines>
        <c:title>
          <c:tx>
            <c:rich>
              <a:bodyPr/>
              <a:lstStyle/>
              <a:p>
                <a:r>
                  <a:t>± %</a:t>
                </a:r>
              </a:p>
            </c:rich>
          </c:tx>
          <c:layout/>
          <c:overlay val="0"/>
        </c:title>
        <c:majorTickMark val="out"/>
        <c:minorTickMark val="none"/>
        <c:tickLblPos val="nextTo"/>
        <c:spPr>
          <a:ln>
            <a:solidFill>
              <a:srgbClr val="E6E1D3"/>
            </a:solidFill>
          </a:ln>
        </c:spPr>
        <c:crossAx val="2118791784"/>
        <c:crosses val="autoZero"/>
      </c:valAx>
    </c:plotArea>
    <c:plotVisOnly val="1"/>
    <c:dispBlanksAs val="gap"/>
    <c:showDLblsOverMax val="0"/>
  </c:chart>
  <c:txPr>
    <a:bodyPr/>
    <a:lstStyle/>
    <a:p>
      <a:pPr>
        <a:defRPr sz="1100">
          <a:solidFill>
            <a:srgbClr val="687063"/>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0">
                <a:solidFill>
                  <a:srgbClr val="2D5B3F"/>
                </a:solidFill>
                <a:latin typeface="Calibri"/>
              </a:rPr>
              <a:t>Same untouched pile, 16 photos: seeds counted</a:t>
            </a:r>
          </a:p>
        </c:rich>
      </c:tx>
      <c:layout/>
      <c:overlay val="0"/>
    </c:title>
    <c:autoTitleDeleted val="0"/>
    <c:plotArea>
      <c:barChart>
        <c:barDir val="col"/>
        <c:grouping val="clustered"/>
        <c:ser>
          <c:idx val="0"/>
          <c:order val="0"/>
          <c:tx>
            <c:strRef>
              <c:f>Sheet1!$B$1</c:f>
              <c:strCache>
                <c:ptCount val="1"/>
                <c:pt idx="0">
                  <c:v>Photo as taken</c:v>
                </c:pt>
              </c:strCache>
            </c:strRef>
          </c:tx>
          <c:spPr>
            <a:solidFill>
              <a:srgbClr val="DC8F14"/>
            </a:solidFill>
          </c:spPr>
          <c:cat>
            <c:strRef>
              <c:f>Sheet1!$A$2:$A$17</c:f>
              <c:strCache>
                <c:ptCount val="16"/>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strCache>
            </c:strRef>
          </c:cat>
          <c:val>
            <c:numRef>
              <c:f>Sheet1!$B$2:$B$17</c:f>
              <c:numCache>
                <c:formatCode>General</c:formatCode>
                <c:ptCount val="16"/>
                <c:pt idx="0">
                  <c:v>206</c:v>
                </c:pt>
                <c:pt idx="1">
                  <c:v>112</c:v>
                </c:pt>
                <c:pt idx="2">
                  <c:v>262</c:v>
                </c:pt>
                <c:pt idx="3">
                  <c:v>234</c:v>
                </c:pt>
                <c:pt idx="4">
                  <c:v>228</c:v>
                </c:pt>
                <c:pt idx="5">
                  <c:v>213</c:v>
                </c:pt>
                <c:pt idx="6">
                  <c:v>234</c:v>
                </c:pt>
                <c:pt idx="7">
                  <c:v>255</c:v>
                </c:pt>
                <c:pt idx="8">
                  <c:v>259</c:v>
                </c:pt>
                <c:pt idx="9">
                  <c:v>290</c:v>
                </c:pt>
                <c:pt idx="10">
                  <c:v>289</c:v>
                </c:pt>
                <c:pt idx="11">
                  <c:v>290</c:v>
                </c:pt>
                <c:pt idx="12">
                  <c:v>272</c:v>
                </c:pt>
                <c:pt idx="13">
                  <c:v>268</c:v>
                </c:pt>
                <c:pt idx="14">
                  <c:v>286</c:v>
                </c:pt>
                <c:pt idx="15">
                  <c:v>292</c:v>
                </c:pt>
              </c:numCache>
            </c:numRef>
          </c:val>
        </c:ser>
        <c:ser>
          <c:idx val="1"/>
          <c:order val="1"/>
          <c:tx>
            <c:strRef>
              <c:f>Sheet1!$C$1</c:f>
              <c:strCache>
                <c:ptCount val="1"/>
                <c:pt idx="0">
                  <c:v>Fixed scale (0.110 mm per pixel)</c:v>
                </c:pt>
              </c:strCache>
            </c:strRef>
          </c:tx>
          <c:spPr>
            <a:solidFill>
              <a:srgbClr val="2D5B3F"/>
            </a:solidFill>
          </c:spPr>
          <c:cat>
            <c:strRef>
              <c:f>Sheet1!$A$2:$A$17</c:f>
              <c:strCache>
                <c:ptCount val="16"/>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strCache>
            </c:strRef>
          </c:cat>
          <c:val>
            <c:numRef>
              <c:f>Sheet1!$C$2:$C$17</c:f>
              <c:numCache>
                <c:formatCode>General</c:formatCode>
                <c:ptCount val="16"/>
                <c:pt idx="0">
                  <c:v>288</c:v>
                </c:pt>
                <c:pt idx="1">
                  <c:v>289</c:v>
                </c:pt>
                <c:pt idx="2">
                  <c:v>292</c:v>
                </c:pt>
                <c:pt idx="3">
                  <c:v>287</c:v>
                </c:pt>
                <c:pt idx="4">
                  <c:v>287</c:v>
                </c:pt>
                <c:pt idx="5">
                  <c:v>298</c:v>
                </c:pt>
                <c:pt idx="6">
                  <c:v>289</c:v>
                </c:pt>
                <c:pt idx="7">
                  <c:v>287</c:v>
                </c:pt>
                <c:pt idx="8">
                  <c:v>288</c:v>
                </c:pt>
                <c:pt idx="9">
                  <c:v>294</c:v>
                </c:pt>
                <c:pt idx="10">
                  <c:v>290</c:v>
                </c:pt>
                <c:pt idx="11">
                  <c:v>290</c:v>
                </c:pt>
                <c:pt idx="12">
                  <c:v>289</c:v>
                </c:pt>
                <c:pt idx="13">
                  <c:v>290</c:v>
                </c:pt>
                <c:pt idx="14">
                  <c:v>291</c:v>
                </c:pt>
                <c:pt idx="15">
                  <c:v>283</c:v>
                </c:pt>
              </c:numCache>
            </c:numRef>
          </c:val>
        </c:ser>
        <c:axId val="-2068027336"/>
        <c:axId val="-2113994440"/>
      </c:barChart>
      <c:catAx>
        <c:axId val="-2068027336"/>
        <c:scaling>
          <c:orientation val="minMax"/>
        </c:scaling>
        <c:delete val="0"/>
        <c:axPos val="b"/>
        <c:title>
          <c:tx>
            <c:rich>
              <a:bodyPr/>
              <a:lstStyle/>
              <a:p>
                <a:r>
                  <a:t>photo (2 persons, 2 phones, 2 heights)</a:t>
                </a:r>
              </a:p>
            </c:rich>
          </c:tx>
          <c:layout/>
          <c:overlay val="0"/>
        </c:title>
        <c:majorTickMark val="out"/>
        <c:minorTickMark val="none"/>
        <c:tickLblPos val="nextTo"/>
        <c:spPr>
          <a:ln>
            <a:solidFill>
              <a:srgbClr val="E6E1D3"/>
            </a:solidFill>
          </a:ln>
        </c:spPr>
        <c:crossAx val="-2113994440"/>
        <c:crosses val="autoZero"/>
        <c:auto val="1"/>
        <c:lblAlgn val="ctr"/>
        <c:lblOffset val="100"/>
        <c:noMultiLvlLbl val="0"/>
      </c:catAx>
      <c:valAx>
        <c:axId val="-2113994440"/>
        <c:scaling>
          <c:max val="320.0"/>
          <c:min val="0.0"/>
        </c:scaling>
        <c:delete val="0"/>
        <c:axPos val="l"/>
        <c:majorGridlines>
          <c:spPr>
            <a:ln>
              <a:solidFill>
                <a:srgbClr val="E6E1D3"/>
              </a:solidFill>
            </a:ln>
          </c:spPr>
        </c:majorGridlines>
        <c:majorTickMark val="out"/>
        <c:minorTickMark val="none"/>
        <c:tickLblPos val="nextTo"/>
        <c:spPr>
          <a:ln>
            <a:solidFill>
              <a:srgbClr val="E6E1D3"/>
            </a:solidFill>
          </a:ln>
        </c:spPr>
        <c:crossAx val="-2068027336"/>
        <c:crosses val="autoZero"/>
      </c:valAx>
    </c:plotArea>
    <c:legend>
      <c:legendPos val="b"/>
      <c:overlay val="0"/>
    </c:legend>
    <c:dispBlanksAs val="gap"/>
  </c:chart>
  <c:txPr>
    <a:bodyPr/>
    <a:lstStyle/>
    <a:p>
      <a:pPr>
        <a:defRPr sz="1000">
          <a:solidFill>
            <a:srgbClr val="687063"/>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2D5B3F"/>
                </a:solidFill>
                <a:latin typeface="Calibri"/>
              </a:rPr>
              <a:t>Error budget (relative standard deviation, %): the photo adds only 0.9 %</a:t>
            </a:r>
          </a:p>
        </c:rich>
      </c:tx>
      <c:layout/>
      <c:overlay val="0"/>
    </c:title>
    <c:autoTitleDeleted val="0"/>
    <c:plotArea>
      <c:barChart>
        <c:barDir val="bar"/>
        <c:grouping val="clustered"/>
        <c:varyColors/>
        <c:ser>
          <c:idx val="0"/>
          <c:order val="0"/>
          <c:tx>
            <c:strRef>
              <c:f>Sheet1!$B$1</c:f>
              <c:strCache>
                <c:ptCount val="1"/>
                <c:pt idx="0">
                  <c:v>Relative error (%)</c:v>
                </c:pt>
              </c:strCache>
            </c:strRef>
          </c:tx>
          <c:dPt>
            <c:idx val="0"/>
            <c:spPr>
              <a:solidFill>
                <a:srgbClr val="2D5B3F"/>
              </a:solidFill>
            </c:spPr>
          </c:dPt>
          <c:dPt>
            <c:idx val="1"/>
            <c:spPr>
              <a:solidFill>
                <a:srgbClr val="DC8F14"/>
              </a:solidFill>
            </c:spPr>
          </c:dPt>
          <c:dPt>
            <c:idx val="2"/>
            <c:spPr>
              <a:solidFill>
                <a:srgbClr val="F2B705"/>
              </a:solidFill>
            </c:spPr>
          </c:dPt>
          <c:dPt>
            <c:idx val="3"/>
            <c:spPr>
              <a:solidFill>
                <a:srgbClr val="5C3D23"/>
              </a:solidFill>
            </c:spPr>
          </c:dPt>
          <c:cat>
            <c:strRef>
              <c:f>Sheet1!$A$2:$A$5</c:f>
              <c:strCache>
                <c:ptCount val="4"/>
                <c:pt idx="0">
                  <c:v>Total between piles</c:v>
                </c:pt>
                <c:pt idx="1">
                  <c:v>Kitchen scale (1 g)</c:v>
                </c:pt>
                <c:pt idx="2">
                  <c:v>Photo</c:v>
                </c:pt>
                <c:pt idx="3">
                  <c:v>Seeds and the rest</c:v>
                </c:pt>
              </c:strCache>
            </c:strRef>
          </c:cat>
          <c:val>
            <c:numRef>
              <c:f>Sheet1!$B$2:$B$5</c:f>
              <c:numCache>
                <c:formatCode>General</c:formatCode>
                <c:ptCount val="4"/>
                <c:pt idx="0">
                  <c:v>3.99</c:v>
                </c:pt>
                <c:pt idx="1">
                  <c:v>1.73</c:v>
                </c:pt>
                <c:pt idx="2">
                  <c:v>0.93</c:v>
                </c:pt>
                <c:pt idx="3">
                  <c:v>3.47</c:v>
                </c:pt>
              </c:numCache>
            </c:numRef>
          </c:val>
        </c:ser>
        <c:dLbls>
          <c:numFmt formatCode="0.00" sourceLinked="0"/>
          <c:txPr>
            <a:bodyPr/>
            <a:lstStyle/>
            <a:p>
              <a:pPr>
                <a:defRPr sz="1000"/>
              </a:pPr>
            </a:p>
          </c:txPr>
          <c:dLblPos val="outEnd"/>
          <c:showLegendKey val="0"/>
          <c:showVal val="1"/>
          <c:showCatName val="0"/>
          <c:showSerName val="0"/>
          <c:showPercent val="0"/>
          <c:showBubbleSize val="0"/>
          <c:showLeaderLines val="1"/>
        </c:dLbls>
        <c:axId val="-2068027336"/>
        <c:axId val="-2113994440"/>
      </c:barChart>
      <c:catAx>
        <c:axId val="-2068027336"/>
        <c:scaling>
          <c:orientation val="maxMin"/>
        </c:scaling>
        <c:delete val="0"/>
        <c:axPos val="l"/>
        <c:majorTickMark val="out"/>
        <c:minorTickMark val="none"/>
        <c:tickLblPos val="nextTo"/>
        <c:spPr>
          <a:ln>
            <a:solidFill>
              <a:srgbClr val="E6E1D3"/>
            </a:solidFill>
          </a:ln>
        </c:spPr>
        <c:crossAx val="-2113994440"/>
        <c:crosses val="autoZero"/>
        <c:auto val="1"/>
        <c:lblAlgn val="ctr"/>
        <c:lblOffset val="100"/>
        <c:noMultiLvlLbl val="0"/>
      </c:catAx>
      <c:valAx>
        <c:axId val="-2113994440"/>
        <c:scaling>
          <c:max val="5.0"/>
          <c:min val="0.0"/>
        </c:scaling>
        <c:delete val="0"/>
        <c:axPos val="b"/>
        <c:majorGridlines>
          <c:spPr>
            <a:ln>
              <a:solidFill>
                <a:srgbClr val="E6E1D3"/>
              </a:solidFill>
            </a:ln>
          </c:spPr>
        </c:majorGridlines>
        <c:majorTickMark val="out"/>
        <c:minorTickMark val="none"/>
        <c:tickLblPos val="nextTo"/>
        <c:spPr>
          <a:ln>
            <a:solidFill>
              <a:srgbClr val="E6E1D3"/>
            </a:solidFill>
          </a:ln>
        </c:spPr>
        <c:crossAx val="-2068027336"/>
        <c:crosses val="autoZero"/>
      </c:valAx>
    </c:plotArea>
    <c:dispBlanksAs val="gap"/>
  </c:chart>
  <c:txPr>
    <a:bodyPr/>
    <a:lstStyle/>
    <a:p>
      <a:pPr>
        <a:defRPr sz="1000">
          <a:solidFill>
            <a:srgbClr val="687063"/>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2D5B3F"/>
                </a:solidFill>
                <a:latin typeface="Calibri"/>
              </a:rPr>
              <a:t>Task 4: Jia's 9 piles, error in % (dashed: ±10 %)</a:t>
            </a:r>
          </a:p>
        </c:rich>
      </c:tx>
      <c:layout/>
      <c:overlay val="0"/>
    </c:title>
    <c:autoTitleDeleted val="0"/>
    <c:plotArea>
      <c:layout>
        <c:manualLayout>
          <c:layoutTarget val="inner"/>
          <c:xMode val="edge"/>
          <c:yMode val="edge"/>
          <c:x val="0.08"/>
          <c:y val="0.17"/>
          <c:w val="0.9"/>
          <c:h val="0.68"/>
        </c:manualLayout>
      </c:layout>
      <c:barChart>
        <c:barDir val="col"/>
        <c:grouping val="clustered"/>
        <c:ser>
          <c:idx val="0"/>
          <c:order val="0"/>
          <c:tx>
            <c:strRef>
              <c:f>Sheet1!$B$1</c:f>
              <c:strCache>
                <c:ptCount val="1"/>
                <c:pt idx="0">
                  <c:v>Error of the prediction (%)</c:v>
                </c:pt>
              </c:strCache>
            </c:strRef>
          </c:tx>
          <c:spPr>
            <a:solidFill>
              <a:srgbClr val="2D5B3F"/>
            </a:solidFill>
          </c:spPr>
          <c:cat>
            <c:strRef>
              <c:f>Sheet1!$A$2:$A$10</c:f>
              <c:strCache>
                <c:ptCount val="9"/>
                <c:pt idx="0">
                  <c:v>T4-01</c:v>
                </c:pt>
                <c:pt idx="1">
                  <c:v>T4-02</c:v>
                </c:pt>
                <c:pt idx="2">
                  <c:v>T4-03</c:v>
                </c:pt>
                <c:pt idx="3">
                  <c:v>T4-04</c:v>
                </c:pt>
                <c:pt idx="4">
                  <c:v>P09</c:v>
                </c:pt>
                <c:pt idx="5">
                  <c:v>P10</c:v>
                </c:pt>
                <c:pt idx="6">
                  <c:v>P11</c:v>
                </c:pt>
                <c:pt idx="7">
                  <c:v>P12</c:v>
                </c:pt>
                <c:pt idx="8">
                  <c:v>P13</c:v>
                </c:pt>
              </c:strCache>
            </c:strRef>
          </c:cat>
          <c:val>
            <c:numRef>
              <c:f>Sheet1!$B$2:$B$10</c:f>
              <c:numCache>
                <c:formatCode>General</c:formatCode>
                <c:ptCount val="9"/>
                <c:pt idx="0">
                  <c:v>-2.5</c:v>
                </c:pt>
                <c:pt idx="1">
                  <c:v>4.3</c:v>
                </c:pt>
                <c:pt idx="2">
                  <c:v>-3.4</c:v>
                </c:pt>
                <c:pt idx="3">
                  <c:v>-6.0</c:v>
                </c:pt>
                <c:pt idx="4">
                  <c:v>-7.4</c:v>
                </c:pt>
                <c:pt idx="5">
                  <c:v>-2.3</c:v>
                </c:pt>
                <c:pt idx="6">
                  <c:v>2.0</c:v>
                </c:pt>
                <c:pt idx="7">
                  <c:v>2.4</c:v>
                </c:pt>
                <c:pt idx="8">
                  <c:v>0.7</c:v>
                </c:pt>
              </c:numCache>
            </c:numRef>
          </c:val>
        </c:ser>
        <c:axId val="-2068027336"/>
        <c:axId val="-2113994440"/>
      </c:barChart>
      <c:catAx>
        <c:axId val="-2068027336"/>
        <c:scaling>
          <c:orientation val="minMax"/>
        </c:scaling>
        <c:delete val="0"/>
        <c:axPos val="b"/>
        <c:majorTickMark val="out"/>
        <c:minorTickMark val="none"/>
        <c:tickLblPos val="low"/>
        <c:spPr>
          <a:ln>
            <a:solidFill>
              <a:srgbClr val="E6E1D3"/>
            </a:solidFill>
          </a:ln>
        </c:spPr>
        <c:crossAx val="-2113994440"/>
        <c:crosses val="autoZero"/>
        <c:auto val="1"/>
        <c:lblAlgn val="ctr"/>
        <c:lblOffset val="100"/>
        <c:noMultiLvlLbl val="0"/>
      </c:catAx>
      <c:valAx>
        <c:axId val="-2113994440"/>
        <c:scaling>
          <c:max val="12.0"/>
          <c:min val="-12.0"/>
        </c:scaling>
        <c:delete val="0"/>
        <c:axPos val="l"/>
        <c:majorGridlines>
          <c:spPr>
            <a:ln>
              <a:solidFill>
                <a:srgbClr val="E6E1D3"/>
              </a:solidFill>
            </a:ln>
          </c:spPr>
        </c:majorGridlines>
        <c:majorTickMark val="out"/>
        <c:minorTickMark val="none"/>
        <c:tickLblPos val="nextTo"/>
        <c:spPr>
          <a:ln>
            <a:solidFill>
              <a:srgbClr val="E6E1D3"/>
            </a:solidFill>
          </a:ln>
        </c:spPr>
        <c:crossAx val="-2068027336"/>
        <c:crosses val="autoZero"/>
        <c:majorUnit val="6.0"/>
      </c:valAx>
    </c:plotArea>
    <c:dispBlanksAs val="gap"/>
  </c:chart>
  <c:txPr>
    <a:bodyPr/>
    <a:lstStyle/>
    <a:p>
      <a:pPr>
        <a:defRPr sz="1000">
          <a:solidFill>
            <a:srgbClr val="687063"/>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25" name="Shape 25"/>
          <p:cNvSpPr/>
          <p:nvPr>
            <p:ph type="sldImg"/>
          </p:nvPr>
        </p:nvSpPr>
        <p:spPr>
          <a:xfrm>
            <a:off x="1143000" y="685800"/>
            <a:ext cx="4572000" cy="3429000"/>
          </a:xfrm>
          <a:prstGeom prst="rect">
            <a:avLst/>
          </a:prstGeom>
        </p:spPr>
        <p:txBody>
          <a:bodyPr/>
          <a:lstStyle/>
          <a:p>
            <a:pPr/>
          </a:p>
        </p:txBody>
      </p:sp>
      <p:sp>
        <p:nvSpPr>
          <p:cNvPr id="26" name="Shape 26"/>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0" name="Shape 50"/>
          <p:cNvSpPr/>
          <p:nvPr>
            <p:ph type="sldImg"/>
          </p:nvPr>
        </p:nvSpPr>
        <p:spPr>
          <a:prstGeom prst="rect">
            <a:avLst/>
          </a:prstGeom>
        </p:spPr>
        <p:txBody>
          <a:bodyPr/>
          <a:lstStyle/>
          <a:p>
            <a:pPr/>
          </a:p>
        </p:txBody>
      </p:sp>
      <p:sp>
        <p:nvSpPr>
          <p:cNvPr id="51" name="Shape 51"/>
          <p:cNvSpPr/>
          <p:nvPr>
            <p:ph type="body" sz="quarter" idx="1"/>
          </p:nvPr>
        </p:nvSpPr>
        <p:spPr>
          <a:prstGeom prst="rect">
            <a:avLst/>
          </a:prstGeom>
        </p:spPr>
        <p:txBody>
          <a:bodyPr/>
          <a:lstStyle/>
          <a:p>
            <a:pPr/>
            <a:r>
              <a:t>Title. We estimate the weight of a pile of sunflower seeds from one phone photo. Today: the variables that make the weight wrong and how we handle them, how it works for the user, and a business case for the data.</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5" name="Shape 65"/>
          <p:cNvSpPr/>
          <p:nvPr>
            <p:ph type="sldImg"/>
          </p:nvPr>
        </p:nvSpPr>
        <p:spPr>
          <a:prstGeom prst="rect">
            <a:avLst/>
          </a:prstGeom>
        </p:spPr>
        <p:txBody>
          <a:bodyPr/>
          <a:lstStyle/>
          <a:p>
            <a:pPr/>
          </a:p>
        </p:txBody>
      </p:sp>
      <p:sp>
        <p:nvSpPr>
          <p:cNvPr id="66" name="Shape 66"/>
          <p:cNvSpPr/>
          <p:nvPr>
            <p:ph type="body" sz="quarter" idx="1"/>
          </p:nvPr>
        </p:nvSpPr>
        <p:spPr>
          <a:prstGeom prst="rect">
            <a:avLst/>
          </a:prstGeom>
        </p:spPr>
        <p:txBody>
          <a:bodyPr/>
          <a:lstStyle/>
          <a:p>
            <a:pPr/>
            <a:r>
              <a:t>CNH asked three questions in the class of 19 October. Here are the three short answers; the rest of the talk shows the evidence. Range = 95 % prediction interval: about 19 of 20 true weights fall inside.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5" name="Shape 85"/>
          <p:cNvSpPr/>
          <p:nvPr>
            <p:ph type="sldImg"/>
          </p:nvPr>
        </p:nvSpPr>
        <p:spPr>
          <a:prstGeom prst="rect">
            <a:avLst/>
          </a:prstGeom>
        </p:spPr>
        <p:txBody>
          <a:bodyPr/>
          <a:lstStyle/>
          <a:p>
            <a:pPr/>
          </a:p>
        </p:txBody>
      </p:sp>
      <p:sp>
        <p:nvSpPr>
          <p:cNvPr id="86" name="Shape 86"/>
          <p:cNvSpPr/>
          <p:nvPr>
            <p:ph type="body" sz="quarter" idx="1"/>
          </p:nvPr>
        </p:nvSpPr>
        <p:spPr>
          <a:prstGeom prst="rect">
            <a:avLst/>
          </a:prstGeom>
        </p:spPr>
        <p:txBody>
          <a:bodyPr/>
          <a:lstStyle/>
          <a:p>
            <a:pPr/>
            <a:r>
              <a:t>Our procedure in five steps. Every rule answers a problem we saw in our own data. The procedure is written so CNH can follow it from the text alone; Jia tested that.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7" name="Shape 117"/>
          <p:cNvSpPr/>
          <p:nvPr>
            <p:ph type="sldImg"/>
          </p:nvPr>
        </p:nvSpPr>
        <p:spPr>
          <a:prstGeom prst="rect">
            <a:avLst/>
          </a:prstGeom>
        </p:spPr>
        <p:txBody>
          <a:bodyPr/>
          <a:lstStyle/>
          <a:p>
            <a:pPr/>
          </a:p>
        </p:txBody>
      </p:sp>
      <p:sp>
        <p:nvSpPr>
          <p:cNvPr id="118" name="Shape 118"/>
          <p:cNvSpPr/>
          <p:nvPr>
            <p:ph type="body" sz="quarter" idx="1"/>
          </p:nvPr>
        </p:nvSpPr>
        <p:spPr>
          <a:prstGeom prst="rect">
            <a:avLst/>
          </a:prstGeom>
        </p:spPr>
        <p:txBody>
          <a:bodyPr/>
          <a:lstStyle/>
          <a:p>
            <a:pPr/>
            <a:r>
              <a:t>Five sessions. The Gauge R&amp;R is one pile that nobody touches, photographed by both of us with both phones at two heights: it measures the photo error alone. Jia's piles are the test of the procedure.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5" name="Shape 125"/>
          <p:cNvSpPr/>
          <p:nvPr>
            <p:ph type="sldImg"/>
          </p:nvPr>
        </p:nvSpPr>
        <p:spPr>
          <a:prstGeom prst="rect">
            <a:avLst/>
          </a:prstGeom>
        </p:spPr>
        <p:txBody>
          <a:bodyPr/>
          <a:lstStyle/>
          <a:p>
            <a:pPr/>
          </a:p>
        </p:txBody>
      </p:sp>
      <p:sp>
        <p:nvSpPr>
          <p:cNvPr id="126" name="Shape 126"/>
          <p:cNvSpPr/>
          <p:nvPr>
            <p:ph type="body" sz="quarter" idx="1"/>
          </p:nvPr>
        </p:nvSpPr>
        <p:spPr>
          <a:prstGeom prst="rect">
            <a:avLst/>
          </a:prstGeom>
        </p:spPr>
        <p:txBody>
          <a:bodyPr/>
          <a:lstStyle/>
          <a:p>
            <a:pPr/>
            <a:r>
              <a:t>The top variables. For each one: what we measured, and where we handle it: in the procedure, before counting (the fixed scale), or after counting (the light in the app). The full table has 32 rows, including the ones we could not test, like background colour and blur.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5" name="Shape 135"/>
          <p:cNvSpPr/>
          <p:nvPr>
            <p:ph type="sldImg"/>
          </p:nvPr>
        </p:nvSpPr>
        <p:spPr>
          <a:prstGeom prst="rect">
            <a:avLst/>
          </a:prstGeom>
        </p:spPr>
        <p:txBody>
          <a:bodyPr/>
          <a:lstStyle/>
          <a:p>
            <a:pPr/>
          </a:p>
        </p:txBody>
      </p:sp>
      <p:sp>
        <p:nvSpPr>
          <p:cNvPr id="136" name="Shape 136"/>
          <p:cNvSpPr/>
          <p:nvPr>
            <p:ph type="body" sz="quarter" idx="1"/>
          </p:nvPr>
        </p:nvSpPr>
        <p:spPr>
          <a:prstGeom prst="rect">
            <a:avLst/>
          </a:prstGeom>
        </p:spPr>
        <p:txBody>
          <a:bodyPr/>
          <a:lstStyle/>
          <a:p>
            <a:pPr/>
            <a:r>
              <a:t>This chart is the strongest result. Orange bars: the same pile counted on the photo as it was taken: anything from 112 to 292 seeds. Green bars: the same photos after resizing with the markers: 283 to 298. So camera height and phone no longer matter.</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2" name="Shape 162"/>
          <p:cNvSpPr/>
          <p:nvPr>
            <p:ph type="sldImg"/>
          </p:nvPr>
        </p:nvSpPr>
        <p:spPr>
          <a:prstGeom prst="rect">
            <a:avLst/>
          </a:prstGeom>
        </p:spPr>
        <p:txBody>
          <a:bodyPr/>
          <a:lstStyle/>
          <a:p>
            <a:pPr/>
          </a:p>
        </p:txBody>
      </p:sp>
      <p:sp>
        <p:nvSpPr>
          <p:cNvPr id="163" name="Shape 163"/>
          <p:cNvSpPr/>
          <p:nvPr>
            <p:ph type="body" sz="quarter" idx="1"/>
          </p:nvPr>
        </p:nvSpPr>
        <p:spPr>
          <a:prstGeom prst="rect">
            <a:avLst/>
          </a:prstGeom>
        </p:spPr>
        <p:txBody>
          <a:bodyPr/>
          <a:lstStyle/>
          <a:p>
            <a:pPr/>
            <a:r>
              <a:t>CI = confidence interval: the range where the true difference lies with 95 % certainty. All three intervals include zero and are small, so person, phone and height do not change the count in a way we can detect. Analysis of variance compares the differences between the 8 groups with the differences inside each group; p = 0.81 means the group differences are what chance alone would give.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6" name="Shape 176"/>
          <p:cNvSpPr/>
          <p:nvPr>
            <p:ph type="sldImg"/>
          </p:nvPr>
        </p:nvSpPr>
        <p:spPr>
          <a:prstGeom prst="rect">
            <a:avLst/>
          </a:prstGeom>
        </p:spPr>
        <p:txBody>
          <a:bodyPr/>
          <a:lstStyle/>
          <a:p>
            <a:pPr/>
          </a:p>
        </p:txBody>
      </p:sp>
      <p:sp>
        <p:nvSpPr>
          <p:cNvPr id="177" name="Shape 177"/>
          <p:cNvSpPr/>
          <p:nvPr>
            <p:ph type="body" sz="quarter" idx="1"/>
          </p:nvPr>
        </p:nvSpPr>
        <p:spPr>
          <a:prstGeom prst="rect">
            <a:avLst/>
          </a:prstGeom>
        </p:spPr>
        <p:txBody>
          <a:bodyPr/>
          <a:lstStyle/>
          <a:p>
            <a:pPr/>
            <a:r>
              <a:t>We compared five features. The count of sunflower boxes is as good as the count of all boxes, and safer when other objects are in the photo. Area in pixels is poor because it changes with height. The same ranking holds on Jia's photos.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7" name="Shape 187"/>
          <p:cNvSpPr/>
          <p:nvPr>
            <p:ph type="sldImg"/>
          </p:nvPr>
        </p:nvSpPr>
        <p:spPr>
          <a:prstGeom prst="rect">
            <a:avLst/>
          </a:prstGeom>
        </p:spPr>
        <p:txBody>
          <a:bodyPr/>
          <a:lstStyle/>
          <a:p>
            <a:pPr/>
          </a:p>
        </p:txBody>
      </p:sp>
      <p:sp>
        <p:nvSpPr>
          <p:cNvPr id="188" name="Shape 188"/>
          <p:cNvSpPr/>
          <p:nvPr>
            <p:ph type="body" sz="quarter" idx="1"/>
          </p:nvPr>
        </p:nvSpPr>
        <p:spPr>
          <a:prstGeom prst="rect">
            <a:avLst/>
          </a:prstGeom>
        </p:spPr>
        <p:txBody>
          <a:bodyPr/>
          <a:lstStyle/>
          <a:p>
            <a:pPr/>
            <a:r>
              <a:t>Top-down, the 17 piles spread 3.99 %. Bottom-up, the scale step is 1.73 % (calculated) and the photo 0.93 % (measured in the Gauge R&amp;R). What is left, 3.47 %, is a remainder found by subtraction: seed weight and errors we cannot separate. With t for 17 piles the range for one photo is plus or minus 8.7 %. Be honest about task 3: because the remainder is found by subtraction, top-down and bottom-up agree by construction. The one stage we measured independently is the detector: on 3 hand-counted batches of 200 seeds it was off by about 1 % (photos without markers, scale estimated).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9" name="Shape 199"/>
          <p:cNvSpPr/>
          <p:nvPr>
            <p:ph type="sldImg"/>
          </p:nvPr>
        </p:nvSpPr>
        <p:spPr>
          <a:prstGeom prst="rect">
            <a:avLst/>
          </a:prstGeom>
        </p:spPr>
        <p:txBody>
          <a:bodyPr/>
          <a:lstStyle/>
          <a:p>
            <a:pPr/>
          </a:p>
        </p:txBody>
      </p:sp>
      <p:sp>
        <p:nvSpPr>
          <p:cNvPr id="200" name="Shape 200"/>
          <p:cNvSpPr/>
          <p:nvPr>
            <p:ph type="body" sz="quarter" idx="1"/>
          </p:nvPr>
        </p:nvSpPr>
        <p:spPr>
          <a:prstGeom prst="rect">
            <a:avLst/>
          </a:prstGeom>
        </p:spPr>
        <p:txBody>
          <a:bodyPr/>
          <a:lstStyle/>
          <a:p>
            <a:pPr/>
            <a:r>
              <a:t>Jia followed only the written procedure, with her own phone. We applied Hadi's model of 19 October without changing it. All 9 piles fall inside plus or minus 10 %. That supports the bounds; 9 piles cannot prove them. After this test we used all 17 piles together.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2" name="Shape 222"/>
          <p:cNvSpPr/>
          <p:nvPr>
            <p:ph type="sldImg"/>
          </p:nvPr>
        </p:nvSpPr>
        <p:spPr>
          <a:prstGeom prst="rect">
            <a:avLst/>
          </a:prstGeom>
        </p:spPr>
        <p:txBody>
          <a:bodyPr/>
          <a:lstStyle/>
          <a:p>
            <a:pPr/>
          </a:p>
        </p:txBody>
      </p:sp>
      <p:sp>
        <p:nvSpPr>
          <p:cNvPr id="223" name="Shape 223"/>
          <p:cNvSpPr/>
          <p:nvPr>
            <p:ph type="body" sz="quarter" idx="1"/>
          </p:nvPr>
        </p:nvSpPr>
        <p:spPr>
          <a:prstGeom prst="rect">
            <a:avLst/>
          </a:prstGeom>
        </p:spPr>
        <p:txBody>
          <a:bodyPr/>
          <a:lstStyle/>
          <a:p>
            <a:pPr/>
            <a:r>
              <a:t>The app never just gives a number. It shows a light. Green: trust it. Orange: you get a weight, and one sentence on how to make a better photo: seeds too close, phone tilted, too many seeds, or no marker. Red: no weight. The second example is a photo where the seeds touched: the true weight was 14 g, and the app warns. Every limit comes from our own photos.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5" name="Shape 235"/>
          <p:cNvSpPr/>
          <p:nvPr>
            <p:ph type="sldImg"/>
          </p:nvPr>
        </p:nvSpPr>
        <p:spPr>
          <a:prstGeom prst="rect">
            <a:avLst/>
          </a:prstGeom>
        </p:spPr>
        <p:txBody>
          <a:bodyPr/>
          <a:lstStyle/>
          <a:p>
            <a:pPr/>
          </a:p>
        </p:txBody>
      </p:sp>
      <p:sp>
        <p:nvSpPr>
          <p:cNvPr id="236" name="Shape 236"/>
          <p:cNvSpPr/>
          <p:nvPr>
            <p:ph type="body" sz="quarter" idx="1"/>
          </p:nvPr>
        </p:nvSpPr>
        <p:spPr>
          <a:prstGeom prst="rect">
            <a:avLst/>
          </a:prstGeom>
        </p:spPr>
        <p:txBody>
          <a:bodyPr/>
          <a:lstStyle/>
          <a:p>
            <a:pPr/>
            <a:r>
              <a:t>A real user will not print our sheet. So when there is no marker, the app measures the seeds themselves and uses them as the ruler. Tested on all our photos: the range grows only from 8.7 to 9.3 %. A coin or a bank card would be better than the seeds, because their size is exactly known; that is the next step.</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8" name="Shape 248"/>
          <p:cNvSpPr/>
          <p:nvPr>
            <p:ph type="sldImg"/>
          </p:nvPr>
        </p:nvSpPr>
        <p:spPr>
          <a:prstGeom prst="rect">
            <a:avLst/>
          </a:prstGeom>
        </p:spPr>
        <p:txBody>
          <a:bodyPr/>
          <a:lstStyle/>
          <a:p>
            <a:pPr/>
          </a:p>
        </p:txBody>
      </p:sp>
      <p:sp>
        <p:nvSpPr>
          <p:cNvPr id="249" name="Shape 249"/>
          <p:cNvSpPr/>
          <p:nvPr>
            <p:ph type="body" sz="quarter" idx="1"/>
          </p:nvPr>
        </p:nvSpPr>
        <p:spPr>
          <a:prstGeom prst="rect">
            <a:avLst/>
          </a:prstGeom>
        </p:spPr>
        <p:txBody>
          <a:bodyPr/>
          <a:lstStyle/>
          <a:p>
            <a:pPr/>
            <a:r>
              <a:t>Task 2 asked how many samples we need; this is the answer with costs. Each pile took 12.7 minutes, about 10 euro at an example labour rate; bigger piles took longer. The range shrinks fast up to about 10 piles, then hardly moves. A percentage point is the difference between two percentages, for example from 9.5 to 9.3 % is 0.2 points. Our stop rule: stop when one more pile buys less than 0.2 points. We kept Jia's piles to test another person and bigger piles, not to shrink the range. Honest limit: the curve uses today's spread; with 17 piles that spread itself is still uncertain.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8" name="Shape 298"/>
          <p:cNvSpPr/>
          <p:nvPr>
            <p:ph type="sldImg"/>
          </p:nvPr>
        </p:nvSpPr>
        <p:spPr>
          <a:prstGeom prst="rect">
            <a:avLst/>
          </a:prstGeom>
        </p:spPr>
        <p:txBody>
          <a:bodyPr/>
          <a:lstStyle/>
          <a:p>
            <a:pPr/>
          </a:p>
        </p:txBody>
      </p:sp>
      <p:sp>
        <p:nvSpPr>
          <p:cNvPr id="299" name="Shape 299"/>
          <p:cNvSpPr/>
          <p:nvPr>
            <p:ph type="body" sz="quarter" idx="1"/>
          </p:nvPr>
        </p:nvSpPr>
        <p:spPr>
          <a:prstGeom prst="rect">
            <a:avLst/>
          </a:prstGeom>
        </p:spPr>
        <p:txBody>
          <a:bodyPr/>
          <a:lstStyle/>
          <a:p>
            <a:pPr/>
            <a:r>
              <a:t>Six improvements, most of them cheap. The last one comes from Jia's experience: a written procedure only works if it is in front of you while you work; in the app it now is.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7" name="Shape 307"/>
          <p:cNvSpPr/>
          <p:nvPr>
            <p:ph type="sldImg"/>
          </p:nvPr>
        </p:nvSpPr>
        <p:spPr>
          <a:prstGeom prst="rect">
            <a:avLst/>
          </a:prstGeom>
        </p:spPr>
        <p:txBody>
          <a:bodyPr/>
          <a:lstStyle/>
          <a:p>
            <a:pPr/>
          </a:p>
        </p:txBody>
      </p:sp>
      <p:sp>
        <p:nvSpPr>
          <p:cNvPr id="308" name="Shape 308"/>
          <p:cNvSpPr/>
          <p:nvPr>
            <p:ph type="body" sz="quarter" idx="1"/>
          </p:nvPr>
        </p:nvSpPr>
        <p:spPr>
          <a:prstGeom prst="rect">
            <a:avLst/>
          </a:prstGeom>
        </p:spPr>
        <p:txBody>
          <a:bodyPr/>
          <a:lstStyle/>
          <a:p>
            <a:pPr/>
            <a:r>
              <a:t>Map from the six course tasks to the slides. Then the demo: CNH takes the photo themselves, following the instructions on the screen.</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4" name="Shape 314"/>
          <p:cNvSpPr/>
          <p:nvPr>
            <p:ph type="sldImg"/>
          </p:nvPr>
        </p:nvSpPr>
        <p:spPr>
          <a:prstGeom prst="rect">
            <a:avLst/>
          </a:prstGeom>
        </p:spPr>
        <p:txBody>
          <a:bodyPr/>
          <a:lstStyle/>
          <a:p>
            <a:pPr/>
          </a:p>
        </p:txBody>
      </p:sp>
      <p:sp>
        <p:nvSpPr>
          <p:cNvPr id="315" name="Shape 315"/>
          <p:cNvSpPr/>
          <p:nvPr>
            <p:ph type="body" sz="quarter" idx="1"/>
          </p:nvPr>
        </p:nvSpPr>
        <p:spPr>
          <a:prstGeom prst="rect">
            <a:avLst/>
          </a:prstGeom>
        </p:spPr>
        <p:txBody>
          <a:bodyPr/>
          <a:lstStyle/>
          <a:p>
            <a:pPr/>
            <a:r>
              <a:t>Everything in this talk can be reproduced from the repository.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Hadi, 15 seconds. We skip the assignment intro: all groups have the same one. Our answer in one line: one photo gives the weight within plus or minus 8.7 percent, and when Jia repeated the procedure on 9 new piles, all 9 fell inside the range.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Jia, about 1 minute 30. Five steps; every rule comes from a problem we measured. Data: 17 piles, 59 photos, two persons and two phones. Model: we count the seeds and multiply by 0.05336 gram per seed. The count follows the weight better than the box area.</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Hadi, about 1 minute 30. Our first surprise: the same pile, not touched, gave 112 to 292 seeds. A higher photo or a phone with fewer pixels makes the seeds smaller and the detector misses them. Fix: two printed 50 mm squares; every photo is resized to the same 0.110 mm per pixel. Then 283 to 298. The Gauge R&amp;R shows that person, phone and height now change the count by 0.3 percent or less.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Hadi, about 2 minutes. The range for one photo is plus or minus 8.7 percent: 19 of 20 true weights should fall inside. Where does the error come from? The photo adds only 0.9 percent; the 1 gram kitchen scale 1.7; the rest, 3.5 percent, is the seeds themselves and what we could not measure. Jia's 9 new piles, tested with Hadi's 8-pile model and its plus or minus 10 percent range: all inside, average error minus 1.4 percent. Then we pooled all 17 piles. Business case: after 10 piles, one more pile buys less than 0.2 points, so 10 piles is where we would stop.</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Hadi, about 1 minute 30. Two things we think are new. First, the user gets one light with one sentence that says what to change: green, orange or red. On our 59 photos it was right every time. Second, without the marker sheet the app uses the seeds themselves as the ruler: minus 0.9 percent on average, range 9.3 percent. A real example from Jia's P14: seeds touching, the app said orange, and the real weight was 36 gram, not 41. We did not plan a live demo in 8 minutes; we can show the app in the questions.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Jia, about 1 minute 15. Each pitfall became a rule or a check: touching seeds, cropping, TARE, the container. Still open: a 0.01 gram scale to see the seed-to-seed part, other seed lots and crops, more than 651 seeds in one photo, and a coin or bank card instead of the marker sheet. Everything is in the repository; the full analysis is in the backup slides.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Backup slides, not presented.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Hadi, about 20 seconds, or skip if time is short. A real run of the app on our 24 photos of 19 October: the light is green for the good photos and orange, with the right sentence, for the 4 photos with touching seeds.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スライド番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NTENT">
    <p:bg>
      <p:bgPr>
        <a:solidFill>
          <a:srgbClr val="FAF7EE"/>
        </a:solidFill>
      </p:bgPr>
    </p:bg>
    <p:spTree>
      <p:nvGrpSpPr>
        <p:cNvPr id="1" name=""/>
        <p:cNvGrpSpPr/>
        <p:nvPr/>
      </p:nvGrpSpPr>
      <p:grpSpPr>
        <a:xfrm>
          <a:off x="0" y="0"/>
          <a:ext cx="0" cy="0"/>
          <a:chOff x="0" y="0"/>
          <a:chExt cx="0" cy="0"/>
        </a:xfrm>
      </p:grpSpPr>
      <p:sp>
        <p:nvSpPr>
          <p:cNvPr id="18" name="Text 0"/>
          <p:cNvSpPr txBox="1"/>
          <p:nvPr/>
        </p:nvSpPr>
        <p:spPr>
          <a:xfrm>
            <a:off x="594359" y="6469424"/>
            <a:ext cx="8138161" cy="228512"/>
          </a:xfrm>
          <a:prstGeom prst="rect">
            <a:avLst/>
          </a:prstGeom>
          <a:ln w="12700">
            <a:miter lim="400000"/>
          </a:ln>
          <a:extLst>
            <a:ext uri="{C572A759-6A51-4108-AA02-DFA0A04FC94B}">
              <ma14:wrappingTextBoxFlag xmlns:ma14="http://schemas.microsoft.com/office/mac/drawingml/2011/main" val="1"/>
            </a:ext>
          </a:extLst>
        </p:spPr>
        <p:txBody>
          <a:bodyPr lIns="45719" rIns="45719" anchor="ctr">
            <a:spAutoFit/>
          </a:bodyPr>
          <a:lstStyle>
            <a:lvl1pPr>
              <a:defRPr sz="1000">
                <a:solidFill>
                  <a:srgbClr val="687063"/>
                </a:solidFill>
              </a:defRPr>
            </a:lvl1pPr>
          </a:lstStyle>
          <a:p>
            <a:pPr/>
            <a:r>
              <a:t>Sunflower group  |  CNH Data Collection  |  KU Leuven  |  26 October 2026</a:t>
            </a:r>
          </a:p>
        </p:txBody>
      </p:sp>
      <p:sp>
        <p:nvSpPr>
          <p:cNvPr id="19" name="スライド番号"/>
          <p:cNvSpPr txBox="1"/>
          <p:nvPr>
            <p:ph type="sldNum" sz="quarter" idx="2"/>
          </p:nvPr>
        </p:nvSpPr>
        <p:spPr>
          <a:xfrm>
            <a:off x="11471443" y="6446520"/>
            <a:ext cx="232877" cy="22851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タイトルテキスト"/>
          <p:cNvSpPr txBox="1"/>
          <p:nvPr>
            <p:ph type="title"/>
          </p:nvPr>
        </p:nvSpPr>
        <p:spPr>
          <a:xfrm>
            <a:off x="609600" y="92074"/>
            <a:ext cx="10972800" cy="1508126"/>
          </a:xfrm>
          <a:prstGeom prst="rect">
            <a:avLst/>
          </a:prstGeom>
          <a:ln w="12700">
            <a:miter lim="400000"/>
          </a:ln>
          <a:extLst>
            <a:ext uri="{C572A759-6A51-4108-AA02-DFA0A04FC94B}">
              <ma14:wrappingTextBoxFlag xmlns:ma14="http://schemas.microsoft.com/office/mac/drawingml/2011/main" val="1"/>
            </a:ext>
          </a:extLst>
        </p:spPr>
        <p:txBody>
          <a:bodyPr lIns="45719" rIns="45719" anchor="ctr"/>
          <a:lstStyle/>
          <a:p>
            <a:pPr/>
            <a:r>
              <a:t>タイトルテキスト</a:t>
            </a:r>
          </a:p>
        </p:txBody>
      </p:sp>
      <p:sp>
        <p:nvSpPr>
          <p:cNvPr id="3" name="本文レベル1…"/>
          <p:cNvSpPr txBox="1"/>
          <p:nvPr>
            <p:ph type="body" idx="1"/>
          </p:nvPr>
        </p:nvSpPr>
        <p:spPr>
          <a:xfrm>
            <a:off x="609600" y="1600200"/>
            <a:ext cx="10972800" cy="5257800"/>
          </a:xfrm>
          <a:prstGeom prst="rect">
            <a:avLst/>
          </a:prstGeom>
          <a:ln w="12700">
            <a:miter lim="400000"/>
          </a:ln>
          <a:extLst>
            <a:ext uri="{C572A759-6A51-4108-AA02-DFA0A04FC94B}">
              <ma14:wrappingTextBoxFlag xmlns:ma14="http://schemas.microsoft.com/office/mac/drawingml/2011/main" val="1"/>
            </a:ext>
          </a:extLst>
        </p:spPr>
        <p:txBody>
          <a:bodyPr lIns="45719" rIns="45719"/>
          <a:lstStyle/>
          <a:p>
            <a:pPr/>
            <a:r>
              <a:t>本文レベル1</a:t>
            </a:r>
          </a:p>
          <a:p>
            <a:pPr lvl="1"/>
            <a:r>
              <a:t>本文レベル2</a:t>
            </a:r>
          </a:p>
          <a:p>
            <a:pPr lvl="2"/>
            <a:r>
              <a:t>本文レベル3</a:t>
            </a:r>
          </a:p>
          <a:p>
            <a:pPr lvl="3"/>
            <a:r>
              <a:t>本文レベル4</a:t>
            </a:r>
          </a:p>
          <a:p>
            <a:pPr lvl="4"/>
            <a:r>
              <a:t>本文レベル5</a:t>
            </a:r>
          </a:p>
        </p:txBody>
      </p:sp>
      <p:sp>
        <p:nvSpPr>
          <p:cNvPr id="4" name="スライド番号"/>
          <p:cNvSpPr txBox="1"/>
          <p:nvPr>
            <p:ph type="sldNum" sz="quarter" idx="2"/>
          </p:nvPr>
        </p:nvSpPr>
        <p:spPr>
          <a:xfrm>
            <a:off x="5892800" y="6356350"/>
            <a:ext cx="2844800" cy="368300"/>
          </a:xfrm>
          <a:prstGeom prst="rect">
            <a:avLst/>
          </a:prstGeom>
          <a:ln w="12700">
            <a:miter lim="400000"/>
          </a:ln>
        </p:spPr>
        <p:txBody>
          <a:bodyPr wrap="none" lIns="45719" rIns="45719">
            <a:spAutoFit/>
          </a:bodyPr>
          <a:lstStyle>
            <a:lvl1pPr algn="r">
              <a:defRPr sz="1000">
                <a:solidFill>
                  <a:srgbClr val="687063"/>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mbria"/>
          <a:ea typeface="Cambria"/>
          <a:cs typeface="Cambria"/>
          <a:sym typeface="Cambria"/>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mbria"/>
          <a:ea typeface="Cambria"/>
          <a:cs typeface="Cambria"/>
          <a:sym typeface="Cambria"/>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mbria"/>
          <a:ea typeface="Cambria"/>
          <a:cs typeface="Cambria"/>
          <a:sym typeface="Cambria"/>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mbria"/>
          <a:ea typeface="Cambria"/>
          <a:cs typeface="Cambria"/>
          <a:sym typeface="Cambria"/>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mbria"/>
          <a:ea typeface="Cambria"/>
          <a:cs typeface="Cambria"/>
          <a:sym typeface="Cambria"/>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mbria"/>
          <a:ea typeface="Cambria"/>
          <a:cs typeface="Cambria"/>
          <a:sym typeface="Cambria"/>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mbria"/>
          <a:ea typeface="Cambria"/>
          <a:cs typeface="Cambria"/>
          <a:sym typeface="Cambria"/>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mbria"/>
          <a:ea typeface="Cambria"/>
          <a:cs typeface="Cambria"/>
          <a:sym typeface="Cambria"/>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mbria"/>
          <a:ea typeface="Cambria"/>
          <a:cs typeface="Cambria"/>
          <a:sym typeface="Cambria"/>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chart" Target="../charts/char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5.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6.xml"/><Relationship Id="rId3" Type="http://schemas.openxmlformats.org/officeDocument/2006/relationships/chart" Target="../charts/chart7.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7EE"/>
        </a:solidFill>
      </p:bgPr>
    </p:bg>
    <p:spTree>
      <p:nvGrpSpPr>
        <p:cNvPr id="1" name=""/>
        <p:cNvGrpSpPr/>
        <p:nvPr/>
      </p:nvGrpSpPr>
      <p:grpSpPr>
        <a:xfrm>
          <a:off x="0" y="0"/>
          <a:ext cx="0" cy="0"/>
          <a:chOff x="0" y="0"/>
          <a:chExt cx="0" cy="0"/>
        </a:xfrm>
      </p:grpSpPr>
      <p:sp>
        <p:nvSpPr>
          <p:cNvPr id="28" name="Shape 0"/>
          <p:cNvSpPr/>
          <p:nvPr/>
        </p:nvSpPr>
        <p:spPr>
          <a:xfrm>
            <a:off x="8138159" y="0"/>
            <a:ext cx="4050793" cy="6858000"/>
          </a:xfrm>
          <a:prstGeom prst="rect">
            <a:avLst/>
          </a:prstGeom>
          <a:solidFill>
            <a:srgbClr val="FFF1BE"/>
          </a:solidFill>
          <a:ln w="12700">
            <a:solidFill>
              <a:srgbClr val="FFF1BE"/>
            </a:solidFill>
          </a:ln>
        </p:spPr>
        <p:txBody>
          <a:bodyPr lIns="45719" rIns="45719"/>
          <a:lstStyle/>
          <a:p>
            <a:pPr/>
          </a:p>
        </p:txBody>
      </p:sp>
      <p:sp>
        <p:nvSpPr>
          <p:cNvPr id="29" name="Shape 1"/>
          <p:cNvSpPr/>
          <p:nvPr/>
        </p:nvSpPr>
        <p:spPr>
          <a:xfrm rot="5400000">
            <a:off x="10908792" y="2606039"/>
            <a:ext cx="402337" cy="1005842"/>
          </a:xfrm>
          <a:prstGeom prst="ellipse">
            <a:avLst/>
          </a:prstGeom>
          <a:solidFill>
            <a:srgbClr val="F2B705"/>
          </a:solidFill>
          <a:ln w="6350">
            <a:solidFill>
              <a:srgbClr val="DC8F14"/>
            </a:solidFill>
          </a:ln>
        </p:spPr>
        <p:txBody>
          <a:bodyPr lIns="45719" rIns="45719"/>
          <a:lstStyle/>
          <a:p>
            <a:pPr/>
          </a:p>
        </p:txBody>
      </p:sp>
      <p:sp>
        <p:nvSpPr>
          <p:cNvPr id="30" name="Shape 2"/>
          <p:cNvSpPr/>
          <p:nvPr/>
        </p:nvSpPr>
        <p:spPr>
          <a:xfrm rot="6750000">
            <a:off x="10835706" y="2973461"/>
            <a:ext cx="402337" cy="1005841"/>
          </a:xfrm>
          <a:prstGeom prst="ellipse">
            <a:avLst/>
          </a:prstGeom>
          <a:solidFill>
            <a:srgbClr val="F2B705"/>
          </a:solidFill>
          <a:ln w="6350">
            <a:solidFill>
              <a:srgbClr val="DC8F14"/>
            </a:solidFill>
          </a:ln>
        </p:spPr>
        <p:txBody>
          <a:bodyPr lIns="45719" rIns="45719"/>
          <a:lstStyle/>
          <a:p>
            <a:pPr/>
          </a:p>
        </p:txBody>
      </p:sp>
      <p:sp>
        <p:nvSpPr>
          <p:cNvPr id="31" name="Shape 3"/>
          <p:cNvSpPr/>
          <p:nvPr/>
        </p:nvSpPr>
        <p:spPr>
          <a:xfrm rot="8100000">
            <a:off x="10627579" y="3284947"/>
            <a:ext cx="402337" cy="1005841"/>
          </a:xfrm>
          <a:prstGeom prst="ellipse">
            <a:avLst/>
          </a:prstGeom>
          <a:solidFill>
            <a:srgbClr val="F2B705"/>
          </a:solidFill>
          <a:ln w="6350">
            <a:solidFill>
              <a:srgbClr val="DC8F14"/>
            </a:solidFill>
          </a:ln>
        </p:spPr>
        <p:txBody>
          <a:bodyPr lIns="45719" rIns="45719"/>
          <a:lstStyle/>
          <a:p>
            <a:pPr/>
          </a:p>
        </p:txBody>
      </p:sp>
      <p:sp>
        <p:nvSpPr>
          <p:cNvPr id="32" name="Shape 4"/>
          <p:cNvSpPr/>
          <p:nvPr/>
        </p:nvSpPr>
        <p:spPr>
          <a:xfrm rot="9450000">
            <a:off x="10316094" y="3493075"/>
            <a:ext cx="402337" cy="1005841"/>
          </a:xfrm>
          <a:prstGeom prst="ellipse">
            <a:avLst/>
          </a:prstGeom>
          <a:solidFill>
            <a:srgbClr val="F2B705"/>
          </a:solidFill>
          <a:ln w="6350">
            <a:solidFill>
              <a:srgbClr val="DC8F14"/>
            </a:solidFill>
          </a:ln>
        </p:spPr>
        <p:txBody>
          <a:bodyPr lIns="45719" rIns="45719"/>
          <a:lstStyle/>
          <a:p>
            <a:pPr/>
          </a:p>
        </p:txBody>
      </p:sp>
      <p:sp>
        <p:nvSpPr>
          <p:cNvPr id="33" name="Shape 5"/>
          <p:cNvSpPr/>
          <p:nvPr/>
        </p:nvSpPr>
        <p:spPr>
          <a:xfrm rot="10800000">
            <a:off x="9948671" y="3566159"/>
            <a:ext cx="402337" cy="1005841"/>
          </a:xfrm>
          <a:prstGeom prst="ellipse">
            <a:avLst/>
          </a:prstGeom>
          <a:solidFill>
            <a:srgbClr val="F2B705"/>
          </a:solidFill>
          <a:ln w="6350">
            <a:solidFill>
              <a:srgbClr val="DC8F14"/>
            </a:solidFill>
          </a:ln>
        </p:spPr>
        <p:txBody>
          <a:bodyPr lIns="45719" rIns="45719"/>
          <a:lstStyle/>
          <a:p>
            <a:pPr/>
          </a:p>
        </p:txBody>
      </p:sp>
      <p:sp>
        <p:nvSpPr>
          <p:cNvPr id="34" name="Shape 6"/>
          <p:cNvSpPr/>
          <p:nvPr/>
        </p:nvSpPr>
        <p:spPr>
          <a:xfrm rot="12150000">
            <a:off x="9581250" y="3493075"/>
            <a:ext cx="402337" cy="1005841"/>
          </a:xfrm>
          <a:prstGeom prst="ellipse">
            <a:avLst/>
          </a:prstGeom>
          <a:solidFill>
            <a:srgbClr val="F2B705"/>
          </a:solidFill>
          <a:ln w="6350">
            <a:solidFill>
              <a:srgbClr val="DC8F14"/>
            </a:solidFill>
          </a:ln>
        </p:spPr>
        <p:txBody>
          <a:bodyPr lIns="45719" rIns="45719"/>
          <a:lstStyle/>
          <a:p>
            <a:pPr/>
          </a:p>
        </p:txBody>
      </p:sp>
      <p:sp>
        <p:nvSpPr>
          <p:cNvPr id="35" name="Shape 7"/>
          <p:cNvSpPr/>
          <p:nvPr/>
        </p:nvSpPr>
        <p:spPr>
          <a:xfrm rot="13500000">
            <a:off x="9269765" y="3284947"/>
            <a:ext cx="402337" cy="1005841"/>
          </a:xfrm>
          <a:prstGeom prst="ellipse">
            <a:avLst/>
          </a:prstGeom>
          <a:solidFill>
            <a:srgbClr val="F2B705"/>
          </a:solidFill>
          <a:ln w="6350">
            <a:solidFill>
              <a:srgbClr val="DC8F14"/>
            </a:solidFill>
          </a:ln>
        </p:spPr>
        <p:txBody>
          <a:bodyPr lIns="45719" rIns="45719"/>
          <a:lstStyle/>
          <a:p>
            <a:pPr/>
          </a:p>
        </p:txBody>
      </p:sp>
      <p:sp>
        <p:nvSpPr>
          <p:cNvPr id="36" name="Shape 8"/>
          <p:cNvSpPr/>
          <p:nvPr/>
        </p:nvSpPr>
        <p:spPr>
          <a:xfrm rot="14850000">
            <a:off x="9061636" y="2973461"/>
            <a:ext cx="402337" cy="1005841"/>
          </a:xfrm>
          <a:prstGeom prst="ellipse">
            <a:avLst/>
          </a:prstGeom>
          <a:solidFill>
            <a:srgbClr val="F2B705"/>
          </a:solidFill>
          <a:ln w="6350">
            <a:solidFill>
              <a:srgbClr val="DC8F14"/>
            </a:solidFill>
          </a:ln>
        </p:spPr>
        <p:txBody>
          <a:bodyPr lIns="45719" rIns="45719"/>
          <a:lstStyle/>
          <a:p>
            <a:pPr/>
          </a:p>
        </p:txBody>
      </p:sp>
      <p:sp>
        <p:nvSpPr>
          <p:cNvPr id="37" name="Shape 9"/>
          <p:cNvSpPr/>
          <p:nvPr/>
        </p:nvSpPr>
        <p:spPr>
          <a:xfrm rot="16200000">
            <a:off x="8988552" y="2606039"/>
            <a:ext cx="402337" cy="1005842"/>
          </a:xfrm>
          <a:prstGeom prst="ellipse">
            <a:avLst/>
          </a:prstGeom>
          <a:solidFill>
            <a:srgbClr val="F2B705"/>
          </a:solidFill>
          <a:ln w="6350">
            <a:solidFill>
              <a:srgbClr val="DC8F14"/>
            </a:solidFill>
          </a:ln>
        </p:spPr>
        <p:txBody>
          <a:bodyPr lIns="45719" rIns="45719"/>
          <a:lstStyle/>
          <a:p>
            <a:pPr/>
          </a:p>
        </p:txBody>
      </p:sp>
      <p:sp>
        <p:nvSpPr>
          <p:cNvPr id="38" name="Shape 10"/>
          <p:cNvSpPr/>
          <p:nvPr/>
        </p:nvSpPr>
        <p:spPr>
          <a:xfrm rot="17550000">
            <a:off x="9061636" y="2238618"/>
            <a:ext cx="402337" cy="1005841"/>
          </a:xfrm>
          <a:prstGeom prst="ellipse">
            <a:avLst/>
          </a:prstGeom>
          <a:solidFill>
            <a:srgbClr val="F2B705"/>
          </a:solidFill>
          <a:ln w="6350">
            <a:solidFill>
              <a:srgbClr val="DC8F14"/>
            </a:solidFill>
          </a:ln>
        </p:spPr>
        <p:txBody>
          <a:bodyPr lIns="45719" rIns="45719"/>
          <a:lstStyle/>
          <a:p>
            <a:pPr/>
          </a:p>
        </p:txBody>
      </p:sp>
      <p:sp>
        <p:nvSpPr>
          <p:cNvPr id="39" name="Shape 11"/>
          <p:cNvSpPr/>
          <p:nvPr/>
        </p:nvSpPr>
        <p:spPr>
          <a:xfrm rot="18900000">
            <a:off x="9269765" y="1927132"/>
            <a:ext cx="402337" cy="1005842"/>
          </a:xfrm>
          <a:prstGeom prst="ellipse">
            <a:avLst/>
          </a:prstGeom>
          <a:solidFill>
            <a:srgbClr val="F2B705"/>
          </a:solidFill>
          <a:ln w="6350">
            <a:solidFill>
              <a:srgbClr val="DC8F14"/>
            </a:solidFill>
          </a:ln>
        </p:spPr>
        <p:txBody>
          <a:bodyPr lIns="45719" rIns="45719"/>
          <a:lstStyle/>
          <a:p>
            <a:pPr/>
          </a:p>
        </p:txBody>
      </p:sp>
      <p:sp>
        <p:nvSpPr>
          <p:cNvPr id="40" name="Shape 12"/>
          <p:cNvSpPr/>
          <p:nvPr/>
        </p:nvSpPr>
        <p:spPr>
          <a:xfrm rot="20250000">
            <a:off x="9581250" y="1719004"/>
            <a:ext cx="402337" cy="1005842"/>
          </a:xfrm>
          <a:prstGeom prst="ellipse">
            <a:avLst/>
          </a:prstGeom>
          <a:solidFill>
            <a:srgbClr val="F2B705"/>
          </a:solidFill>
          <a:ln w="6350">
            <a:solidFill>
              <a:srgbClr val="DC8F14"/>
            </a:solidFill>
          </a:ln>
        </p:spPr>
        <p:txBody>
          <a:bodyPr lIns="45719" rIns="45719"/>
          <a:lstStyle/>
          <a:p>
            <a:pPr/>
          </a:p>
        </p:txBody>
      </p:sp>
      <p:sp>
        <p:nvSpPr>
          <p:cNvPr id="41" name="Shape 13"/>
          <p:cNvSpPr/>
          <p:nvPr/>
        </p:nvSpPr>
        <p:spPr>
          <a:xfrm>
            <a:off x="9948671" y="1645920"/>
            <a:ext cx="402337" cy="1005841"/>
          </a:xfrm>
          <a:prstGeom prst="ellipse">
            <a:avLst/>
          </a:prstGeom>
          <a:solidFill>
            <a:srgbClr val="F2B705"/>
          </a:solidFill>
          <a:ln w="6350">
            <a:solidFill>
              <a:srgbClr val="DC8F14"/>
            </a:solidFill>
          </a:ln>
        </p:spPr>
        <p:txBody>
          <a:bodyPr lIns="45719" rIns="45719"/>
          <a:lstStyle/>
          <a:p>
            <a:pPr/>
          </a:p>
        </p:txBody>
      </p:sp>
      <p:sp>
        <p:nvSpPr>
          <p:cNvPr id="42" name="Shape 14"/>
          <p:cNvSpPr/>
          <p:nvPr/>
        </p:nvSpPr>
        <p:spPr>
          <a:xfrm rot="1350000">
            <a:off x="10316094" y="1719004"/>
            <a:ext cx="402337" cy="1005842"/>
          </a:xfrm>
          <a:prstGeom prst="ellipse">
            <a:avLst/>
          </a:prstGeom>
          <a:solidFill>
            <a:srgbClr val="F2B705"/>
          </a:solidFill>
          <a:ln w="6350">
            <a:solidFill>
              <a:srgbClr val="DC8F14"/>
            </a:solidFill>
          </a:ln>
        </p:spPr>
        <p:txBody>
          <a:bodyPr lIns="45719" rIns="45719"/>
          <a:lstStyle/>
          <a:p>
            <a:pPr/>
          </a:p>
        </p:txBody>
      </p:sp>
      <p:sp>
        <p:nvSpPr>
          <p:cNvPr id="43" name="Shape 15"/>
          <p:cNvSpPr/>
          <p:nvPr/>
        </p:nvSpPr>
        <p:spPr>
          <a:xfrm rot="2700000">
            <a:off x="10627579" y="1927132"/>
            <a:ext cx="402337" cy="1005842"/>
          </a:xfrm>
          <a:prstGeom prst="ellipse">
            <a:avLst/>
          </a:prstGeom>
          <a:solidFill>
            <a:srgbClr val="F2B705"/>
          </a:solidFill>
          <a:ln w="6350">
            <a:solidFill>
              <a:srgbClr val="DC8F14"/>
            </a:solidFill>
          </a:ln>
        </p:spPr>
        <p:txBody>
          <a:bodyPr lIns="45719" rIns="45719"/>
          <a:lstStyle/>
          <a:p>
            <a:pPr/>
          </a:p>
        </p:txBody>
      </p:sp>
      <p:sp>
        <p:nvSpPr>
          <p:cNvPr id="44" name="Shape 16"/>
          <p:cNvSpPr/>
          <p:nvPr/>
        </p:nvSpPr>
        <p:spPr>
          <a:xfrm rot="4050000">
            <a:off x="10835706" y="2238618"/>
            <a:ext cx="402337" cy="1005841"/>
          </a:xfrm>
          <a:prstGeom prst="ellipse">
            <a:avLst/>
          </a:prstGeom>
          <a:solidFill>
            <a:srgbClr val="F2B705"/>
          </a:solidFill>
          <a:ln w="6350">
            <a:solidFill>
              <a:srgbClr val="DC8F14"/>
            </a:solidFill>
          </a:ln>
        </p:spPr>
        <p:txBody>
          <a:bodyPr lIns="45719" rIns="45719"/>
          <a:lstStyle/>
          <a:p>
            <a:pPr/>
          </a:p>
        </p:txBody>
      </p:sp>
      <p:sp>
        <p:nvSpPr>
          <p:cNvPr id="45" name="Shape 17"/>
          <p:cNvSpPr/>
          <p:nvPr/>
        </p:nvSpPr>
        <p:spPr>
          <a:xfrm>
            <a:off x="9372600" y="2331720"/>
            <a:ext cx="1554481" cy="1554481"/>
          </a:xfrm>
          <a:prstGeom prst="ellipse">
            <a:avLst/>
          </a:prstGeom>
          <a:solidFill>
            <a:srgbClr val="5C3D23"/>
          </a:solidFill>
          <a:ln w="12700">
            <a:solidFill>
              <a:srgbClr val="5C3D23"/>
            </a:solidFill>
          </a:ln>
        </p:spPr>
        <p:txBody>
          <a:bodyPr lIns="45719" rIns="45719"/>
          <a:lstStyle/>
          <a:p>
            <a:pPr/>
          </a:p>
        </p:txBody>
      </p:sp>
      <p:sp>
        <p:nvSpPr>
          <p:cNvPr id="46" name="Text 18"/>
          <p:cNvSpPr txBox="1"/>
          <p:nvPr/>
        </p:nvSpPr>
        <p:spPr>
          <a:xfrm>
            <a:off x="731519" y="1196779"/>
            <a:ext cx="6949442"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1300">
                <a:solidFill>
                  <a:srgbClr val="DC8F14"/>
                </a:solidFill>
              </a:defRPr>
            </a:lvl1pPr>
          </a:lstStyle>
          <a:p>
            <a:pPr/>
            <a:r>
              <a:t>CNH DATA COLLECTION PROJECT</a:t>
            </a:r>
          </a:p>
        </p:txBody>
      </p:sp>
      <p:sp>
        <p:nvSpPr>
          <p:cNvPr id="47" name="Text 19"/>
          <p:cNvSpPr txBox="1"/>
          <p:nvPr/>
        </p:nvSpPr>
        <p:spPr>
          <a:xfrm>
            <a:off x="731520" y="1554480"/>
            <a:ext cx="7132319" cy="1193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4000">
                <a:solidFill>
                  <a:srgbClr val="2D5B3F"/>
                </a:solidFill>
                <a:latin typeface="Cambria"/>
                <a:ea typeface="Cambria"/>
                <a:cs typeface="Cambria"/>
                <a:sym typeface="Cambria"/>
              </a:defRPr>
            </a:lvl1pPr>
          </a:lstStyle>
          <a:p>
            <a:pPr/>
            <a:r>
              <a:t>From sunflower seeds to a weight estimate</a:t>
            </a:r>
          </a:p>
        </p:txBody>
      </p:sp>
      <p:sp>
        <p:nvSpPr>
          <p:cNvPr id="48" name="Text 20"/>
          <p:cNvSpPr txBox="1"/>
          <p:nvPr/>
        </p:nvSpPr>
        <p:spPr>
          <a:xfrm>
            <a:off x="731519" y="3482166"/>
            <a:ext cx="6949442" cy="53374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253027"/>
                </a:solidFill>
              </a:defRPr>
            </a:lvl1pPr>
          </a:lstStyle>
          <a:p>
            <a:pPr/>
            <a:r>
              <a:t>What can make the weight wrong, how we control it, how easy it is for the user, and what the data cost</a:t>
            </a:r>
          </a:p>
        </p:txBody>
      </p:sp>
      <p:sp>
        <p:nvSpPr>
          <p:cNvPr id="49" name="Text 21"/>
          <p:cNvSpPr txBox="1"/>
          <p:nvPr/>
        </p:nvSpPr>
        <p:spPr>
          <a:xfrm>
            <a:off x="731519" y="5208840"/>
            <a:ext cx="694944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687063"/>
                </a:solidFill>
              </a:defRPr>
            </a:lvl1pPr>
          </a:lstStyle>
          <a:p>
            <a:pPr/>
            <a:r>
              <a:t>Hadi Nasooti and Jia  |  KU Leuven  |  26 October 2026</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The story in one slide</a:t>
            </a:r>
          </a:p>
        </p:txBody>
      </p:sp>
      <p:sp>
        <p:nvSpPr>
          <p:cNvPr id="54"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OVERVIEW</a:t>
            </a:r>
          </a:p>
        </p:txBody>
      </p:sp>
      <p:sp>
        <p:nvSpPr>
          <p:cNvPr id="55" name="Shape 2"/>
          <p:cNvSpPr/>
          <p:nvPr/>
        </p:nvSpPr>
        <p:spPr>
          <a:xfrm>
            <a:off x="548640" y="1325880"/>
            <a:ext cx="6583681" cy="1417320"/>
          </a:xfrm>
          <a:prstGeom prst="roundRect">
            <a:avLst>
              <a:gd name="adj" fmla="val 7742"/>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56" name="Text 3"/>
          <p:cNvSpPr txBox="1"/>
          <p:nvPr/>
        </p:nvSpPr>
        <p:spPr>
          <a:xfrm>
            <a:off x="713231" y="1435608"/>
            <a:ext cx="6254498" cy="72275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What can make the weight wrong?</a:t>
            </a:r>
          </a:p>
          <a:p>
            <a:pPr>
              <a:spcBef>
                <a:spcPts val="400"/>
              </a:spcBef>
              <a:defRPr sz="1400">
                <a:solidFill>
                  <a:srgbClr val="253027"/>
                </a:solidFill>
              </a:defRPr>
            </a:pPr>
            <a:r>
              <a:t>We listed 32 variables and measured most of them (the untested ones are marked). Camera height, phone and person are removed by the fixed scale.</a:t>
            </a:r>
          </a:p>
        </p:txBody>
      </p:sp>
      <p:sp>
        <p:nvSpPr>
          <p:cNvPr id="57" name="Shape 4"/>
          <p:cNvSpPr/>
          <p:nvPr/>
        </p:nvSpPr>
        <p:spPr>
          <a:xfrm>
            <a:off x="548640" y="2926079"/>
            <a:ext cx="6583681" cy="1417321"/>
          </a:xfrm>
          <a:prstGeom prst="roundRect">
            <a:avLst>
              <a:gd name="adj" fmla="val 7742"/>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58" name="Text 5"/>
          <p:cNvSpPr txBox="1"/>
          <p:nvPr/>
        </p:nvSpPr>
        <p:spPr>
          <a:xfrm>
            <a:off x="713231" y="3035807"/>
            <a:ext cx="6254498" cy="722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Is it easy for the user?</a:t>
            </a:r>
          </a:p>
          <a:p>
            <a:pPr>
              <a:spcBef>
                <a:spcPts val="400"/>
              </a:spcBef>
              <a:defRPr sz="1400">
                <a:solidFill>
                  <a:srgbClr val="253027"/>
                </a:solidFill>
              </a:defRPr>
            </a:pPr>
            <a:r>
              <a:t>One photo from any height, no ruler, no settings. The app gives one light with one sentence: what to change if the photo is not good.</a:t>
            </a:r>
          </a:p>
        </p:txBody>
      </p:sp>
      <p:sp>
        <p:nvSpPr>
          <p:cNvPr id="59" name="Shape 6"/>
          <p:cNvSpPr/>
          <p:nvPr/>
        </p:nvSpPr>
        <p:spPr>
          <a:xfrm>
            <a:off x="548640" y="4526279"/>
            <a:ext cx="6583681" cy="1417321"/>
          </a:xfrm>
          <a:prstGeom prst="roundRect">
            <a:avLst>
              <a:gd name="adj" fmla="val 7742"/>
            </a:avLst>
          </a:prstGeom>
          <a:solidFill>
            <a:srgbClr val="FFFFFF"/>
          </a:solidFill>
          <a:ln>
            <a:solidFill>
              <a:srgbClr val="E6E1D3"/>
            </a:solidFill>
          </a:ln>
          <a:effectLst>
            <a:outerShdw sx="100000" sy="100000" kx="0" ky="0" algn="b" rotWithShape="0" blurRad="50800" dist="19050" dir="5400000">
              <a:srgbClr val="000000">
                <a:alpha val="8000"/>
              </a:srgbClr>
            </a:outerShdw>
          </a:effectLst>
        </p:spPr>
        <p:txBody>
          <a:bodyPr lIns="45719" rIns="45719"/>
          <a:lstStyle/>
          <a:p>
            <a:pPr/>
          </a:p>
        </p:txBody>
      </p:sp>
      <p:sp>
        <p:nvSpPr>
          <p:cNvPr id="60" name="Text 7"/>
          <p:cNvSpPr txBox="1"/>
          <p:nvPr/>
        </p:nvSpPr>
        <p:spPr>
          <a:xfrm>
            <a:off x="713231" y="4636008"/>
            <a:ext cx="6254498" cy="722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Is the data worth its cost?</a:t>
            </a:r>
          </a:p>
          <a:p>
            <a:pPr>
              <a:spcBef>
                <a:spcPts val="400"/>
              </a:spcBef>
              <a:defRPr sz="1400">
                <a:solidFill>
                  <a:srgbClr val="253027"/>
                </a:solidFill>
              </a:defRPr>
            </a:pPr>
            <a:r>
              <a:t>10 piles (about 2 hours, about 100 euro) give ±9.5 % with the marker sheet. We have 17 piles: ±8.7 %. Jia's 9 test piles: 9 of 9 inside.</a:t>
            </a:r>
          </a:p>
        </p:txBody>
      </p:sp>
      <p:sp>
        <p:nvSpPr>
          <p:cNvPr id="61" name="Text 8"/>
          <p:cNvSpPr txBox="1"/>
          <p:nvPr/>
        </p:nvSpPr>
        <p:spPr>
          <a:xfrm>
            <a:off x="7680959" y="1325880"/>
            <a:ext cx="4023360" cy="9922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4000">
                <a:solidFill>
                  <a:srgbClr val="2D5B3F"/>
                </a:solidFill>
              </a:defRPr>
            </a:pPr>
            <a:r>
              <a:t>1.2 %</a:t>
            </a:r>
          </a:p>
          <a:p>
            <a:pPr>
              <a:defRPr sz="1300">
                <a:solidFill>
                  <a:srgbClr val="687063"/>
                </a:solidFill>
              </a:defRPr>
            </a:pPr>
            <a:r>
              <a:t>what the photo itself adds: one pile, 16 photos, 2 persons, 2 phones, 2 heights</a:t>
            </a:r>
          </a:p>
        </p:txBody>
      </p:sp>
      <p:sp>
        <p:nvSpPr>
          <p:cNvPr id="62" name="Text 9"/>
          <p:cNvSpPr txBox="1"/>
          <p:nvPr/>
        </p:nvSpPr>
        <p:spPr>
          <a:xfrm>
            <a:off x="7680959" y="2926079"/>
            <a:ext cx="4023360" cy="9922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4000">
                <a:solidFill>
                  <a:srgbClr val="DC8F14"/>
                </a:solidFill>
              </a:defRPr>
            </a:pPr>
            <a:r>
              <a:t>53 of 53</a:t>
            </a:r>
          </a:p>
          <a:p>
            <a:pPr>
              <a:defRPr sz="1300">
                <a:solidFill>
                  <a:srgbClr val="687063"/>
                </a:solidFill>
              </a:defRPr>
            </a:pPr>
            <a:r>
              <a:t>of our normal photos get a green light; all 6 problem photos orange</a:t>
            </a:r>
          </a:p>
        </p:txBody>
      </p:sp>
      <p:sp>
        <p:nvSpPr>
          <p:cNvPr id="63" name="Text 10"/>
          <p:cNvSpPr txBox="1"/>
          <p:nvPr/>
        </p:nvSpPr>
        <p:spPr>
          <a:xfrm>
            <a:off x="7680959" y="4526279"/>
            <a:ext cx="4023360" cy="7890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4000">
                <a:solidFill>
                  <a:srgbClr val="5C3D23"/>
                </a:solidFill>
              </a:defRPr>
            </a:pPr>
            <a:r>
              <a:t>±8.7 %</a:t>
            </a:r>
          </a:p>
          <a:p>
            <a:pPr>
              <a:defRPr sz="1300">
                <a:solidFill>
                  <a:srgbClr val="687063"/>
                </a:solidFill>
              </a:defRPr>
            </a:pPr>
            <a:r>
              <a:t>95 % range for one photo, 17 piles, about 3.6 hours of work</a:t>
            </a:r>
          </a:p>
        </p:txBody>
      </p:sp>
      <p:sp>
        <p:nvSpPr>
          <p:cNvPr id="64"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8"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How we collect one sample</a:t>
            </a:r>
          </a:p>
        </p:txBody>
      </p:sp>
      <p:sp>
        <p:nvSpPr>
          <p:cNvPr id="69"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METHOD</a:t>
            </a:r>
          </a:p>
        </p:txBody>
      </p:sp>
      <p:sp>
        <p:nvSpPr>
          <p:cNvPr id="70" name="Shape 2"/>
          <p:cNvSpPr/>
          <p:nvPr/>
        </p:nvSpPr>
        <p:spPr>
          <a:xfrm>
            <a:off x="548640" y="1371600"/>
            <a:ext cx="2103121" cy="1600200"/>
          </a:xfrm>
          <a:prstGeom prst="roundRect">
            <a:avLst>
              <a:gd name="adj" fmla="val 6857"/>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71" name="Text 3"/>
          <p:cNvSpPr txBox="1"/>
          <p:nvPr/>
        </p:nvSpPr>
        <p:spPr>
          <a:xfrm>
            <a:off x="713232" y="1481327"/>
            <a:ext cx="1773935" cy="10021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700">
                <a:solidFill>
                  <a:srgbClr val="2D5B3F"/>
                </a:solidFill>
              </a:defRPr>
            </a:pPr>
            <a:r>
              <a:t>1  Weigh</a:t>
            </a:r>
          </a:p>
          <a:p>
            <a:pPr>
              <a:defRPr b="1" sz="1700">
                <a:solidFill>
                  <a:srgbClr val="2D5B3F"/>
                </a:solidFill>
              </a:defRPr>
            </a:pPr>
          </a:p>
          <a:p>
            <a:pPr>
              <a:spcBef>
                <a:spcPts val="400"/>
              </a:spcBef>
              <a:defRPr sz="1400">
                <a:solidFill>
                  <a:srgbClr val="253027"/>
                </a:solidFill>
              </a:defRPr>
            </a:pPr>
            <a:r>
              <a:t>TARE, then scoop the seeds; write the weight</a:t>
            </a:r>
          </a:p>
        </p:txBody>
      </p:sp>
      <p:sp>
        <p:nvSpPr>
          <p:cNvPr id="72" name="Shape 4"/>
          <p:cNvSpPr/>
          <p:nvPr/>
        </p:nvSpPr>
        <p:spPr>
          <a:xfrm>
            <a:off x="2834639" y="1371600"/>
            <a:ext cx="2103122" cy="1600200"/>
          </a:xfrm>
          <a:prstGeom prst="roundRect">
            <a:avLst>
              <a:gd name="adj" fmla="val 6857"/>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73" name="Text 5"/>
          <p:cNvSpPr txBox="1"/>
          <p:nvPr/>
        </p:nvSpPr>
        <p:spPr>
          <a:xfrm>
            <a:off x="2999232" y="1481327"/>
            <a:ext cx="1773935" cy="12815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700">
                <a:solidFill>
                  <a:srgbClr val="2D5B3F"/>
                </a:solidFill>
              </a:defRPr>
            </a:pPr>
            <a:r>
              <a:t>2  Spread</a:t>
            </a:r>
          </a:p>
          <a:p>
            <a:pPr>
              <a:spcBef>
                <a:spcPts val="400"/>
              </a:spcBef>
              <a:defRPr sz="1400">
                <a:solidFill>
                  <a:srgbClr val="253027"/>
                </a:solidFill>
              </a:defRPr>
            </a:pPr>
            <a:endParaRPr sz="1700"/>
          </a:p>
          <a:p>
            <a:pPr>
              <a:spcBef>
                <a:spcPts val="400"/>
              </a:spcBef>
              <a:defRPr sz="1400">
                <a:solidFill>
                  <a:srgbClr val="253027"/>
                </a:solidFill>
              </a:defRPr>
            </a:pPr>
            <a:r>
              <a:t>On white background, no seed touches another</a:t>
            </a:r>
          </a:p>
        </p:txBody>
      </p:sp>
      <p:sp>
        <p:nvSpPr>
          <p:cNvPr id="74" name="Shape 6"/>
          <p:cNvSpPr/>
          <p:nvPr/>
        </p:nvSpPr>
        <p:spPr>
          <a:xfrm>
            <a:off x="5120640" y="1371600"/>
            <a:ext cx="2103121" cy="1600200"/>
          </a:xfrm>
          <a:prstGeom prst="roundRect">
            <a:avLst>
              <a:gd name="adj" fmla="val 6857"/>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75" name="Text 7"/>
          <p:cNvSpPr txBox="1"/>
          <p:nvPr/>
        </p:nvSpPr>
        <p:spPr>
          <a:xfrm>
            <a:off x="5285232" y="1481327"/>
            <a:ext cx="1773935" cy="1230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700">
                <a:solidFill>
                  <a:srgbClr val="2D5B3F"/>
                </a:solidFill>
              </a:defRPr>
            </a:pPr>
            <a:r>
              <a:t>3  Markers</a:t>
            </a:r>
          </a:p>
          <a:p>
            <a:pPr>
              <a:defRPr b="1" sz="1700">
                <a:solidFill>
                  <a:srgbClr val="2D5B3F"/>
                </a:solidFill>
              </a:defRPr>
            </a:pPr>
          </a:p>
          <a:p>
            <a:pPr>
              <a:spcBef>
                <a:spcPts val="400"/>
              </a:spcBef>
              <a:defRPr sz="1400">
                <a:solidFill>
                  <a:srgbClr val="253027"/>
                </a:solidFill>
              </a:defRPr>
            </a:pPr>
            <a:r>
              <a:t>Two printed 50 mm squares next to the seeds</a:t>
            </a:r>
          </a:p>
        </p:txBody>
      </p:sp>
      <p:sp>
        <p:nvSpPr>
          <p:cNvPr id="76" name="Shape 8"/>
          <p:cNvSpPr/>
          <p:nvPr/>
        </p:nvSpPr>
        <p:spPr>
          <a:xfrm>
            <a:off x="7406640" y="1371600"/>
            <a:ext cx="2103121" cy="1600200"/>
          </a:xfrm>
          <a:prstGeom prst="roundRect">
            <a:avLst>
              <a:gd name="adj" fmla="val 6857"/>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77" name="Text 9"/>
          <p:cNvSpPr txBox="1"/>
          <p:nvPr/>
        </p:nvSpPr>
        <p:spPr>
          <a:xfrm>
            <a:off x="7571231" y="1481327"/>
            <a:ext cx="1773936" cy="1230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700">
                <a:solidFill>
                  <a:srgbClr val="2D5B3F"/>
                </a:solidFill>
              </a:defRPr>
            </a:pPr>
            <a:r>
              <a:t>4  Photo</a:t>
            </a:r>
          </a:p>
          <a:p>
            <a:pPr>
              <a:defRPr b="1" sz="1700">
                <a:solidFill>
                  <a:srgbClr val="2D5B3F"/>
                </a:solidFill>
              </a:defRPr>
            </a:pPr>
          </a:p>
          <a:p>
            <a:pPr>
              <a:spcBef>
                <a:spcPts val="400"/>
              </a:spcBef>
              <a:defRPr sz="1400">
                <a:solidFill>
                  <a:srgbClr val="253027"/>
                </a:solidFill>
              </a:defRPr>
            </a:pPr>
            <a:r>
              <a:t>Straight down, any height, 1x camera, 2 photos</a:t>
            </a:r>
          </a:p>
        </p:txBody>
      </p:sp>
      <p:sp>
        <p:nvSpPr>
          <p:cNvPr id="78" name="Shape 10"/>
          <p:cNvSpPr/>
          <p:nvPr/>
        </p:nvSpPr>
        <p:spPr>
          <a:xfrm>
            <a:off x="9692640" y="1371600"/>
            <a:ext cx="2103121" cy="1600200"/>
          </a:xfrm>
          <a:prstGeom prst="roundRect">
            <a:avLst>
              <a:gd name="adj" fmla="val 6857"/>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79" name="Text 11"/>
          <p:cNvSpPr txBox="1"/>
          <p:nvPr/>
        </p:nvSpPr>
        <p:spPr>
          <a:xfrm>
            <a:off x="9857231" y="1481327"/>
            <a:ext cx="1773936" cy="10021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700">
                <a:solidFill>
                  <a:srgbClr val="2D5B3F"/>
                </a:solidFill>
              </a:defRPr>
            </a:pPr>
            <a:r>
              <a:t>5  Weigh again</a:t>
            </a:r>
          </a:p>
          <a:p>
            <a:pPr>
              <a:defRPr b="1" sz="1700">
                <a:solidFill>
                  <a:srgbClr val="2D5B3F"/>
                </a:solidFill>
              </a:defRPr>
            </a:pPr>
          </a:p>
          <a:p>
            <a:pPr>
              <a:spcBef>
                <a:spcPts val="400"/>
              </a:spcBef>
              <a:defRPr sz="1400">
                <a:solidFill>
                  <a:srgbClr val="253027"/>
                </a:solidFill>
              </a:defRPr>
            </a:pPr>
            <a:r>
              <a:t>TARE, all seeds back; this weight is used</a:t>
            </a:r>
          </a:p>
        </p:txBody>
      </p:sp>
      <p:sp>
        <p:nvSpPr>
          <p:cNvPr id="80" name="Shape 12"/>
          <p:cNvSpPr/>
          <p:nvPr/>
        </p:nvSpPr>
        <p:spPr>
          <a:xfrm>
            <a:off x="548640" y="3516591"/>
            <a:ext cx="5486401" cy="2444790"/>
          </a:xfrm>
          <a:prstGeom prst="roundRect">
            <a:avLst>
              <a:gd name="adj" fmla="val 4488"/>
            </a:avLst>
          </a:prstGeom>
          <a:solidFill>
            <a:srgbClr val="FFFFFF"/>
          </a:solidFill>
          <a:ln>
            <a:solidFill>
              <a:srgbClr val="E6E1D3"/>
            </a:solidFill>
          </a:ln>
          <a:effectLst>
            <a:outerShdw sx="100000" sy="100000" kx="0" ky="0" algn="b" rotWithShape="0" blurRad="50800" dist="19050" dir="5400000">
              <a:srgbClr val="000000">
                <a:alpha val="8000"/>
              </a:srgbClr>
            </a:outerShdw>
          </a:effectLst>
        </p:spPr>
        <p:txBody>
          <a:bodyPr lIns="45719" rIns="45719"/>
          <a:lstStyle/>
          <a:p>
            <a:pPr/>
          </a:p>
        </p:txBody>
      </p:sp>
      <p:sp>
        <p:nvSpPr>
          <p:cNvPr id="81" name="Text 13"/>
          <p:cNvSpPr txBox="1"/>
          <p:nvPr/>
        </p:nvSpPr>
        <p:spPr>
          <a:xfrm>
            <a:off x="698195" y="3660120"/>
            <a:ext cx="5187290" cy="215773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Each rule comes from a problem we measured</a:t>
            </a:r>
          </a:p>
          <a:p>
            <a:pPr>
              <a:spcBef>
                <a:spcPts val="400"/>
              </a:spcBef>
              <a:defRPr sz="1400">
                <a:solidFill>
                  <a:srgbClr val="253027"/>
                </a:solidFill>
              </a:defRPr>
            </a:pPr>
            <a:r>
              <a:rPr sz="1600"/>
              <a:t>・</a:t>
            </a:r>
            <a:r>
              <a:rPr b="1"/>
              <a:t>TARE every time: </a:t>
            </a:r>
            <a:r>
              <a:t>without it the scale read 1 g too high (coin test).</a:t>
            </a:r>
            <a:endParaRPr sz="1600"/>
          </a:p>
          <a:p>
            <a:pPr>
              <a:spcBef>
                <a:spcPts val="200"/>
              </a:spcBef>
              <a:defRPr sz="1400">
                <a:solidFill>
                  <a:srgbClr val="253027"/>
                </a:solidFill>
              </a:defRPr>
            </a:pPr>
            <a:r>
              <a:rPr sz="1600"/>
              <a:t>・</a:t>
            </a:r>
            <a:r>
              <a:rPr b="1"/>
              <a:t>No touching seeds:</a:t>
            </a:r>
            <a:r>
              <a:t> touching seeds gave 16 to 19 % fewer seeds.</a:t>
            </a:r>
            <a:endParaRPr sz="1600"/>
          </a:p>
          <a:p>
            <a:pPr>
              <a:spcBef>
                <a:spcPts val="200"/>
              </a:spcBef>
              <a:defRPr sz="1400">
                <a:solidFill>
                  <a:srgbClr val="253027"/>
                </a:solidFill>
              </a:defRPr>
            </a:pPr>
            <a:r>
              <a:rPr sz="1600"/>
              <a:t>・</a:t>
            </a:r>
            <a:r>
              <a:rPr b="1"/>
              <a:t>Markers in the photo: </a:t>
            </a:r>
            <a:r>
              <a:t>without them the count depends on height and phone.</a:t>
            </a:r>
            <a:endParaRPr sz="1600"/>
          </a:p>
          <a:p>
            <a:pPr>
              <a:spcBef>
                <a:spcPts val="200"/>
              </a:spcBef>
              <a:defRPr sz="1400">
                <a:solidFill>
                  <a:srgbClr val="253027"/>
                </a:solidFill>
              </a:defRPr>
            </a:pPr>
            <a:r>
              <a:rPr sz="1600"/>
              <a:t>・</a:t>
            </a:r>
            <a:r>
              <a:rPr b="1"/>
              <a:t>Nothing else in the photo: </a:t>
            </a:r>
            <a:r>
              <a:t>false boxes on writing and a ruler.</a:t>
            </a:r>
            <a:endParaRPr sz="1600"/>
          </a:p>
          <a:p>
            <a:pPr>
              <a:spcBef>
                <a:spcPts val="200"/>
              </a:spcBef>
              <a:defRPr sz="1400">
                <a:solidFill>
                  <a:srgbClr val="253027"/>
                </a:solidFill>
              </a:defRPr>
            </a:pPr>
            <a:r>
              <a:rPr sz="1600"/>
              <a:t>・</a:t>
            </a:r>
            <a:r>
              <a:rPr b="1"/>
              <a:t>Never crop: </a:t>
            </a:r>
            <a:r>
              <a:t>cropping cut seeds at the edge; the app ignores the rest of the photo.</a:t>
            </a:r>
          </a:p>
        </p:txBody>
      </p:sp>
      <p:sp>
        <p:nvSpPr>
          <p:cNvPr id="82" name="Shape 14"/>
          <p:cNvSpPr/>
          <p:nvPr/>
        </p:nvSpPr>
        <p:spPr>
          <a:xfrm>
            <a:off x="6263640" y="3516591"/>
            <a:ext cx="5394960" cy="2444790"/>
          </a:xfrm>
          <a:prstGeom prst="roundRect">
            <a:avLst>
              <a:gd name="adj" fmla="val 4488"/>
            </a:avLst>
          </a:prstGeom>
          <a:solidFill>
            <a:srgbClr val="FBE3D6"/>
          </a:solidFill>
          <a:ln>
            <a:solidFill>
              <a:srgbClr val="FBE3D6"/>
            </a:solidFill>
          </a:ln>
          <a:effectLst>
            <a:outerShdw sx="100000" sy="100000" kx="0" ky="0" algn="b" rotWithShape="0" blurRad="50800" dist="19050" dir="5400000">
              <a:srgbClr val="000000">
                <a:alpha val="8000"/>
              </a:srgbClr>
            </a:outerShdw>
          </a:effectLst>
        </p:spPr>
        <p:txBody>
          <a:bodyPr lIns="45719" rIns="45719"/>
          <a:lstStyle/>
          <a:p>
            <a:pPr/>
          </a:p>
        </p:txBody>
      </p:sp>
      <p:sp>
        <p:nvSpPr>
          <p:cNvPr id="83" name="Text 15"/>
          <p:cNvSpPr txBox="1"/>
          <p:nvPr/>
        </p:nvSpPr>
        <p:spPr>
          <a:xfrm>
            <a:off x="6428232" y="3676926"/>
            <a:ext cx="5065777" cy="1230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Written down so someone else can follow it</a:t>
            </a:r>
          </a:p>
          <a:p>
            <a:pPr>
              <a:spcBef>
                <a:spcPts val="400"/>
              </a:spcBef>
              <a:defRPr sz="1400">
                <a:solidFill>
                  <a:srgbClr val="253027"/>
                </a:solidFill>
              </a:defRPr>
            </a:pPr>
            <a:r>
              <a:t>Procedure (version 3) in the repository, PROCEDURE.md.</a:t>
            </a:r>
            <a:endParaRPr sz="1600"/>
          </a:p>
          <a:p>
            <a:pPr>
              <a:spcBef>
                <a:spcPts val="200"/>
              </a:spcBef>
              <a:defRPr sz="1400">
                <a:solidFill>
                  <a:srgbClr val="253027"/>
                </a:solidFill>
              </a:defRPr>
            </a:pPr>
            <a:r>
              <a:t>Tested: Jia repeated it on 9 new piles with another phone (slide 10).</a:t>
            </a:r>
            <a:endParaRPr sz="1600"/>
          </a:p>
          <a:p>
            <a:pPr>
              <a:spcBef>
                <a:spcPts val="200"/>
              </a:spcBef>
              <a:defRPr sz="1400">
                <a:solidFill>
                  <a:srgbClr val="253027"/>
                </a:solidFill>
              </a:defRPr>
            </a:pPr>
            <a:r>
              <a:t>The same rules are now inside the app as instructions and checks (slide 11).</a:t>
            </a:r>
          </a:p>
        </p:txBody>
      </p:sp>
      <p:sp>
        <p:nvSpPr>
          <p:cNvPr id="84"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8"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What data we collected</a:t>
            </a:r>
          </a:p>
        </p:txBody>
      </p:sp>
      <p:sp>
        <p:nvSpPr>
          <p:cNvPr id="89"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DATASET</a:t>
            </a:r>
          </a:p>
        </p:txBody>
      </p:sp>
      <p:sp>
        <p:nvSpPr>
          <p:cNvPr id="90" name="Shape 2"/>
          <p:cNvSpPr/>
          <p:nvPr/>
        </p:nvSpPr>
        <p:spPr>
          <a:xfrm>
            <a:off x="914400" y="1874520"/>
            <a:ext cx="10424160" cy="1"/>
          </a:xfrm>
          <a:prstGeom prst="line">
            <a:avLst/>
          </a:prstGeom>
          <a:ln w="38100">
            <a:solidFill>
              <a:srgbClr val="F2B705"/>
            </a:solidFill>
          </a:ln>
        </p:spPr>
        <p:txBody>
          <a:bodyPr lIns="45719" rIns="45719"/>
          <a:lstStyle/>
          <a:p>
            <a:pPr/>
          </a:p>
        </p:txBody>
      </p:sp>
      <p:sp>
        <p:nvSpPr>
          <p:cNvPr id="91" name="Shape 3"/>
          <p:cNvSpPr/>
          <p:nvPr/>
        </p:nvSpPr>
        <p:spPr>
          <a:xfrm>
            <a:off x="777240" y="1719072"/>
            <a:ext cx="310897" cy="310897"/>
          </a:xfrm>
          <a:prstGeom prst="ellipse">
            <a:avLst/>
          </a:prstGeom>
          <a:solidFill>
            <a:srgbClr val="2D5B3F"/>
          </a:solidFill>
          <a:ln w="19050">
            <a:solidFill>
              <a:srgbClr val="FFFFFF"/>
            </a:solidFill>
          </a:ln>
        </p:spPr>
        <p:txBody>
          <a:bodyPr lIns="45719" rIns="45719"/>
          <a:lstStyle/>
          <a:p>
            <a:pPr/>
          </a:p>
        </p:txBody>
      </p:sp>
      <p:sp>
        <p:nvSpPr>
          <p:cNvPr id="92" name="Text 4"/>
          <p:cNvSpPr txBox="1"/>
          <p:nvPr/>
        </p:nvSpPr>
        <p:spPr>
          <a:xfrm>
            <a:off x="548639" y="1322640"/>
            <a:ext cx="210312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DC8F14"/>
                </a:solidFill>
              </a:defRPr>
            </a:lvl1pPr>
          </a:lstStyle>
          <a:p>
            <a:pPr/>
            <a:r>
              <a:t>17 Oct</a:t>
            </a:r>
          </a:p>
        </p:txBody>
      </p:sp>
      <p:sp>
        <p:nvSpPr>
          <p:cNvPr id="93" name="Shape 5"/>
          <p:cNvSpPr/>
          <p:nvPr/>
        </p:nvSpPr>
        <p:spPr>
          <a:xfrm>
            <a:off x="548640" y="2240279"/>
            <a:ext cx="2103121" cy="1920241"/>
          </a:xfrm>
          <a:prstGeom prst="roundRect">
            <a:avLst>
              <a:gd name="adj" fmla="val 5714"/>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94" name="Text 6"/>
          <p:cNvSpPr txBox="1"/>
          <p:nvPr/>
        </p:nvSpPr>
        <p:spPr>
          <a:xfrm>
            <a:off x="713232" y="2350007"/>
            <a:ext cx="1773935" cy="6493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2D5B3F"/>
                </a:solidFill>
              </a:defRPr>
            </a:pPr>
            <a:r>
              <a:t>Hadi Pilot</a:t>
            </a:r>
          </a:p>
          <a:p>
            <a:pPr>
              <a:spcBef>
                <a:spcPts val="400"/>
              </a:spcBef>
              <a:defRPr sz="1300">
                <a:solidFill>
                  <a:srgbClr val="253027"/>
                </a:solidFill>
              </a:defRPr>
            </a:pPr>
            <a:r>
              <a:t>1 pile of 25 g, 3 batches of 200 hand-counted seeds</a:t>
            </a:r>
          </a:p>
        </p:txBody>
      </p:sp>
      <p:sp>
        <p:nvSpPr>
          <p:cNvPr id="95" name="Shape 7"/>
          <p:cNvSpPr/>
          <p:nvPr/>
        </p:nvSpPr>
        <p:spPr>
          <a:xfrm>
            <a:off x="3063239" y="1719072"/>
            <a:ext cx="310897" cy="310897"/>
          </a:xfrm>
          <a:prstGeom prst="ellipse">
            <a:avLst/>
          </a:prstGeom>
          <a:solidFill>
            <a:srgbClr val="2D5B3F"/>
          </a:solidFill>
          <a:ln w="19050">
            <a:solidFill>
              <a:srgbClr val="FFFFFF"/>
            </a:solidFill>
          </a:ln>
        </p:spPr>
        <p:txBody>
          <a:bodyPr lIns="45719" rIns="45719"/>
          <a:lstStyle/>
          <a:p>
            <a:pPr/>
          </a:p>
        </p:txBody>
      </p:sp>
      <p:sp>
        <p:nvSpPr>
          <p:cNvPr id="96" name="Text 8"/>
          <p:cNvSpPr txBox="1"/>
          <p:nvPr/>
        </p:nvSpPr>
        <p:spPr>
          <a:xfrm>
            <a:off x="2834639" y="1322640"/>
            <a:ext cx="210312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DC8F14"/>
                </a:solidFill>
              </a:defRPr>
            </a:lvl1pPr>
          </a:lstStyle>
          <a:p>
            <a:pPr/>
            <a:r>
              <a:t>19 Oct</a:t>
            </a:r>
          </a:p>
        </p:txBody>
      </p:sp>
      <p:sp>
        <p:nvSpPr>
          <p:cNvPr id="97" name="Shape 9"/>
          <p:cNvSpPr/>
          <p:nvPr/>
        </p:nvSpPr>
        <p:spPr>
          <a:xfrm>
            <a:off x="2834639" y="2240279"/>
            <a:ext cx="2103122" cy="1920241"/>
          </a:xfrm>
          <a:prstGeom prst="roundRect">
            <a:avLst>
              <a:gd name="adj" fmla="val 5714"/>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98" name="Text 10"/>
          <p:cNvSpPr txBox="1"/>
          <p:nvPr/>
        </p:nvSpPr>
        <p:spPr>
          <a:xfrm>
            <a:off x="2999232" y="2350007"/>
            <a:ext cx="1773935" cy="6493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2D5B3F"/>
                </a:solidFill>
              </a:defRPr>
            </a:pPr>
            <a:r>
              <a:t>Hadi P01 to P08</a:t>
            </a:r>
          </a:p>
          <a:p>
            <a:pPr>
              <a:spcBef>
                <a:spcPts val="400"/>
              </a:spcBef>
              <a:defRPr sz="1300">
                <a:solidFill>
                  <a:srgbClr val="253027"/>
                </a:solidFill>
              </a:defRPr>
            </a:pPr>
            <a:r>
              <a:t>10 to 24 g, 24 photos (iPhone 15 Pro)</a:t>
            </a:r>
          </a:p>
        </p:txBody>
      </p:sp>
      <p:sp>
        <p:nvSpPr>
          <p:cNvPr id="99" name="Shape 11"/>
          <p:cNvSpPr/>
          <p:nvPr/>
        </p:nvSpPr>
        <p:spPr>
          <a:xfrm>
            <a:off x="5349240" y="1719072"/>
            <a:ext cx="310897" cy="310897"/>
          </a:xfrm>
          <a:prstGeom prst="ellipse">
            <a:avLst/>
          </a:prstGeom>
          <a:solidFill>
            <a:srgbClr val="2D5B3F"/>
          </a:solidFill>
          <a:ln w="19050">
            <a:solidFill>
              <a:srgbClr val="FFFFFF"/>
            </a:solidFill>
          </a:ln>
        </p:spPr>
        <p:txBody>
          <a:bodyPr lIns="45719" rIns="45719"/>
          <a:lstStyle/>
          <a:p>
            <a:pPr/>
          </a:p>
        </p:txBody>
      </p:sp>
      <p:sp>
        <p:nvSpPr>
          <p:cNvPr id="100" name="Text 12"/>
          <p:cNvSpPr txBox="1"/>
          <p:nvPr/>
        </p:nvSpPr>
        <p:spPr>
          <a:xfrm>
            <a:off x="5120640" y="1322640"/>
            <a:ext cx="210312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DC8F14"/>
                </a:solidFill>
              </a:defRPr>
            </a:lvl1pPr>
          </a:lstStyle>
          <a:p>
            <a:pPr/>
            <a:r>
              <a:t>19 Oct</a:t>
            </a:r>
          </a:p>
        </p:txBody>
      </p:sp>
      <p:sp>
        <p:nvSpPr>
          <p:cNvPr id="101" name="Shape 13"/>
          <p:cNvSpPr/>
          <p:nvPr/>
        </p:nvSpPr>
        <p:spPr>
          <a:xfrm>
            <a:off x="5120640" y="2240279"/>
            <a:ext cx="2103121" cy="1920241"/>
          </a:xfrm>
          <a:prstGeom prst="roundRect">
            <a:avLst>
              <a:gd name="adj" fmla="val 5714"/>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02" name="Text 14"/>
          <p:cNvSpPr txBox="1"/>
          <p:nvPr/>
        </p:nvSpPr>
        <p:spPr>
          <a:xfrm>
            <a:off x="5285232" y="2350007"/>
            <a:ext cx="1773935" cy="8525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2D5B3F"/>
                </a:solidFill>
              </a:defRPr>
            </a:pPr>
            <a:r>
              <a:t>Gauge R&amp;R</a:t>
            </a:r>
          </a:p>
          <a:p>
            <a:pPr>
              <a:spcBef>
                <a:spcPts val="400"/>
              </a:spcBef>
              <a:defRPr sz="1300">
                <a:solidFill>
                  <a:srgbClr val="253027"/>
                </a:solidFill>
              </a:defRPr>
            </a:pPr>
            <a:r>
              <a:t>1 untouched pile, 17 photos: 2 persons, 2 phones, 2 heights</a:t>
            </a:r>
          </a:p>
        </p:txBody>
      </p:sp>
      <p:sp>
        <p:nvSpPr>
          <p:cNvPr id="103" name="Shape 15"/>
          <p:cNvSpPr/>
          <p:nvPr/>
        </p:nvSpPr>
        <p:spPr>
          <a:xfrm>
            <a:off x="7635240" y="1719072"/>
            <a:ext cx="310897" cy="310897"/>
          </a:xfrm>
          <a:prstGeom prst="ellipse">
            <a:avLst/>
          </a:prstGeom>
          <a:solidFill>
            <a:srgbClr val="2D5B3F"/>
          </a:solidFill>
          <a:ln w="19050">
            <a:solidFill>
              <a:srgbClr val="FFFFFF"/>
            </a:solidFill>
          </a:ln>
        </p:spPr>
        <p:txBody>
          <a:bodyPr lIns="45719" rIns="45719"/>
          <a:lstStyle/>
          <a:p>
            <a:pPr/>
          </a:p>
        </p:txBody>
      </p:sp>
      <p:sp>
        <p:nvSpPr>
          <p:cNvPr id="104" name="Text 16"/>
          <p:cNvSpPr txBox="1"/>
          <p:nvPr/>
        </p:nvSpPr>
        <p:spPr>
          <a:xfrm>
            <a:off x="7406640" y="1322640"/>
            <a:ext cx="210312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DC8F14"/>
                </a:solidFill>
              </a:defRPr>
            </a:lvl1pPr>
          </a:lstStyle>
          <a:p>
            <a:pPr/>
            <a:r>
              <a:t>20 Oct</a:t>
            </a:r>
          </a:p>
        </p:txBody>
      </p:sp>
      <p:sp>
        <p:nvSpPr>
          <p:cNvPr id="105" name="Shape 17"/>
          <p:cNvSpPr/>
          <p:nvPr/>
        </p:nvSpPr>
        <p:spPr>
          <a:xfrm>
            <a:off x="7406640" y="2240279"/>
            <a:ext cx="2103121" cy="1920241"/>
          </a:xfrm>
          <a:prstGeom prst="roundRect">
            <a:avLst>
              <a:gd name="adj" fmla="val 5714"/>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06" name="Text 18"/>
          <p:cNvSpPr txBox="1"/>
          <p:nvPr/>
        </p:nvSpPr>
        <p:spPr>
          <a:xfrm>
            <a:off x="7571231" y="2350007"/>
            <a:ext cx="1773936" cy="8525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2D5B3F"/>
                </a:solidFill>
              </a:defRPr>
            </a:pPr>
            <a:r>
              <a:t>Jia T4-01 to T4-04</a:t>
            </a:r>
          </a:p>
          <a:p>
            <a:pPr>
              <a:spcBef>
                <a:spcPts val="400"/>
              </a:spcBef>
              <a:defRPr sz="1300">
                <a:solidFill>
                  <a:srgbClr val="253027"/>
                </a:solidFill>
              </a:defRPr>
            </a:pPr>
            <a:r>
              <a:t>11 to 23 g, 8 photos (iPhone 14): repeat of the procedure</a:t>
            </a:r>
          </a:p>
        </p:txBody>
      </p:sp>
      <p:sp>
        <p:nvSpPr>
          <p:cNvPr id="107" name="Shape 19"/>
          <p:cNvSpPr/>
          <p:nvPr/>
        </p:nvSpPr>
        <p:spPr>
          <a:xfrm>
            <a:off x="9921240" y="1719072"/>
            <a:ext cx="310897" cy="310897"/>
          </a:xfrm>
          <a:prstGeom prst="ellipse">
            <a:avLst/>
          </a:prstGeom>
          <a:solidFill>
            <a:srgbClr val="2D5B3F"/>
          </a:solidFill>
          <a:ln w="19050">
            <a:solidFill>
              <a:srgbClr val="FFFFFF"/>
            </a:solidFill>
          </a:ln>
        </p:spPr>
        <p:txBody>
          <a:bodyPr lIns="45719" rIns="45719"/>
          <a:lstStyle/>
          <a:p>
            <a:pPr/>
          </a:p>
        </p:txBody>
      </p:sp>
      <p:sp>
        <p:nvSpPr>
          <p:cNvPr id="108" name="Text 20"/>
          <p:cNvSpPr txBox="1"/>
          <p:nvPr/>
        </p:nvSpPr>
        <p:spPr>
          <a:xfrm>
            <a:off x="9692640" y="1322640"/>
            <a:ext cx="210312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DC8F14"/>
                </a:solidFill>
              </a:defRPr>
            </a:lvl1pPr>
          </a:lstStyle>
          <a:p>
            <a:pPr/>
            <a:r>
              <a:t>21 Oct</a:t>
            </a:r>
          </a:p>
        </p:txBody>
      </p:sp>
      <p:sp>
        <p:nvSpPr>
          <p:cNvPr id="109" name="Shape 21"/>
          <p:cNvSpPr/>
          <p:nvPr/>
        </p:nvSpPr>
        <p:spPr>
          <a:xfrm>
            <a:off x="9692640" y="2240279"/>
            <a:ext cx="2103121" cy="1920241"/>
          </a:xfrm>
          <a:prstGeom prst="roundRect">
            <a:avLst>
              <a:gd name="adj" fmla="val 5714"/>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10" name="Text 22"/>
          <p:cNvSpPr txBox="1"/>
          <p:nvPr/>
        </p:nvSpPr>
        <p:spPr>
          <a:xfrm>
            <a:off x="9857231" y="2350007"/>
            <a:ext cx="1773936" cy="6493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2D5B3F"/>
                </a:solidFill>
              </a:defRPr>
            </a:pPr>
            <a:r>
              <a:t>Jia P09 to P13</a:t>
            </a:r>
          </a:p>
          <a:p>
            <a:pPr>
              <a:spcBef>
                <a:spcPts val="400"/>
              </a:spcBef>
              <a:defRPr sz="1300">
                <a:solidFill>
                  <a:srgbClr val="253027"/>
                </a:solidFill>
              </a:defRPr>
            </a:pPr>
            <a:r>
              <a:t>27 to 34 g, 10 photos: bigger piles</a:t>
            </a:r>
          </a:p>
        </p:txBody>
      </p:sp>
      <p:sp>
        <p:nvSpPr>
          <p:cNvPr id="111" name="Text 23"/>
          <p:cNvSpPr txBox="1"/>
          <p:nvPr/>
        </p:nvSpPr>
        <p:spPr>
          <a:xfrm>
            <a:off x="548640" y="4526279"/>
            <a:ext cx="2743201" cy="7890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4000">
                <a:solidFill>
                  <a:srgbClr val="2D5B3F"/>
                </a:solidFill>
              </a:defRPr>
            </a:pPr>
            <a:r>
              <a:t>17 piles</a:t>
            </a:r>
          </a:p>
          <a:p>
            <a:pPr>
              <a:defRPr sz="1300">
                <a:solidFill>
                  <a:srgbClr val="687063"/>
                </a:solidFill>
              </a:defRPr>
            </a:pPr>
            <a:r>
              <a:t>10 to 34 g, all weighed</a:t>
            </a:r>
          </a:p>
        </p:txBody>
      </p:sp>
      <p:sp>
        <p:nvSpPr>
          <p:cNvPr id="112" name="Text 24"/>
          <p:cNvSpPr txBox="1"/>
          <p:nvPr/>
        </p:nvSpPr>
        <p:spPr>
          <a:xfrm>
            <a:off x="3383279" y="4526279"/>
            <a:ext cx="2743201" cy="7890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4000">
                <a:solidFill>
                  <a:srgbClr val="2D5B3F"/>
                </a:solidFill>
              </a:defRPr>
            </a:pPr>
            <a:r>
              <a:t>59 photos</a:t>
            </a:r>
          </a:p>
          <a:p>
            <a:pPr>
              <a:defRPr sz="1300">
                <a:solidFill>
                  <a:srgbClr val="687063"/>
                </a:solidFill>
              </a:defRPr>
            </a:pPr>
            <a:r>
              <a:t>counted by the detector</a:t>
            </a:r>
          </a:p>
        </p:txBody>
      </p:sp>
      <p:sp>
        <p:nvSpPr>
          <p:cNvPr id="113" name="Text 25"/>
          <p:cNvSpPr txBox="1"/>
          <p:nvPr/>
        </p:nvSpPr>
        <p:spPr>
          <a:xfrm>
            <a:off x="6217920" y="4526279"/>
            <a:ext cx="2743201" cy="7890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4000">
                <a:solidFill>
                  <a:srgbClr val="2D5B3F"/>
                </a:solidFill>
              </a:defRPr>
            </a:pPr>
            <a:r>
              <a:t>4.3 hours</a:t>
            </a:r>
          </a:p>
          <a:p>
            <a:pPr>
              <a:defRPr sz="1300">
                <a:solidFill>
                  <a:srgbClr val="687063"/>
                </a:solidFill>
              </a:defRPr>
            </a:pPr>
            <a:r>
              <a:t>of photo time in all sessions</a:t>
            </a:r>
          </a:p>
        </p:txBody>
      </p:sp>
      <p:sp>
        <p:nvSpPr>
          <p:cNvPr id="114" name="Shape 26"/>
          <p:cNvSpPr/>
          <p:nvPr/>
        </p:nvSpPr>
        <p:spPr>
          <a:xfrm>
            <a:off x="9052559" y="4526279"/>
            <a:ext cx="2606041" cy="1645921"/>
          </a:xfrm>
          <a:prstGeom prst="roundRect">
            <a:avLst>
              <a:gd name="adj" fmla="val 6667"/>
            </a:avLst>
          </a:prstGeom>
          <a:solidFill>
            <a:srgbClr val="FBE3D6"/>
          </a:solidFill>
          <a:ln>
            <a:solidFill>
              <a:srgbClr val="FBE3D6"/>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15" name="Text 27"/>
          <p:cNvSpPr txBox="1"/>
          <p:nvPr/>
        </p:nvSpPr>
        <p:spPr>
          <a:xfrm>
            <a:off x="9217152" y="4636008"/>
            <a:ext cx="2276857" cy="8172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400">
                <a:solidFill>
                  <a:srgbClr val="2D5B3F"/>
                </a:solidFill>
              </a:defRPr>
            </a:pPr>
            <a:r>
              <a:t>P14 and P15 dropped</a:t>
            </a:r>
          </a:p>
          <a:p>
            <a:pPr>
              <a:spcBef>
                <a:spcPts val="400"/>
              </a:spcBef>
              <a:defRPr sz="1200">
                <a:solidFill>
                  <a:srgbClr val="253027"/>
                </a:solidFill>
              </a:defRPr>
            </a:pPr>
            <a:r>
              <a:t>A bigger sample is split into two photos; after 17 piles one more pile adds almost nothing.</a:t>
            </a:r>
          </a:p>
        </p:txBody>
      </p:sp>
      <p:sp>
        <p:nvSpPr>
          <p:cNvPr id="116"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0"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What can make the weight wrong, and our fix</a:t>
            </a:r>
          </a:p>
        </p:txBody>
      </p:sp>
      <p:sp>
        <p:nvSpPr>
          <p:cNvPr id="121"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VARIABLES</a:t>
            </a:r>
          </a:p>
        </p:txBody>
      </p:sp>
      <p:graphicFrame>
        <p:nvGraphicFramePr>
          <p:cNvPr id="122" name="Table 0"/>
          <p:cNvGraphicFramePr/>
          <p:nvPr/>
        </p:nvGraphicFramePr>
        <p:xfrm>
          <a:off x="548640" y="1234439"/>
          <a:ext cx="11109960" cy="4389122"/>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2377440"/>
                <a:gridCol w="4846320"/>
                <a:gridCol w="3886200"/>
              </a:tblGrid>
              <a:tr h="438912">
                <a:tc>
                  <a:txBody>
                    <a:bodyPr/>
                    <a:lstStyle/>
                    <a:p>
                      <a:pPr algn="l">
                        <a:defRPr sz="1800"/>
                      </a:pPr>
                      <a:r>
                        <a:rPr b="1" sz="1300">
                          <a:solidFill>
                            <a:srgbClr val="FFFFFF"/>
                          </a:solidFill>
                        </a:rPr>
                        <a:t>Variable</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c>
                  <a:txBody>
                    <a:bodyPr/>
                    <a:lstStyle/>
                    <a:p>
                      <a:pPr algn="l">
                        <a:defRPr sz="1800"/>
                      </a:pPr>
                      <a:r>
                        <a:rPr b="1" sz="1300">
                          <a:solidFill>
                            <a:srgbClr val="FFFFFF"/>
                          </a:solidFill>
                        </a:rPr>
                        <a:t>Effect we measured</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c>
                  <a:txBody>
                    <a:bodyPr/>
                    <a:lstStyle/>
                    <a:p>
                      <a:pPr algn="l">
                        <a:defRPr sz="1800"/>
                      </a:pPr>
                      <a:r>
                        <a:rPr b="1" sz="1300">
                          <a:solidFill>
                            <a:srgbClr val="FFFFFF"/>
                          </a:solidFill>
                        </a:rPr>
                        <a:t>How we handle it</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r>
              <a:tr h="438912">
                <a:tc>
                  <a:txBody>
                    <a:bodyPr/>
                    <a:lstStyle/>
                    <a:p>
                      <a:pPr algn="l">
                        <a:defRPr sz="1800"/>
                      </a:pPr>
                      <a:r>
                        <a:rPr sz="1300">
                          <a:solidFill>
                            <a:srgbClr val="253027"/>
                          </a:solidFill>
                        </a:rPr>
                        <a:t>Camera height</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Same pile: 112 to 292 seeds without fixed scale, 283 to 298 with it</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Fixed scale from the markers (before counting)</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38912">
                <a:tc>
                  <a:txBody>
                    <a:bodyPr/>
                    <a:lstStyle/>
                    <a:p>
                      <a:pPr algn="l">
                        <a:defRPr sz="1800"/>
                      </a:pPr>
                      <a:r>
                        <a:rPr sz="1300">
                          <a:solidFill>
                            <a:srgbClr val="253027"/>
                          </a:solidFill>
                        </a:rPr>
                        <a:t>Phone resolution</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12 MP: -18 %, 8 MP: -43 % without fixed scale; about 2 % with it</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Fixed scale (before counting)</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38912">
                <a:tc>
                  <a:txBody>
                    <a:bodyPr/>
                    <a:lstStyle/>
                    <a:p>
                      <a:pPr algn="l">
                        <a:defRPr sz="1800"/>
                      </a:pPr>
                      <a:r>
                        <a:rPr sz="1300">
                          <a:solidFill>
                            <a:srgbClr val="253027"/>
                          </a:solidFill>
                        </a:rPr>
                        <a:t>Person, phone model</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Same pile: 0.0 % and +0.3 %</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Written procedure; nothing else needed</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38912">
                <a:tc>
                  <a:txBody>
                    <a:bodyPr/>
                    <a:lstStyle/>
                    <a:p>
                      <a:pPr algn="l">
                        <a:defRPr sz="1800"/>
                      </a:pPr>
                      <a:r>
                        <a:rPr sz="1300">
                          <a:solidFill>
                            <a:srgbClr val="253027"/>
                          </a:solidFill>
                        </a:rPr>
                        <a:t>Seeds touching</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16 to 19 % fewer seeds</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Procedure; orange light (after counting)</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38912">
                <a:tc>
                  <a:txBody>
                    <a:bodyPr/>
                    <a:lstStyle/>
                    <a:p>
                      <a:pPr algn="l">
                        <a:defRPr sz="1800"/>
                      </a:pPr>
                      <a:r>
                        <a:rPr sz="1300">
                          <a:solidFill>
                            <a:srgbClr val="253027"/>
                          </a:solidFill>
                        </a:rPr>
                        <a:t>Phone tilted</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Markers 9.5 % different in size: count only -2.2 %</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Orange light above 5 % (after counting)</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38912">
                <a:tc>
                  <a:txBody>
                    <a:bodyPr/>
                    <a:lstStyle/>
                    <a:p>
                      <a:pPr algn="l">
                        <a:defRPr sz="1800"/>
                      </a:pPr>
                      <a:r>
                        <a:rPr sz="1300">
                          <a:solidFill>
                            <a:srgbClr val="253027"/>
                          </a:solidFill>
                        </a:rPr>
                        <a:t>Marker cut off</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-12.6 % without a scale</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Seeds used as the ruler: +1.5 % (orange light)</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38912">
                <a:tc>
                  <a:txBody>
                    <a:bodyPr/>
                    <a:lstStyle/>
                    <a:p>
                      <a:pPr algn="l">
                        <a:defRPr sz="1800"/>
                      </a:pPr>
                      <a:r>
                        <a:rPr sz="1300">
                          <a:solidFill>
                            <a:srgbClr val="253027"/>
                          </a:solidFill>
                        </a:rPr>
                        <a:t>Other objects (ruler, notes)</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+5 to +28.5 % when all boxes are counted</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Count sunflower boxes only</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38912">
                <a:tc>
                  <a:txBody>
                    <a:bodyPr/>
                    <a:lstStyle/>
                    <a:p>
                      <a:pPr algn="l">
                        <a:defRPr sz="1800"/>
                      </a:pPr>
                      <a:r>
                        <a:rPr sz="1300">
                          <a:solidFill>
                            <a:srgbClr val="253027"/>
                          </a:solidFill>
                        </a:rPr>
                        <a:t>Shadows</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-2.3 to +2.0 %: no effect shown</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Procedure: do not block the light</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38912">
                <a:tc>
                  <a:txBody>
                    <a:bodyPr/>
                    <a:lstStyle/>
                    <a:p>
                      <a:pPr algn="l">
                        <a:defRPr sz="1800"/>
                      </a:pPr>
                      <a:r>
                        <a:rPr sz="1300">
                          <a:solidFill>
                            <a:srgbClr val="253027"/>
                          </a:solidFill>
                        </a:rPr>
                        <a:t>Kitchen scale, 1 g steps</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1.7 % (2.9 % at 10 g)</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Piles of 10 g or more; TARE</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bl>
          </a:graphicData>
        </a:graphic>
      </p:graphicFrame>
      <p:sp>
        <p:nvSpPr>
          <p:cNvPr id="123" name="Text 2"/>
          <p:cNvSpPr txBox="1"/>
          <p:nvPr/>
        </p:nvSpPr>
        <p:spPr>
          <a:xfrm>
            <a:off x="548640" y="5979467"/>
            <a:ext cx="109728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200">
                <a:solidFill>
                  <a:srgbClr val="687063"/>
                </a:solidFill>
              </a:defRPr>
            </a:lvl1pPr>
          </a:lstStyle>
          <a:p>
            <a:pPr/>
            <a:r>
              <a:t>All 32 variables, how each was measured and what the user sees: docs/group/VARIABLES.md</a:t>
            </a:r>
          </a:p>
        </p:txBody>
      </p:sp>
      <p:sp>
        <p:nvSpPr>
          <p:cNvPr id="124"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8"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The biggest step: one fixed scale for every photo</a:t>
            </a:r>
          </a:p>
        </p:txBody>
      </p:sp>
      <p:sp>
        <p:nvSpPr>
          <p:cNvPr id="129"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CALIBRATION</a:t>
            </a:r>
          </a:p>
        </p:txBody>
      </p:sp>
      <p:sp>
        <p:nvSpPr>
          <p:cNvPr id="130" name="Shape 2"/>
          <p:cNvSpPr/>
          <p:nvPr/>
        </p:nvSpPr>
        <p:spPr>
          <a:xfrm>
            <a:off x="7772400" y="1234439"/>
            <a:ext cx="3886200" cy="2148841"/>
          </a:xfrm>
          <a:prstGeom prst="roundRect">
            <a:avLst>
              <a:gd name="adj" fmla="val 5106"/>
            </a:avLst>
          </a:prstGeom>
          <a:solidFill>
            <a:srgbClr val="FBE3D6"/>
          </a:solidFill>
          <a:ln>
            <a:solidFill>
              <a:srgbClr val="FBE3D6"/>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31" name="Text 3"/>
          <p:cNvSpPr txBox="1"/>
          <p:nvPr/>
        </p:nvSpPr>
        <p:spPr>
          <a:xfrm>
            <a:off x="7936992" y="1344167"/>
            <a:ext cx="3557016" cy="11799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Without the fixed scale</a:t>
            </a:r>
          </a:p>
          <a:p>
            <a:pPr>
              <a:spcBef>
                <a:spcPts val="400"/>
              </a:spcBef>
              <a:defRPr sz="1400">
                <a:solidFill>
                  <a:srgbClr val="253027"/>
                </a:solidFill>
              </a:defRPr>
            </a:pPr>
            <a:r>
              <a:t>112 to 292 seeds on the same pile (spread 18.6 %). A higher photo or a phone with fewer pixels makes seeds smaller, and the detector misses them.</a:t>
            </a:r>
          </a:p>
        </p:txBody>
      </p:sp>
      <p:sp>
        <p:nvSpPr>
          <p:cNvPr id="132" name="Shape 4"/>
          <p:cNvSpPr/>
          <p:nvPr/>
        </p:nvSpPr>
        <p:spPr>
          <a:xfrm>
            <a:off x="7772400" y="3566159"/>
            <a:ext cx="3886200" cy="2606041"/>
          </a:xfrm>
          <a:prstGeom prst="roundRect">
            <a:avLst>
              <a:gd name="adj" fmla="val 4211"/>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33" name="Text 5"/>
          <p:cNvSpPr txBox="1"/>
          <p:nvPr/>
        </p:nvSpPr>
        <p:spPr>
          <a:xfrm>
            <a:off x="7936992" y="3675888"/>
            <a:ext cx="3557016" cy="11799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With the fixed scale</a:t>
            </a:r>
          </a:p>
          <a:p>
            <a:pPr>
              <a:spcBef>
                <a:spcPts val="400"/>
              </a:spcBef>
              <a:defRPr sz="1400">
                <a:solidFill>
                  <a:srgbClr val="253027"/>
                </a:solidFill>
              </a:defRPr>
            </a:pPr>
            <a:r>
              <a:t>283 to 298 seeds (spread 1.2 %). The two 50 mm markers give mm per pixel; every photo is resized to 0.110 mm per pixel before counting. Built into the app.</a:t>
            </a:r>
          </a:p>
        </p:txBody>
      </p:sp>
      <p:sp>
        <p:nvSpPr>
          <p:cNvPr id="134"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graphicFrame>
        <p:nvGraphicFramePr>
          <p:cNvPr id="135" name="Chart 134"/>
          <p:cNvGraphicFramePr>
            <a:graphicFrameLocks noGrp="1"/>
          </p:cNvGraphicFramePr>
          <p:nvPr/>
        </p:nvGraphicFramePr>
        <p:xfrm>
          <a:off x="548640" y="1234440"/>
          <a:ext cx="6949440" cy="4937760"/>
        </p:xfrm>
        <a:graphic>
          <a:graphicData uri="http://schemas.openxmlformats.org/drawingml/2006/chart">
            <c:chart xmlns:c="http://schemas.openxmlformats.org/drawingml/2006/chart" r:id="rId3"/>
          </a:graphicData>
        </a:graphic>
      </p:graphicFrame>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8"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Gauge R&amp;R: the photo is not the problem</a:t>
            </a:r>
          </a:p>
        </p:txBody>
      </p:sp>
      <p:sp>
        <p:nvSpPr>
          <p:cNvPr id="139"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REPEATABILITY</a:t>
            </a:r>
          </a:p>
        </p:txBody>
      </p:sp>
      <p:sp>
        <p:nvSpPr>
          <p:cNvPr id="140" name="Text 2"/>
          <p:cNvSpPr txBox="1"/>
          <p:nvPr/>
        </p:nvSpPr>
        <p:spPr>
          <a:xfrm>
            <a:off x="548640" y="1232601"/>
            <a:ext cx="10972801" cy="18655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253027"/>
                </a:solidFill>
              </a:defRPr>
            </a:lvl1pPr>
          </a:lstStyle>
          <a:p>
            <a:pPr/>
            <a:r>
              <a:t>One untouched pile, 2 persons x 2 phones x 2 heights, 17 photos (16 with the markers found)</a:t>
            </a:r>
          </a:p>
        </p:txBody>
      </p:sp>
      <p:sp>
        <p:nvSpPr>
          <p:cNvPr id="141" name="Shape 3"/>
          <p:cNvSpPr/>
          <p:nvPr/>
        </p:nvSpPr>
        <p:spPr>
          <a:xfrm>
            <a:off x="548640" y="1737360"/>
            <a:ext cx="2651761" cy="2377440"/>
          </a:xfrm>
          <a:prstGeom prst="roundRect">
            <a:avLst>
              <a:gd name="adj" fmla="val 4615"/>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42" name="Text 4"/>
          <p:cNvSpPr txBox="1"/>
          <p:nvPr/>
        </p:nvSpPr>
        <p:spPr>
          <a:xfrm>
            <a:off x="713231" y="1847088"/>
            <a:ext cx="2322578"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2D5B3F"/>
                </a:solidFill>
              </a:defRPr>
            </a:lvl1pPr>
          </a:lstStyle>
          <a:p>
            <a:pPr/>
            <a:r>
              <a:t>Person</a:t>
            </a:r>
          </a:p>
        </p:txBody>
      </p:sp>
      <p:sp>
        <p:nvSpPr>
          <p:cNvPr id="143" name="Text 5"/>
          <p:cNvSpPr txBox="1"/>
          <p:nvPr/>
        </p:nvSpPr>
        <p:spPr>
          <a:xfrm>
            <a:off x="713231" y="2468532"/>
            <a:ext cx="2377441" cy="45789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600">
                <a:solidFill>
                  <a:srgbClr val="2D5B3F"/>
                </a:solidFill>
              </a:defRPr>
            </a:lvl1pPr>
          </a:lstStyle>
          <a:p>
            <a:pPr/>
            <a:r>
              <a:t>0.0 %</a:t>
            </a:r>
          </a:p>
        </p:txBody>
      </p:sp>
      <p:sp>
        <p:nvSpPr>
          <p:cNvPr id="144" name="Text 6"/>
          <p:cNvSpPr txBox="1"/>
          <p:nvPr/>
        </p:nvSpPr>
        <p:spPr>
          <a:xfrm>
            <a:off x="713231" y="3108960"/>
            <a:ext cx="2377441" cy="3699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253027"/>
                </a:solidFill>
              </a:defRPr>
            </a:lvl1pPr>
          </a:lstStyle>
          <a:p>
            <a:pPr/>
            <a:r>
              <a:t>Jia minus Hadi; 95 % CI -1.4 to +1.5 %</a:t>
            </a:r>
          </a:p>
        </p:txBody>
      </p:sp>
      <p:sp>
        <p:nvSpPr>
          <p:cNvPr id="145" name="Shape 7"/>
          <p:cNvSpPr/>
          <p:nvPr/>
        </p:nvSpPr>
        <p:spPr>
          <a:xfrm>
            <a:off x="3364991" y="1737360"/>
            <a:ext cx="2651761" cy="2377440"/>
          </a:xfrm>
          <a:prstGeom prst="roundRect">
            <a:avLst>
              <a:gd name="adj" fmla="val 4615"/>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46" name="Text 8"/>
          <p:cNvSpPr txBox="1"/>
          <p:nvPr/>
        </p:nvSpPr>
        <p:spPr>
          <a:xfrm>
            <a:off x="3529584" y="1847088"/>
            <a:ext cx="2322577"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2D5B3F"/>
                </a:solidFill>
              </a:defRPr>
            </a:lvl1pPr>
          </a:lstStyle>
          <a:p>
            <a:pPr/>
            <a:r>
              <a:t>Phone</a:t>
            </a:r>
          </a:p>
        </p:txBody>
      </p:sp>
      <p:sp>
        <p:nvSpPr>
          <p:cNvPr id="147" name="Text 9"/>
          <p:cNvSpPr txBox="1"/>
          <p:nvPr/>
        </p:nvSpPr>
        <p:spPr>
          <a:xfrm>
            <a:off x="3529584" y="2468532"/>
            <a:ext cx="2377441" cy="45789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600">
                <a:solidFill>
                  <a:srgbClr val="2D5B3F"/>
                </a:solidFill>
              </a:defRPr>
            </a:lvl1pPr>
          </a:lstStyle>
          <a:p>
            <a:pPr/>
            <a:r>
              <a:t>+0.3 %</a:t>
            </a:r>
          </a:p>
        </p:txBody>
      </p:sp>
      <p:sp>
        <p:nvSpPr>
          <p:cNvPr id="148" name="Text 10"/>
          <p:cNvSpPr txBox="1"/>
          <p:nvPr/>
        </p:nvSpPr>
        <p:spPr>
          <a:xfrm>
            <a:off x="3529584" y="3108960"/>
            <a:ext cx="2377441" cy="3699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253027"/>
                </a:solidFill>
              </a:defRPr>
            </a:lvl1pPr>
          </a:lstStyle>
          <a:p>
            <a:pPr/>
            <a:r>
              <a:t>iPhone 14 minus iPhone 15 Pro; CI -1.1 to +1.7 %</a:t>
            </a:r>
          </a:p>
        </p:txBody>
      </p:sp>
      <p:sp>
        <p:nvSpPr>
          <p:cNvPr id="149" name="Shape 11"/>
          <p:cNvSpPr/>
          <p:nvPr/>
        </p:nvSpPr>
        <p:spPr>
          <a:xfrm>
            <a:off x="6181344" y="1737360"/>
            <a:ext cx="2651761" cy="2377440"/>
          </a:xfrm>
          <a:prstGeom prst="roundRect">
            <a:avLst>
              <a:gd name="adj" fmla="val 4615"/>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50" name="Text 12"/>
          <p:cNvSpPr txBox="1"/>
          <p:nvPr/>
        </p:nvSpPr>
        <p:spPr>
          <a:xfrm>
            <a:off x="6345935" y="1847088"/>
            <a:ext cx="2322577"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2D5B3F"/>
                </a:solidFill>
              </a:defRPr>
            </a:lvl1pPr>
          </a:lstStyle>
          <a:p>
            <a:pPr/>
            <a:r>
              <a:t>Height</a:t>
            </a:r>
          </a:p>
        </p:txBody>
      </p:sp>
      <p:sp>
        <p:nvSpPr>
          <p:cNvPr id="151" name="Text 13"/>
          <p:cNvSpPr txBox="1"/>
          <p:nvPr/>
        </p:nvSpPr>
        <p:spPr>
          <a:xfrm>
            <a:off x="6345935" y="2468532"/>
            <a:ext cx="2377441" cy="45789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600">
                <a:solidFill>
                  <a:srgbClr val="2D5B3F"/>
                </a:solidFill>
              </a:defRPr>
            </a:lvl1pPr>
          </a:lstStyle>
          <a:p>
            <a:pPr/>
            <a:r>
              <a:t>0.0 %</a:t>
            </a:r>
          </a:p>
        </p:txBody>
      </p:sp>
      <p:sp>
        <p:nvSpPr>
          <p:cNvPr id="152" name="Text 14"/>
          <p:cNvSpPr txBox="1"/>
          <p:nvPr/>
        </p:nvSpPr>
        <p:spPr>
          <a:xfrm>
            <a:off x="6345935" y="3108960"/>
            <a:ext cx="2377441" cy="3699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253027"/>
                </a:solidFill>
              </a:defRPr>
            </a:lvl1pPr>
          </a:lstStyle>
          <a:p>
            <a:pPr/>
            <a:r>
              <a:t>high minus normal; CI -1.3 to +1.3 %</a:t>
            </a:r>
          </a:p>
        </p:txBody>
      </p:sp>
      <p:sp>
        <p:nvSpPr>
          <p:cNvPr id="153" name="Shape 15"/>
          <p:cNvSpPr/>
          <p:nvPr/>
        </p:nvSpPr>
        <p:spPr>
          <a:xfrm>
            <a:off x="8997695" y="1737360"/>
            <a:ext cx="2651761" cy="2377440"/>
          </a:xfrm>
          <a:prstGeom prst="roundRect">
            <a:avLst>
              <a:gd name="adj" fmla="val 4615"/>
            </a:avLst>
          </a:prstGeom>
          <a:solidFill>
            <a:srgbClr val="FBE3D6"/>
          </a:solidFill>
          <a:ln>
            <a:solidFill>
              <a:srgbClr val="FBE3D6"/>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54" name="Text 16"/>
          <p:cNvSpPr txBox="1"/>
          <p:nvPr/>
        </p:nvSpPr>
        <p:spPr>
          <a:xfrm>
            <a:off x="9162288" y="1847088"/>
            <a:ext cx="2322577"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2D5B3F"/>
                </a:solidFill>
              </a:defRPr>
            </a:lvl1pPr>
          </a:lstStyle>
          <a:p>
            <a:pPr/>
            <a:r>
              <a:t>Same photo again</a:t>
            </a:r>
          </a:p>
        </p:txBody>
      </p:sp>
      <p:sp>
        <p:nvSpPr>
          <p:cNvPr id="155" name="Text 17"/>
          <p:cNvSpPr txBox="1"/>
          <p:nvPr/>
        </p:nvSpPr>
        <p:spPr>
          <a:xfrm>
            <a:off x="9162288" y="2468532"/>
            <a:ext cx="2377440" cy="45789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600">
                <a:solidFill>
                  <a:srgbClr val="2D5B3F"/>
                </a:solidFill>
              </a:defRPr>
            </a:lvl1pPr>
          </a:lstStyle>
          <a:p>
            <a:pPr/>
            <a:r>
              <a:t>1.3 %</a:t>
            </a:r>
          </a:p>
        </p:txBody>
      </p:sp>
      <p:sp>
        <p:nvSpPr>
          <p:cNvPr id="156" name="Text 18"/>
          <p:cNvSpPr txBox="1"/>
          <p:nvPr/>
        </p:nvSpPr>
        <p:spPr>
          <a:xfrm>
            <a:off x="9162288" y="3108960"/>
            <a:ext cx="2377440" cy="3699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253027"/>
                </a:solidFill>
              </a:defRPr>
            </a:lvl1pPr>
          </a:lstStyle>
          <a:p>
            <a:pPr/>
            <a:r>
              <a:t>typical change when the same person takes the photo again</a:t>
            </a:r>
          </a:p>
        </p:txBody>
      </p:sp>
      <p:sp>
        <p:nvSpPr>
          <p:cNvPr id="157" name="Shape 19"/>
          <p:cNvSpPr/>
          <p:nvPr/>
        </p:nvSpPr>
        <p:spPr>
          <a:xfrm>
            <a:off x="548640" y="4389120"/>
            <a:ext cx="5486401" cy="1783080"/>
          </a:xfrm>
          <a:prstGeom prst="roundRect">
            <a:avLst>
              <a:gd name="adj" fmla="val 6154"/>
            </a:avLst>
          </a:prstGeom>
          <a:solidFill>
            <a:srgbClr val="FFFFFF"/>
          </a:solidFill>
          <a:ln>
            <a:solidFill>
              <a:srgbClr val="E6E1D3"/>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58" name="Text 20"/>
          <p:cNvSpPr txBox="1"/>
          <p:nvPr/>
        </p:nvSpPr>
        <p:spPr>
          <a:xfrm>
            <a:off x="713232" y="4498847"/>
            <a:ext cx="5157216" cy="951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What it means</a:t>
            </a:r>
          </a:p>
          <a:p>
            <a:pPr>
              <a:spcBef>
                <a:spcPts val="400"/>
              </a:spcBef>
              <a:defRPr sz="1400">
                <a:solidFill>
                  <a:srgbClr val="253027"/>
                </a:solidFill>
              </a:defRPr>
            </a:pPr>
            <a:r>
              <a:t>The 8 groups (person x phone x height) differ no more than two photos in the same group (analysis of variance, p = 0.81). The photo adds about 1 %; piles differ by about 4 %.</a:t>
            </a:r>
          </a:p>
        </p:txBody>
      </p:sp>
      <p:sp>
        <p:nvSpPr>
          <p:cNvPr id="159" name="Shape 21"/>
          <p:cNvSpPr/>
          <p:nvPr/>
        </p:nvSpPr>
        <p:spPr>
          <a:xfrm>
            <a:off x="6263640" y="4389120"/>
            <a:ext cx="5394960" cy="1783080"/>
          </a:xfrm>
          <a:prstGeom prst="roundRect">
            <a:avLst>
              <a:gd name="adj" fmla="val 6154"/>
            </a:avLst>
          </a:prstGeom>
          <a:solidFill>
            <a:srgbClr val="FFFFFF"/>
          </a:solidFill>
          <a:ln>
            <a:solidFill>
              <a:srgbClr val="E6E1D3"/>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60" name="Text 22"/>
          <p:cNvSpPr txBox="1"/>
          <p:nvPr/>
        </p:nvSpPr>
        <p:spPr>
          <a:xfrm>
            <a:off x="6428232" y="4498847"/>
            <a:ext cx="5065777" cy="722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Limits</a:t>
            </a:r>
          </a:p>
          <a:p>
            <a:pPr>
              <a:spcBef>
                <a:spcPts val="400"/>
              </a:spcBef>
              <a:defRPr sz="1400">
                <a:solidFill>
                  <a:srgbClr val="253027"/>
                </a:solidFill>
              </a:defRPr>
            </a:pPr>
            <a:r>
              <a:t>One pile; heights written as normal or high, not measured. It does not test how a person spreads the seeds: Jia's repeat does that (slide 10).</a:t>
            </a:r>
          </a:p>
        </p:txBody>
      </p:sp>
      <p:sp>
        <p:nvSpPr>
          <p:cNvPr id="161"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5"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Which feature tells the weight (task 2)</a:t>
            </a:r>
          </a:p>
        </p:txBody>
      </p:sp>
      <p:sp>
        <p:nvSpPr>
          <p:cNvPr id="166"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MODEL</a:t>
            </a:r>
          </a:p>
        </p:txBody>
      </p:sp>
      <p:graphicFrame>
        <p:nvGraphicFramePr>
          <p:cNvPr id="167" name="Table 0"/>
          <p:cNvGraphicFramePr/>
          <p:nvPr/>
        </p:nvGraphicFramePr>
        <p:xfrm>
          <a:off x="548640" y="1280160"/>
          <a:ext cx="6766560" cy="2743201"/>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3017520"/>
                <a:gridCol w="822960"/>
                <a:gridCol w="1737360"/>
                <a:gridCol w="1188720"/>
              </a:tblGrid>
              <a:tr h="457200">
                <a:tc>
                  <a:txBody>
                    <a:bodyPr/>
                    <a:lstStyle/>
                    <a:p>
                      <a:pPr algn="l">
                        <a:defRPr sz="1800"/>
                      </a:pPr>
                      <a:r>
                        <a:rPr b="1" sz="1400">
                          <a:solidFill>
                            <a:srgbClr val="FFFFFF"/>
                          </a:solidFill>
                        </a:rPr>
                        <a:t>Feature (Hadi's 8 piles)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c>
                  <a:txBody>
                    <a:bodyPr/>
                    <a:lstStyle/>
                    <a:p>
                      <a:pPr algn="l">
                        <a:defRPr sz="1800"/>
                      </a:pPr>
                      <a:r>
                        <a:rPr b="1" sz="1400">
                          <a:solidFill>
                            <a:srgbClr val="FFFFFF"/>
                          </a:solidFill>
                        </a:rPr>
                        <a:t>r</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c>
                  <a:txBody>
                    <a:bodyPr/>
                    <a:lstStyle/>
                    <a:p>
                      <a:pPr algn="l">
                        <a:defRPr sz="1800"/>
                      </a:pPr>
                      <a:r>
                        <a:rPr b="1" sz="1400">
                          <a:solidFill>
                            <a:srgbClr val="FFFFFF"/>
                          </a:solidFill>
                        </a:rPr>
                        <a:t>95 % range of r</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c>
                  <a:txBody>
                    <a:bodyPr/>
                    <a:lstStyle/>
                    <a:p>
                      <a:pPr algn="l">
                        <a:defRPr sz="1800"/>
                      </a:pPr>
                      <a:r>
                        <a:rPr b="1" sz="1400">
                          <a:solidFill>
                            <a:srgbClr val="FFFFFF"/>
                          </a:solidFill>
                        </a:rPr>
                        <a:t>Spread</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r>
              <a:tr h="457200">
                <a:tc>
                  <a:txBody>
                    <a:bodyPr/>
                    <a:lstStyle/>
                    <a:p>
                      <a:pPr algn="l">
                        <a:defRPr sz="1800"/>
                      </a:pPr>
                      <a:r>
                        <a:rPr sz="1400">
                          <a:solidFill>
                            <a:srgbClr val="253027"/>
                          </a:solidFill>
                        </a:rPr>
                        <a:t>Count of all boxes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0.990</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0.950 to 0.999</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3.7 %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57200">
                <a:tc>
                  <a:txBody>
                    <a:bodyPr/>
                    <a:lstStyle/>
                    <a:p>
                      <a:pPr algn="l">
                        <a:defRPr sz="1800"/>
                      </a:pPr>
                      <a:r>
                        <a:rPr b="1" sz="1400">
                          <a:solidFill>
                            <a:srgbClr val="253027"/>
                          </a:solidFill>
                        </a:rPr>
                        <a:t>Count of sunflower boxes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1BE"/>
                    </a:solidFill>
                  </a:tcPr>
                </a:tc>
                <a:tc>
                  <a:txBody>
                    <a:bodyPr/>
                    <a:lstStyle/>
                    <a:p>
                      <a:pPr algn="l">
                        <a:defRPr sz="1800"/>
                      </a:pPr>
                      <a:r>
                        <a:rPr b="1" sz="1400">
                          <a:solidFill>
                            <a:srgbClr val="253027"/>
                          </a:solidFill>
                        </a:rPr>
                        <a:t>0.989</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1BE"/>
                    </a:solidFill>
                  </a:tcPr>
                </a:tc>
                <a:tc>
                  <a:txBody>
                    <a:bodyPr/>
                    <a:lstStyle/>
                    <a:p>
                      <a:pPr algn="l">
                        <a:defRPr sz="1800"/>
                      </a:pPr>
                      <a:r>
                        <a:rPr b="1" sz="1400">
                          <a:solidFill>
                            <a:srgbClr val="253027"/>
                          </a:solidFill>
                        </a:rPr>
                        <a:t>0.945 to 0.999</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1BE"/>
                    </a:solidFill>
                  </a:tcPr>
                </a:tc>
                <a:tc>
                  <a:txBody>
                    <a:bodyPr/>
                    <a:lstStyle/>
                    <a:p>
                      <a:pPr algn="l">
                        <a:defRPr sz="1800"/>
                      </a:pPr>
                      <a:r>
                        <a:rPr b="1" sz="1400">
                          <a:solidFill>
                            <a:srgbClr val="253027"/>
                          </a:solidFill>
                        </a:rPr>
                        <a:t>4.0 %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1BE"/>
                    </a:solidFill>
                  </a:tcPr>
                </a:tc>
              </a:tr>
              <a:tr h="457200">
                <a:tc>
                  <a:txBody>
                    <a:bodyPr/>
                    <a:lstStyle/>
                    <a:p>
                      <a:pPr algn="l">
                        <a:defRPr sz="1800"/>
                      </a:pPr>
                      <a:r>
                        <a:rPr sz="1400">
                          <a:solidFill>
                            <a:srgbClr val="253027"/>
                          </a:solidFill>
                        </a:rPr>
                        <a:t>Box area of sunflower boxes, mm²</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0.985</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0.930 to 0.999</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5.4 %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57200">
                <a:tc>
                  <a:txBody>
                    <a:bodyPr/>
                    <a:lstStyle/>
                    <a:p>
                      <a:pPr algn="l">
                        <a:defRPr sz="1800"/>
                      </a:pPr>
                      <a:r>
                        <a:rPr sz="1400">
                          <a:solidFill>
                            <a:srgbClr val="253027"/>
                          </a:solidFill>
                        </a:rPr>
                        <a:t>Box area of sunflower boxes, pixels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0.900</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0.635 to 0.990</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11.6 %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57200">
                <a:tc>
                  <a:txBody>
                    <a:bodyPr/>
                    <a:lstStyle/>
                    <a:p>
                      <a:pPr algn="l">
                        <a:defRPr sz="1800"/>
                      </a:pPr>
                      <a:r>
                        <a:rPr sz="1400">
                          <a:solidFill>
                            <a:srgbClr val="253027"/>
                          </a:solidFill>
                        </a:rPr>
                        <a:t>Mean box area, pixels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-0.271</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-0.984 to 0.753</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35.7 %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bl>
          </a:graphicData>
        </a:graphic>
      </p:graphicFrame>
      <p:sp>
        <p:nvSpPr>
          <p:cNvPr id="168" name="Text 2"/>
          <p:cNvSpPr txBox="1"/>
          <p:nvPr/>
        </p:nvSpPr>
        <p:spPr>
          <a:xfrm>
            <a:off x="548640" y="4215437"/>
            <a:ext cx="6766560" cy="3473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200">
                <a:solidFill>
                  <a:srgbClr val="687063"/>
                </a:solidFill>
              </a:defRPr>
            </a:lvl1pPr>
          </a:lstStyle>
          <a:p>
            <a:pPr/>
            <a:r>
              <a:t>r = correlation with the weight (1 = perfect line). Spread = how much grams per unit of the feature varies between piles; lower is better. How many piles we need: slide 13.</a:t>
            </a:r>
          </a:p>
        </p:txBody>
      </p:sp>
      <p:sp>
        <p:nvSpPr>
          <p:cNvPr id="169" name="Shape 3"/>
          <p:cNvSpPr/>
          <p:nvPr/>
        </p:nvSpPr>
        <p:spPr>
          <a:xfrm>
            <a:off x="7589519" y="1280160"/>
            <a:ext cx="4069081" cy="1737361"/>
          </a:xfrm>
          <a:prstGeom prst="roundRect">
            <a:avLst>
              <a:gd name="adj" fmla="val 6316"/>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70" name="Text 4"/>
          <p:cNvSpPr txBox="1"/>
          <p:nvPr/>
        </p:nvSpPr>
        <p:spPr>
          <a:xfrm>
            <a:off x="7754111" y="1389888"/>
            <a:ext cx="3739898" cy="722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Chosen model</a:t>
            </a:r>
          </a:p>
          <a:p>
            <a:pPr>
              <a:spcBef>
                <a:spcPts val="400"/>
              </a:spcBef>
              <a:defRPr sz="1400">
                <a:solidFill>
                  <a:srgbClr val="253027"/>
                </a:solidFill>
              </a:defRPr>
            </a:pPr>
            <a:r>
              <a:t>weight = number of sunflower boxes x 0.05336 g per seed (all 17 piles)</a:t>
            </a:r>
          </a:p>
        </p:txBody>
      </p:sp>
      <p:sp>
        <p:nvSpPr>
          <p:cNvPr id="171" name="Shape 5"/>
          <p:cNvSpPr/>
          <p:nvPr/>
        </p:nvSpPr>
        <p:spPr>
          <a:xfrm>
            <a:off x="7589519" y="3200400"/>
            <a:ext cx="4069081" cy="1463040"/>
          </a:xfrm>
          <a:prstGeom prst="roundRect">
            <a:avLst>
              <a:gd name="adj" fmla="val 7500"/>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72" name="Text 6"/>
          <p:cNvSpPr txBox="1"/>
          <p:nvPr/>
        </p:nvSpPr>
        <p:spPr>
          <a:xfrm>
            <a:off x="7754111" y="3310128"/>
            <a:ext cx="3739898" cy="722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Why sunflower boxes only</a:t>
            </a:r>
          </a:p>
          <a:p>
            <a:pPr>
              <a:spcBef>
                <a:spcPts val="400"/>
              </a:spcBef>
              <a:defRPr sz="1400">
                <a:solidFill>
                  <a:srgbClr val="253027"/>
                </a:solidFill>
              </a:defRPr>
            </a:pPr>
            <a:r>
              <a:t>It ignores the false boxes on writing, notes and the ruler.</a:t>
            </a:r>
          </a:p>
        </p:txBody>
      </p:sp>
      <p:sp>
        <p:nvSpPr>
          <p:cNvPr id="173" name="Shape 7"/>
          <p:cNvSpPr/>
          <p:nvPr/>
        </p:nvSpPr>
        <p:spPr>
          <a:xfrm>
            <a:off x="7589519" y="4846320"/>
            <a:ext cx="4069081" cy="1325881"/>
          </a:xfrm>
          <a:prstGeom prst="roundRect">
            <a:avLst>
              <a:gd name="adj" fmla="val 8276"/>
            </a:avLst>
          </a:prstGeom>
          <a:solidFill>
            <a:srgbClr val="FFFFFF"/>
          </a:solidFill>
          <a:ln>
            <a:solidFill>
              <a:srgbClr val="E6E1D3"/>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74" name="Text 8"/>
          <p:cNvSpPr txBox="1"/>
          <p:nvPr/>
        </p:nvSpPr>
        <p:spPr>
          <a:xfrm>
            <a:off x="7754111" y="4956047"/>
            <a:ext cx="3739898" cy="4941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Still best for Jia</a:t>
            </a:r>
          </a:p>
          <a:p>
            <a:pPr>
              <a:spcBef>
                <a:spcPts val="400"/>
              </a:spcBef>
              <a:defRPr sz="1400">
                <a:solidFill>
                  <a:srgbClr val="253027"/>
                </a:solidFill>
              </a:defRPr>
            </a:pPr>
            <a:r>
              <a:t>Her photos: count r 0.994, box area 0.988.</a:t>
            </a:r>
          </a:p>
        </p:txBody>
      </p:sp>
      <p:sp>
        <p:nvSpPr>
          <p:cNvPr id="175"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9"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How sure are we? (task 3)</a:t>
            </a:r>
          </a:p>
        </p:txBody>
      </p:sp>
      <p:sp>
        <p:nvSpPr>
          <p:cNvPr id="180"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UNCERTAINTY</a:t>
            </a:r>
          </a:p>
        </p:txBody>
      </p:sp>
      <p:sp>
        <p:nvSpPr>
          <p:cNvPr id="181" name="Text 2"/>
          <p:cNvSpPr txBox="1"/>
          <p:nvPr/>
        </p:nvSpPr>
        <p:spPr>
          <a:xfrm>
            <a:off x="548639" y="5358437"/>
            <a:ext cx="6583682" cy="3473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200">
                <a:solidFill>
                  <a:srgbClr val="687063"/>
                </a:solidFill>
              </a:defRPr>
            </a:lvl1pPr>
          </a:lstStyle>
          <a:p>
            <a:pPr/>
            <a:r>
              <a:t>Relative standard deviation = typical error as % of the weight. Parts add as squares: 3.99² = 1.73² + 0.93² + 3.47². The remainder is found by subtraction, not measured.</a:t>
            </a:r>
          </a:p>
        </p:txBody>
      </p:sp>
      <p:sp>
        <p:nvSpPr>
          <p:cNvPr id="182" name="Shape 3"/>
          <p:cNvSpPr/>
          <p:nvPr/>
        </p:nvSpPr>
        <p:spPr>
          <a:xfrm>
            <a:off x="7406640" y="1234439"/>
            <a:ext cx="4251960" cy="2377441"/>
          </a:xfrm>
          <a:prstGeom prst="roundRect">
            <a:avLst>
              <a:gd name="adj" fmla="val 4615"/>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83" name="Text 4"/>
          <p:cNvSpPr txBox="1"/>
          <p:nvPr/>
        </p:nvSpPr>
        <p:spPr>
          <a:xfrm>
            <a:off x="7571231" y="1344167"/>
            <a:ext cx="3922777" cy="1230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The range for one photo</a:t>
            </a:r>
          </a:p>
          <a:p>
            <a:pPr>
              <a:spcBef>
                <a:spcPts val="400"/>
              </a:spcBef>
              <a:defRPr sz="1400">
                <a:solidFill>
                  <a:srgbClr val="253027"/>
                </a:solidFill>
              </a:defRPr>
            </a:pPr>
            <a:r>
              <a:t>range = t x s x sqrt(1 + 1/n)</a:t>
            </a:r>
            <a:endParaRPr sz="1600"/>
          </a:p>
          <a:p>
            <a:pPr>
              <a:spcBef>
                <a:spcPts val="200"/>
              </a:spcBef>
              <a:defRPr sz="1400">
                <a:solidFill>
                  <a:srgbClr val="253027"/>
                </a:solidFill>
              </a:defRPr>
            </a:pPr>
            <a:r>
              <a:t>= 2.12 x 3.99 % x 1.03 = ±8.7 %</a:t>
            </a:r>
            <a:endParaRPr sz="1600"/>
          </a:p>
          <a:p>
            <a:pPr>
              <a:spcBef>
                <a:spcPts val="200"/>
              </a:spcBef>
              <a:defRPr sz="1400">
                <a:solidFill>
                  <a:srgbClr val="253027"/>
                </a:solidFill>
              </a:defRPr>
            </a:pPr>
            <a:r>
              <a:t>s = spread, n = 17 piles, t = factor for few piles. 19 of 20 true weights should fall inside.</a:t>
            </a:r>
          </a:p>
        </p:txBody>
      </p:sp>
      <p:sp>
        <p:nvSpPr>
          <p:cNvPr id="184" name="Shape 5"/>
          <p:cNvSpPr/>
          <p:nvPr/>
        </p:nvSpPr>
        <p:spPr>
          <a:xfrm>
            <a:off x="7406640" y="3794759"/>
            <a:ext cx="4251960" cy="2377441"/>
          </a:xfrm>
          <a:prstGeom prst="roundRect">
            <a:avLst>
              <a:gd name="adj" fmla="val 4615"/>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85" name="Text 6"/>
          <p:cNvSpPr txBox="1"/>
          <p:nvPr/>
        </p:nvSpPr>
        <p:spPr>
          <a:xfrm>
            <a:off x="7571231" y="3904488"/>
            <a:ext cx="3922777" cy="976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What it tells us</a:t>
            </a:r>
          </a:p>
          <a:p>
            <a:pPr>
              <a:spcBef>
                <a:spcPts val="400"/>
              </a:spcBef>
              <a:defRPr sz="1400">
                <a:solidFill>
                  <a:srgbClr val="253027"/>
                </a:solidFill>
              </a:defRPr>
            </a:pPr>
            <a:r>
              <a:t>The photo is no longer the main error (0.9 %).</a:t>
            </a:r>
            <a:endParaRPr sz="1600"/>
          </a:p>
          <a:p>
            <a:pPr>
              <a:spcBef>
                <a:spcPts val="200"/>
              </a:spcBef>
              <a:defRPr sz="1400">
                <a:solidFill>
                  <a:srgbClr val="253027"/>
                </a:solidFill>
              </a:defRPr>
            </a:pPr>
            <a:r>
              <a:t>The rest sits in the seeds and the 1 g kitchen scale: a 0.01 g scale would show the seed-to-seed part.</a:t>
            </a:r>
          </a:p>
        </p:txBody>
      </p:sp>
      <p:sp>
        <p:nvSpPr>
          <p:cNvPr id="186"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graphicFrame>
        <p:nvGraphicFramePr>
          <p:cNvPr id="187" name="Chart 186"/>
          <p:cNvGraphicFramePr>
            <a:graphicFrameLocks noGrp="1"/>
          </p:cNvGraphicFramePr>
          <p:nvPr/>
        </p:nvGraphicFramePr>
        <p:xfrm>
          <a:off x="548640" y="1234440"/>
          <a:ext cx="6583680" cy="3840480"/>
        </p:xfrm>
        <a:graphic>
          <a:graphicData uri="http://schemas.openxmlformats.org/drawingml/2006/chart">
            <c:chart xmlns:c="http://schemas.openxmlformats.org/drawingml/2006/chart" r:id="rId3"/>
          </a:graphicData>
        </a:graphic>
      </p:graphicFrame>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0"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Does it hold for another person? (task 4)</a:t>
            </a:r>
          </a:p>
        </p:txBody>
      </p:sp>
      <p:sp>
        <p:nvSpPr>
          <p:cNvPr id="191"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TEST</a:t>
            </a:r>
          </a:p>
        </p:txBody>
      </p:sp>
      <p:sp>
        <p:nvSpPr>
          <p:cNvPr id="192" name="Shape 2"/>
          <p:cNvSpPr/>
          <p:nvPr/>
        </p:nvSpPr>
        <p:spPr>
          <a:xfrm>
            <a:off x="7589519" y="1234439"/>
            <a:ext cx="4069081" cy="1388748"/>
          </a:xfrm>
          <a:prstGeom prst="roundRect">
            <a:avLst>
              <a:gd name="adj" fmla="val 7902"/>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93" name="Text 3"/>
          <p:cNvSpPr txBox="1"/>
          <p:nvPr/>
        </p:nvSpPr>
        <p:spPr>
          <a:xfrm>
            <a:off x="7754111" y="1344167"/>
            <a:ext cx="3739898" cy="116929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9 of 9 inside the bounds</a:t>
            </a:r>
          </a:p>
          <a:p>
            <a:pPr>
              <a:spcBef>
                <a:spcPts val="400"/>
              </a:spcBef>
              <a:defRPr sz="1400">
                <a:solidFill>
                  <a:srgbClr val="253027"/>
                </a:solidFill>
              </a:defRPr>
            </a:pPr>
            <a:r>
              <a:rPr sz="1600"/>
              <a:t>・</a:t>
            </a:r>
            <a:r>
              <a:t>Average error -1.4 %, mean absolute error 3.4 %.</a:t>
            </a:r>
            <a:endParaRPr sz="1600"/>
          </a:p>
          <a:p>
            <a:pPr>
              <a:spcBef>
                <a:spcPts val="200"/>
              </a:spcBef>
              <a:defRPr sz="1400">
                <a:solidFill>
                  <a:srgbClr val="253027"/>
                </a:solidFill>
              </a:defRPr>
            </a:pPr>
            <a:r>
              <a:rPr sz="1600"/>
              <a:t>・</a:t>
            </a:r>
            <a:r>
              <a:t>Also for the bigger piles (27 to 34 g) that Hadi never weighed.</a:t>
            </a:r>
          </a:p>
        </p:txBody>
      </p:sp>
      <p:sp>
        <p:nvSpPr>
          <p:cNvPr id="194" name="Shape 4"/>
          <p:cNvSpPr/>
          <p:nvPr/>
        </p:nvSpPr>
        <p:spPr>
          <a:xfrm>
            <a:off x="7589519" y="2781300"/>
            <a:ext cx="4069081" cy="1159766"/>
          </a:xfrm>
          <a:prstGeom prst="roundRect">
            <a:avLst>
              <a:gd name="adj" fmla="val 9461"/>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95" name="Text 5"/>
          <p:cNvSpPr txBox="1"/>
          <p:nvPr/>
        </p:nvSpPr>
        <p:spPr>
          <a:xfrm>
            <a:off x="7754111" y="2891028"/>
            <a:ext cx="3739898" cy="722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Same grams per seed?</a:t>
            </a:r>
          </a:p>
          <a:p>
            <a:pPr>
              <a:spcBef>
                <a:spcPts val="400"/>
              </a:spcBef>
              <a:defRPr sz="1400">
                <a:solidFill>
                  <a:srgbClr val="253027"/>
                </a:solidFill>
              </a:defRPr>
            </a:pPr>
            <a:r>
              <a:t>Jia +1.5 % (95 % CI -2.7 to +5.7 %): no difference found.</a:t>
            </a:r>
          </a:p>
        </p:txBody>
      </p:sp>
      <p:sp>
        <p:nvSpPr>
          <p:cNvPr id="196" name="Shape 6"/>
          <p:cNvSpPr/>
          <p:nvPr/>
        </p:nvSpPr>
        <p:spPr>
          <a:xfrm>
            <a:off x="7589519" y="4105848"/>
            <a:ext cx="4069081" cy="2087786"/>
          </a:xfrm>
          <a:prstGeom prst="roundRect">
            <a:avLst>
              <a:gd name="adj" fmla="val 5256"/>
            </a:avLst>
          </a:prstGeom>
          <a:solidFill>
            <a:srgbClr val="FBE3D6"/>
          </a:solidFill>
          <a:ln>
            <a:solidFill>
              <a:srgbClr val="FBE3D6"/>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97" name="Text 7"/>
          <p:cNvSpPr txBox="1"/>
          <p:nvPr/>
        </p:nvSpPr>
        <p:spPr>
          <a:xfrm>
            <a:off x="7754111" y="4237228"/>
            <a:ext cx="3739898" cy="208978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Honest note</a:t>
            </a:r>
          </a:p>
          <a:p>
            <a:pPr>
              <a:spcBef>
                <a:spcPts val="400"/>
              </a:spcBef>
              <a:defRPr sz="1400">
                <a:solidFill>
                  <a:srgbClr val="253027"/>
                </a:solidFill>
              </a:defRPr>
            </a:pPr>
            <a:r>
              <a:t>・T4-02: 14 g before, 12 g after. Weighed in a container; since Jia weighed directly on the scale (P12), no gap. With the before weight: 8 of 9 inside.</a:t>
            </a:r>
          </a:p>
          <a:p>
            <a:pPr>
              <a:spcBef>
                <a:spcPts val="400"/>
              </a:spcBef>
              <a:defRPr sz="1400">
                <a:solidFill>
                  <a:srgbClr val="253027"/>
                </a:solidFill>
              </a:defRPr>
            </a:pPr>
            <a:r>
              <a:t>・Step 6 was missed due to relying on memory.The deviation was documented; photos were not retaken.</a:t>
            </a:r>
          </a:p>
        </p:txBody>
      </p:sp>
      <p:sp>
        <p:nvSpPr>
          <p:cNvPr id="198" name="Slide Number Placeholder 0"/>
          <p:cNvSpPr txBox="1"/>
          <p:nvPr>
            <p:ph type="sldNum" sz="quarter" idx="4294967295"/>
          </p:nvPr>
        </p:nvSpPr>
        <p:spPr>
          <a:xfrm>
            <a:off x="11471443" y="6446520"/>
            <a:ext cx="232877"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graphicFrame>
        <p:nvGraphicFramePr>
          <p:cNvPr id="199" name="Chart 198"/>
          <p:cNvGraphicFramePr>
            <a:graphicFrameLocks noGrp="1"/>
          </p:cNvGraphicFramePr>
          <p:nvPr/>
        </p:nvGraphicFramePr>
        <p:xfrm>
          <a:off x="548640" y="1234440"/>
          <a:ext cx="6766560" cy="4846320"/>
        </p:xfrm>
        <a:graphic>
          <a:graphicData uri="http://schemas.openxmlformats.org/drawingml/2006/chart">
            <c:chart xmlns:c="http://schemas.openxmlformats.org/drawingml/2006/chart" r:id="rId3"/>
          </a:graphicData>
        </a:graphic>
      </p:graphicFrame>
      <p:cxnSp>
        <p:nvCxnSpPr>
          <p:cNvPr id="200" name="Connector 199"/>
          <p:cNvCxnSpPr/>
          <p:nvPr/>
        </p:nvCxnSpPr>
        <p:spPr>
          <a:xfrm>
            <a:off x="1089964" y="2203704"/>
            <a:ext cx="6089904" cy="0"/>
          </a:xfrm>
          <a:prstGeom prst="line">
            <a:avLst/>
          </a:prstGeom>
          <a:ln w="25400">
            <a:solidFill>
              <a:srgbClr val="DC8F14"/>
            </a:solidFill>
            <a:prstDash val="dash"/>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a:off x="1089964" y="5111495"/>
            <a:ext cx="6089904" cy="0"/>
          </a:xfrm>
          <a:prstGeom prst="line">
            <a:avLst/>
          </a:prstGeom>
          <a:ln w="25400">
            <a:solidFill>
              <a:srgbClr val="DC8F14"/>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2"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For the user: one photo, one light, one sentence</a:t>
            </a:r>
          </a:p>
        </p:txBody>
      </p:sp>
      <p:sp>
        <p:nvSpPr>
          <p:cNvPr id="203"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USER</a:t>
            </a:r>
          </a:p>
        </p:txBody>
      </p:sp>
      <p:sp>
        <p:nvSpPr>
          <p:cNvPr id="204" name="Shape 2"/>
          <p:cNvSpPr/>
          <p:nvPr/>
        </p:nvSpPr>
        <p:spPr>
          <a:xfrm>
            <a:off x="548640" y="1234439"/>
            <a:ext cx="4206241" cy="3246122"/>
          </a:xfrm>
          <a:prstGeom prst="roundRect">
            <a:avLst>
              <a:gd name="adj" fmla="val 3380"/>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205" name="Text 3"/>
          <p:cNvSpPr txBox="1"/>
          <p:nvPr/>
        </p:nvSpPr>
        <p:spPr>
          <a:xfrm>
            <a:off x="713231" y="1344167"/>
            <a:ext cx="3877057" cy="1967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On the screen before the photo</a:t>
            </a:r>
          </a:p>
          <a:p>
            <a:pPr>
              <a:spcBef>
                <a:spcPts val="400"/>
              </a:spcBef>
              <a:defRPr sz="1400">
                <a:solidFill>
                  <a:srgbClr val="253027"/>
                </a:solidFill>
              </a:defRPr>
            </a:pPr>
            <a:r>
              <a:t>1. Spread the seeds on white paper, no seed touching another.</a:t>
            </a:r>
            <a:endParaRPr sz="1600"/>
          </a:p>
          <a:p>
            <a:pPr>
              <a:spcBef>
                <a:spcPts val="200"/>
              </a:spcBef>
              <a:defRPr sz="1400">
                <a:solidFill>
                  <a:srgbClr val="253027"/>
                </a:solidFill>
              </a:defRPr>
            </a:pPr>
            <a:r>
              <a:t>2. Put the marker sheet next to them. No sheet? The app still works, with a wider range.</a:t>
            </a:r>
            <a:endParaRPr sz="1600"/>
          </a:p>
          <a:p>
            <a:pPr>
              <a:spcBef>
                <a:spcPts val="200"/>
              </a:spcBef>
              <a:defRPr sz="1400">
                <a:solidFill>
                  <a:srgbClr val="253027"/>
                </a:solidFill>
              </a:defRPr>
            </a:pPr>
            <a:r>
              <a:t>3. Phone flat, straight above, any height.</a:t>
            </a:r>
            <a:endParaRPr sz="1600"/>
          </a:p>
          <a:p>
            <a:pPr>
              <a:spcBef>
                <a:spcPts val="200"/>
              </a:spcBef>
              <a:defRPr sz="1400">
                <a:solidFill>
                  <a:srgbClr val="253027"/>
                </a:solidFill>
              </a:defRPr>
            </a:pPr>
            <a:r>
              <a:t>4. Too many seeds? Split the sample.</a:t>
            </a:r>
            <a:endParaRPr sz="1600"/>
          </a:p>
          <a:p>
            <a:pPr>
              <a:spcBef>
                <a:spcPts val="200"/>
              </a:spcBef>
              <a:defRPr sz="1400">
                <a:solidFill>
                  <a:srgbClr val="253027"/>
                </a:solidFill>
              </a:defRPr>
            </a:pPr>
            <a:r>
              <a:t>No ruler, no measured height, no settings.</a:t>
            </a:r>
          </a:p>
        </p:txBody>
      </p:sp>
      <p:sp>
        <p:nvSpPr>
          <p:cNvPr id="206" name="Shape 4"/>
          <p:cNvSpPr/>
          <p:nvPr/>
        </p:nvSpPr>
        <p:spPr>
          <a:xfrm>
            <a:off x="548640" y="4663440"/>
            <a:ext cx="4206241" cy="1600201"/>
          </a:xfrm>
          <a:prstGeom prst="roundRect">
            <a:avLst>
              <a:gd name="adj" fmla="val 6857"/>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207" name="Text 5"/>
          <p:cNvSpPr txBox="1"/>
          <p:nvPr/>
        </p:nvSpPr>
        <p:spPr>
          <a:xfrm>
            <a:off x="713231" y="4773167"/>
            <a:ext cx="3877057" cy="8525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2D5B3F"/>
                </a:solidFill>
              </a:defRPr>
            </a:pPr>
            <a:r>
              <a:t>Light and range are two things</a:t>
            </a:r>
          </a:p>
          <a:p>
            <a:pPr>
              <a:spcBef>
                <a:spcPts val="400"/>
              </a:spcBef>
              <a:defRPr sz="1300">
                <a:solidFill>
                  <a:srgbClr val="253027"/>
                </a:solidFill>
              </a:defRPr>
            </a:pPr>
            <a:r>
              <a:t>The light says if the photo follows the rules. The range says how exact the ruler is (17 piles): ±8.7 % with the marker sheet, ±9.3 % with the seeds.</a:t>
            </a:r>
          </a:p>
        </p:txBody>
      </p:sp>
      <p:sp>
        <p:nvSpPr>
          <p:cNvPr id="208" name="Shape 6"/>
          <p:cNvSpPr/>
          <p:nvPr/>
        </p:nvSpPr>
        <p:spPr>
          <a:xfrm>
            <a:off x="5029200" y="1234439"/>
            <a:ext cx="6629400" cy="1078993"/>
          </a:xfrm>
          <a:prstGeom prst="roundRect">
            <a:avLst>
              <a:gd name="adj" fmla="val 10169"/>
            </a:avLst>
          </a:prstGeom>
          <a:solidFill>
            <a:srgbClr val="FFFFFF"/>
          </a:solidFill>
          <a:ln>
            <a:solidFill>
              <a:srgbClr val="E6E1D3"/>
            </a:solidFill>
          </a:ln>
        </p:spPr>
        <p:txBody>
          <a:bodyPr lIns="45719" rIns="45719"/>
          <a:lstStyle/>
          <a:p>
            <a:pPr/>
          </a:p>
        </p:txBody>
      </p:sp>
      <p:sp>
        <p:nvSpPr>
          <p:cNvPr id="209" name="Shape 7"/>
          <p:cNvSpPr/>
          <p:nvPr/>
        </p:nvSpPr>
        <p:spPr>
          <a:xfrm>
            <a:off x="5212079" y="1563624"/>
            <a:ext cx="457201" cy="457201"/>
          </a:xfrm>
          <a:prstGeom prst="ellipse">
            <a:avLst/>
          </a:prstGeom>
          <a:solidFill>
            <a:srgbClr val="2E8B57"/>
          </a:solidFill>
          <a:ln w="12700">
            <a:solidFill>
              <a:srgbClr val="2E8B57"/>
            </a:solidFill>
          </a:ln>
        </p:spPr>
        <p:txBody>
          <a:bodyPr lIns="45719" rIns="45719"/>
          <a:lstStyle/>
          <a:p>
            <a:pPr/>
          </a:p>
        </p:txBody>
      </p:sp>
      <p:sp>
        <p:nvSpPr>
          <p:cNvPr id="210" name="Text 8"/>
          <p:cNvSpPr txBox="1"/>
          <p:nvPr/>
        </p:nvSpPr>
        <p:spPr>
          <a:xfrm>
            <a:off x="5852159" y="1581842"/>
            <a:ext cx="5669281" cy="4207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253027"/>
                </a:solidFill>
              </a:defRPr>
            </a:pPr>
            <a:r>
              <a:t>12.1 g (11.0 to 13.1 g)   </a:t>
            </a:r>
            <a:r>
              <a:rPr b="0" sz="1200">
                <a:solidFill>
                  <a:srgbClr val="687063"/>
                </a:solidFill>
              </a:rPr>
              <a:t>Green</a:t>
            </a:r>
          </a:p>
          <a:p>
            <a:pPr>
              <a:defRPr sz="1300">
                <a:solidFill>
                  <a:srgbClr val="253027"/>
                </a:solidFill>
              </a:defRPr>
            </a:pPr>
            <a:r>
              <a:t>Good photo.   Real weight: 12 g.</a:t>
            </a:r>
          </a:p>
        </p:txBody>
      </p:sp>
      <p:sp>
        <p:nvSpPr>
          <p:cNvPr id="211" name="Shape 9"/>
          <p:cNvSpPr/>
          <p:nvPr/>
        </p:nvSpPr>
        <p:spPr>
          <a:xfrm>
            <a:off x="5029200" y="2423160"/>
            <a:ext cx="6629400" cy="1078993"/>
          </a:xfrm>
          <a:prstGeom prst="roundRect">
            <a:avLst>
              <a:gd name="adj" fmla="val 10169"/>
            </a:avLst>
          </a:prstGeom>
          <a:solidFill>
            <a:srgbClr val="FFFFFF"/>
          </a:solidFill>
          <a:ln>
            <a:solidFill>
              <a:srgbClr val="E6E1D3"/>
            </a:solidFill>
          </a:ln>
        </p:spPr>
        <p:txBody>
          <a:bodyPr lIns="45719" rIns="45719"/>
          <a:lstStyle/>
          <a:p>
            <a:pPr/>
          </a:p>
        </p:txBody>
      </p:sp>
      <p:sp>
        <p:nvSpPr>
          <p:cNvPr id="212" name="Shape 10"/>
          <p:cNvSpPr/>
          <p:nvPr/>
        </p:nvSpPr>
        <p:spPr>
          <a:xfrm>
            <a:off x="5212079" y="2752344"/>
            <a:ext cx="457201" cy="457201"/>
          </a:xfrm>
          <a:prstGeom prst="ellipse">
            <a:avLst/>
          </a:prstGeom>
          <a:solidFill>
            <a:srgbClr val="DC8F14"/>
          </a:solidFill>
          <a:ln w="12700">
            <a:solidFill>
              <a:srgbClr val="DC8F14"/>
            </a:solidFill>
          </a:ln>
        </p:spPr>
        <p:txBody>
          <a:bodyPr lIns="45719" rIns="45719"/>
          <a:lstStyle/>
          <a:p>
            <a:pPr/>
          </a:p>
        </p:txBody>
      </p:sp>
      <p:sp>
        <p:nvSpPr>
          <p:cNvPr id="213" name="Text 11"/>
          <p:cNvSpPr txBox="1"/>
          <p:nvPr/>
        </p:nvSpPr>
        <p:spPr>
          <a:xfrm>
            <a:off x="5852159" y="2668963"/>
            <a:ext cx="5669281" cy="6239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253027"/>
                </a:solidFill>
              </a:defRPr>
            </a:pPr>
            <a:r>
              <a:t>11.9 g (10.9 to 12.9 g)   </a:t>
            </a:r>
            <a:r>
              <a:rPr b="0" sz="1200">
                <a:solidFill>
                  <a:srgbClr val="687063"/>
                </a:solidFill>
              </a:rPr>
              <a:t>Orange</a:t>
            </a:r>
          </a:p>
          <a:p>
            <a:pPr>
              <a:defRPr sz="1300">
                <a:solidFill>
                  <a:srgbClr val="253027"/>
                </a:solidFill>
              </a:defRPr>
            </a:pPr>
            <a:r>
              <a:t>Seeds too close together: spread them so that no seed touches another, and take the photo again.   Real weight: 14 g.</a:t>
            </a:r>
          </a:p>
        </p:txBody>
      </p:sp>
      <p:sp>
        <p:nvSpPr>
          <p:cNvPr id="214" name="Shape 12"/>
          <p:cNvSpPr/>
          <p:nvPr/>
        </p:nvSpPr>
        <p:spPr>
          <a:xfrm>
            <a:off x="5029200" y="3611879"/>
            <a:ext cx="6629400" cy="1078993"/>
          </a:xfrm>
          <a:prstGeom prst="roundRect">
            <a:avLst>
              <a:gd name="adj" fmla="val 10169"/>
            </a:avLst>
          </a:prstGeom>
          <a:solidFill>
            <a:srgbClr val="FFFFFF"/>
          </a:solidFill>
          <a:ln>
            <a:solidFill>
              <a:srgbClr val="E6E1D3"/>
            </a:solidFill>
          </a:ln>
        </p:spPr>
        <p:txBody>
          <a:bodyPr lIns="45719" rIns="45719"/>
          <a:lstStyle/>
          <a:p>
            <a:pPr/>
          </a:p>
        </p:txBody>
      </p:sp>
      <p:sp>
        <p:nvSpPr>
          <p:cNvPr id="215" name="Shape 13"/>
          <p:cNvSpPr/>
          <p:nvPr/>
        </p:nvSpPr>
        <p:spPr>
          <a:xfrm>
            <a:off x="5212079" y="3941064"/>
            <a:ext cx="457201" cy="457201"/>
          </a:xfrm>
          <a:prstGeom prst="ellipse">
            <a:avLst/>
          </a:prstGeom>
          <a:solidFill>
            <a:srgbClr val="DC8F14"/>
          </a:solidFill>
          <a:ln w="12700">
            <a:solidFill>
              <a:srgbClr val="DC8F14"/>
            </a:solidFill>
          </a:ln>
        </p:spPr>
        <p:txBody>
          <a:bodyPr lIns="45719" rIns="45719"/>
          <a:lstStyle/>
          <a:p>
            <a:pPr/>
          </a:p>
        </p:txBody>
      </p:sp>
      <p:sp>
        <p:nvSpPr>
          <p:cNvPr id="216" name="Text 14"/>
          <p:cNvSpPr txBox="1"/>
          <p:nvPr/>
        </p:nvSpPr>
        <p:spPr>
          <a:xfrm>
            <a:off x="5852159" y="3857683"/>
            <a:ext cx="5669281" cy="6239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253027"/>
                </a:solidFill>
              </a:defRPr>
            </a:pPr>
            <a:r>
              <a:t>15.8 g (14.3 to 17.3 g)   </a:t>
            </a:r>
            <a:r>
              <a:rPr b="0" sz="1200">
                <a:solidFill>
                  <a:srgbClr val="687063"/>
                </a:solidFill>
              </a:rPr>
              <a:t>Orange</a:t>
            </a:r>
          </a:p>
          <a:p>
            <a:pPr>
              <a:defRPr sz="1300">
                <a:solidFill>
                  <a:srgbClr val="253027"/>
                </a:solidFill>
              </a:defRPr>
            </a:pPr>
            <a:r>
              <a:t>No marker found: the size was estimated from the seeds, so the range is wider. Put the marker sheet fully in the photo for a more precise result.</a:t>
            </a:r>
          </a:p>
        </p:txBody>
      </p:sp>
      <p:sp>
        <p:nvSpPr>
          <p:cNvPr id="217" name="Shape 15"/>
          <p:cNvSpPr/>
          <p:nvPr/>
        </p:nvSpPr>
        <p:spPr>
          <a:xfrm>
            <a:off x="5029200" y="4800600"/>
            <a:ext cx="6629400" cy="1078992"/>
          </a:xfrm>
          <a:prstGeom prst="roundRect">
            <a:avLst>
              <a:gd name="adj" fmla="val 10169"/>
            </a:avLst>
          </a:prstGeom>
          <a:solidFill>
            <a:srgbClr val="FFFFFF"/>
          </a:solidFill>
          <a:ln>
            <a:solidFill>
              <a:srgbClr val="E6E1D3"/>
            </a:solidFill>
          </a:ln>
        </p:spPr>
        <p:txBody>
          <a:bodyPr lIns="45719" rIns="45719"/>
          <a:lstStyle/>
          <a:p>
            <a:pPr/>
          </a:p>
        </p:txBody>
      </p:sp>
      <p:sp>
        <p:nvSpPr>
          <p:cNvPr id="218" name="Shape 16"/>
          <p:cNvSpPr/>
          <p:nvPr/>
        </p:nvSpPr>
        <p:spPr>
          <a:xfrm>
            <a:off x="5212079" y="5129784"/>
            <a:ext cx="457201" cy="457201"/>
          </a:xfrm>
          <a:prstGeom prst="ellipse">
            <a:avLst/>
          </a:prstGeom>
          <a:solidFill>
            <a:srgbClr val="C0392B"/>
          </a:solidFill>
          <a:ln w="12700">
            <a:solidFill>
              <a:srgbClr val="C0392B"/>
            </a:solidFill>
          </a:ln>
        </p:spPr>
        <p:txBody>
          <a:bodyPr lIns="45719" rIns="45719"/>
          <a:lstStyle/>
          <a:p>
            <a:pPr/>
          </a:p>
        </p:txBody>
      </p:sp>
      <p:sp>
        <p:nvSpPr>
          <p:cNvPr id="219" name="Text 17"/>
          <p:cNvSpPr txBox="1"/>
          <p:nvPr/>
        </p:nvSpPr>
        <p:spPr>
          <a:xfrm>
            <a:off x="5852159" y="5148003"/>
            <a:ext cx="5669281" cy="4207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253027"/>
                </a:solidFill>
              </a:defRPr>
            </a:pPr>
            <a:r>
              <a:t>no weight   </a:t>
            </a:r>
            <a:r>
              <a:rPr b="0" sz="1200">
                <a:solidFill>
                  <a:srgbClr val="687063"/>
                </a:solidFill>
              </a:rPr>
              <a:t>Red (example)</a:t>
            </a:r>
          </a:p>
          <a:p>
            <a:pPr>
              <a:defRPr sz="1300">
                <a:solidFill>
                  <a:srgbClr val="253027"/>
                </a:solidFill>
              </a:defRPr>
            </a:pPr>
            <a:r>
              <a:t>No seeds found: check that the seeds are in the photo.</a:t>
            </a:r>
          </a:p>
        </p:txBody>
      </p:sp>
      <p:sp>
        <p:nvSpPr>
          <p:cNvPr id="220" name="Text 18"/>
          <p:cNvSpPr txBox="1"/>
          <p:nvPr/>
        </p:nvSpPr>
        <p:spPr>
          <a:xfrm>
            <a:off x="5029200" y="5999656"/>
            <a:ext cx="6629400" cy="2993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100">
                <a:solidFill>
                  <a:srgbClr val="687063"/>
                </a:solidFill>
              </a:defRPr>
            </a:lvl1pPr>
          </a:lstStyle>
          <a:p>
            <a:pPr/>
            <a:r>
              <a:t>The first three are real results from the app; Jia's P14 photo (seeds touching, 775 seeds) also turns orange with both sentences. Limits from our own photos: all 53 normal photos green, all 6 known problem photos orange.</a:t>
            </a:r>
          </a:p>
        </p:txBody>
      </p:sp>
      <p:sp>
        <p:nvSpPr>
          <p:cNvPr id="221" name="Slide Number Placeholder 0"/>
          <p:cNvSpPr txBox="1"/>
          <p:nvPr>
            <p:ph type="sldNum" sz="quarter" idx="4294967295"/>
          </p:nvPr>
        </p:nvSpPr>
        <p:spPr>
          <a:xfrm>
            <a:off x="11471443" y="6446520"/>
            <a:ext cx="232877"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5"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No marker? The seeds become the ruler</a:t>
            </a:r>
          </a:p>
        </p:txBody>
      </p:sp>
      <p:sp>
        <p:nvSpPr>
          <p:cNvPr id="226"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USER</a:t>
            </a:r>
          </a:p>
        </p:txBody>
      </p:sp>
      <p:graphicFrame>
        <p:nvGraphicFramePr>
          <p:cNvPr id="227" name="Table 0"/>
          <p:cNvGraphicFramePr/>
          <p:nvPr/>
        </p:nvGraphicFramePr>
        <p:xfrm>
          <a:off x="548640" y="1280160"/>
          <a:ext cx="7132320" cy="3017521"/>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3108960"/>
                <a:gridCol w="1828800"/>
                <a:gridCol w="2194560"/>
              </a:tblGrid>
              <a:tr h="502919">
                <a:tc>
                  <a:txBody>
                    <a:bodyPr/>
                    <a:lstStyle/>
                    <a:p>
                      <a:pPr algn="l">
                        <a:defRPr sz="1800"/>
                      </a:pP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c>
                  <a:txBody>
                    <a:bodyPr/>
                    <a:lstStyle/>
                    <a:p>
                      <a:pPr algn="l">
                        <a:defRPr sz="1800"/>
                      </a:pPr>
                      <a:r>
                        <a:rPr b="1" sz="1400">
                          <a:solidFill>
                            <a:srgbClr val="FFFFFF"/>
                          </a:solidFill>
                        </a:rPr>
                        <a:t>Marker sheet</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c>
                  <a:txBody>
                    <a:bodyPr/>
                    <a:lstStyle/>
                    <a:p>
                      <a:pPr algn="l">
                        <a:defRPr sz="1800"/>
                      </a:pPr>
                      <a:r>
                        <a:rPr b="1" sz="1400">
                          <a:solidFill>
                            <a:srgbClr val="FFFFFF"/>
                          </a:solidFill>
                        </a:rPr>
                        <a:t>Seeds as ruler</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r>
              <a:tr h="502919">
                <a:tc>
                  <a:txBody>
                    <a:bodyPr/>
                    <a:lstStyle/>
                    <a:p>
                      <a:pPr algn="l">
                        <a:defRPr sz="1800"/>
                      </a:pPr>
                      <a:r>
                        <a:rPr sz="1400">
                          <a:solidFill>
                            <a:srgbClr val="253027"/>
                          </a:solidFill>
                        </a:rPr>
                        <a:t>What the user needs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Printed sheet</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Nothing extra</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502919">
                <a:tc>
                  <a:txBody>
                    <a:bodyPr/>
                    <a:lstStyle/>
                    <a:p>
                      <a:pPr algn="l">
                        <a:defRPr sz="1800"/>
                      </a:pPr>
                      <a:r>
                        <a:rPr sz="1400">
                          <a:solidFill>
                            <a:srgbClr val="253027"/>
                          </a:solidFill>
                        </a:rPr>
                        <a:t>Count compared with the marker count</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reference</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-0.9 % on average (worst ‑5.6 %)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502919">
                <a:tc>
                  <a:txBody>
                    <a:bodyPr/>
                    <a:lstStyle/>
                    <a:p>
                      <a:pPr algn="l">
                        <a:defRPr sz="1800"/>
                      </a:pPr>
                      <a:r>
                        <a:rPr sz="1400">
                          <a:solidFill>
                            <a:srgbClr val="253027"/>
                          </a:solidFill>
                        </a:rPr>
                        <a:t>Range for one photo, 17 piles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±8.7 %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±9.3 %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502919">
                <a:tc>
                  <a:txBody>
                    <a:bodyPr/>
                    <a:lstStyle/>
                    <a:p>
                      <a:pPr algn="l">
                        <a:defRPr sz="1800"/>
                      </a:pPr>
                      <a:r>
                        <a:rPr sz="1400">
                          <a:solidFill>
                            <a:srgbClr val="253027"/>
                          </a:solidFill>
                        </a:rPr>
                        <a:t>Same pile, 16 photos (Gauge R&amp;R)</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1.16 %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1.22 %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502919">
                <a:tc>
                  <a:txBody>
                    <a:bodyPr/>
                    <a:lstStyle/>
                    <a:p>
                      <a:pPr algn="l">
                        <a:defRPr sz="1800"/>
                      </a:pPr>
                      <a:r>
                        <a:rPr sz="1400">
                          <a:solidFill>
                            <a:srgbClr val="253027"/>
                          </a:solidFill>
                        </a:rPr>
                        <a:t>Photo where the markers were cut off</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-12.6 %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+1.5 %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bl>
          </a:graphicData>
        </a:graphic>
      </p:graphicFrame>
      <p:sp>
        <p:nvSpPr>
          <p:cNvPr id="228" name="Shape 2"/>
          <p:cNvSpPr/>
          <p:nvPr/>
        </p:nvSpPr>
        <p:spPr>
          <a:xfrm>
            <a:off x="7955280" y="1280160"/>
            <a:ext cx="3703321" cy="2331721"/>
          </a:xfrm>
          <a:prstGeom prst="roundRect">
            <a:avLst>
              <a:gd name="adj" fmla="val 4706"/>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229" name="Text 3"/>
          <p:cNvSpPr txBox="1"/>
          <p:nvPr/>
        </p:nvSpPr>
        <p:spPr>
          <a:xfrm>
            <a:off x="8119871" y="1389888"/>
            <a:ext cx="3374137" cy="11799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How it works</a:t>
            </a:r>
          </a:p>
          <a:p>
            <a:pPr>
              <a:spcBef>
                <a:spcPts val="400"/>
              </a:spcBef>
              <a:defRPr sz="1400">
                <a:solidFill>
                  <a:srgbClr val="253027"/>
                </a:solidFill>
              </a:defRPr>
            </a:pPr>
            <a:r>
              <a:t>Typical seed length (11.25 mm, measured once with the markers) / median box length in the photo = mm per pixel. Count once, resize, count again.</a:t>
            </a:r>
          </a:p>
        </p:txBody>
      </p:sp>
      <p:sp>
        <p:nvSpPr>
          <p:cNvPr id="230" name="Shape 4"/>
          <p:cNvSpPr/>
          <p:nvPr/>
        </p:nvSpPr>
        <p:spPr>
          <a:xfrm>
            <a:off x="7955280" y="3794759"/>
            <a:ext cx="3703321" cy="2377441"/>
          </a:xfrm>
          <a:prstGeom prst="roundRect">
            <a:avLst>
              <a:gd name="adj" fmla="val 4615"/>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231" name="Text 5"/>
          <p:cNvSpPr txBox="1"/>
          <p:nvPr/>
        </p:nvSpPr>
        <p:spPr>
          <a:xfrm>
            <a:off x="8119871" y="3904488"/>
            <a:ext cx="3374137" cy="1205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Next step for a real app</a:t>
            </a:r>
          </a:p>
          <a:p>
            <a:pPr>
              <a:spcBef>
                <a:spcPts val="400"/>
              </a:spcBef>
              <a:defRPr sz="1400">
                <a:solidFill>
                  <a:srgbClr val="253027"/>
                </a:solidFill>
              </a:defRPr>
            </a:pPr>
            <a:r>
              <a:t>Accept any object of known size: coin, bank card (85.60 x 53.98 mm) or an A4 sheet.</a:t>
            </a:r>
            <a:endParaRPr sz="1600"/>
          </a:p>
          <a:p>
            <a:pPr>
              <a:spcBef>
                <a:spcPts val="200"/>
              </a:spcBef>
              <a:defRPr sz="1400">
                <a:solidFill>
                  <a:srgbClr val="253027"/>
                </a:solidFill>
              </a:defRPr>
            </a:pPr>
            <a:r>
              <a:t>Order: marker, then coin or card, then the seeds. Not tested yet.</a:t>
            </a:r>
          </a:p>
        </p:txBody>
      </p:sp>
      <p:sp>
        <p:nvSpPr>
          <p:cNvPr id="232" name="Shape 6"/>
          <p:cNvSpPr/>
          <p:nvPr/>
        </p:nvSpPr>
        <p:spPr>
          <a:xfrm>
            <a:off x="548640" y="4709159"/>
            <a:ext cx="7132320" cy="1463041"/>
          </a:xfrm>
          <a:prstGeom prst="roundRect">
            <a:avLst>
              <a:gd name="adj" fmla="val 7500"/>
            </a:avLst>
          </a:prstGeom>
          <a:solidFill>
            <a:srgbClr val="FBE3D6"/>
          </a:solidFill>
          <a:ln>
            <a:solidFill>
              <a:srgbClr val="FBE3D6"/>
            </a:solidFill>
          </a:ln>
          <a:effectLst>
            <a:outerShdw sx="100000" sy="100000" kx="0" ky="0" algn="b" rotWithShape="0" blurRad="50800" dist="19050" dir="5400000">
              <a:srgbClr val="000000">
                <a:alpha val="8000"/>
              </a:srgbClr>
            </a:outerShdw>
          </a:effectLst>
        </p:spPr>
        <p:txBody>
          <a:bodyPr lIns="45719" rIns="45719"/>
          <a:lstStyle/>
          <a:p>
            <a:pPr/>
          </a:p>
        </p:txBody>
      </p:sp>
      <p:sp>
        <p:nvSpPr>
          <p:cNvPr id="233" name="Text 7"/>
          <p:cNvSpPr txBox="1"/>
          <p:nvPr/>
        </p:nvSpPr>
        <p:spPr>
          <a:xfrm>
            <a:off x="713232" y="4818888"/>
            <a:ext cx="6803136" cy="951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Limit</a:t>
            </a:r>
          </a:p>
          <a:p>
            <a:pPr>
              <a:spcBef>
                <a:spcPts val="400"/>
              </a:spcBef>
              <a:defRPr sz="1400">
                <a:solidFill>
                  <a:srgbClr val="253027"/>
                </a:solidFill>
              </a:defRPr>
            </a:pPr>
            <a:r>
              <a:t>The seed length must be known per crop and seed lot. It varied 11.25 to 11.88 mm between our sessions; on Jia's piles the seeds-as-ruler error was -2.8 % on average (her printed markers measure exactly 50 mm, so not the print). A 5 % wrong seed length changed the count by about 1.4 % (controlled test, 4 photos).</a:t>
            </a:r>
          </a:p>
        </p:txBody>
      </p:sp>
      <p:sp>
        <p:nvSpPr>
          <p:cNvPr id="234" name="Slide Number Placeholder 0"/>
          <p:cNvSpPr txBox="1"/>
          <p:nvPr>
            <p:ph type="sldNum" sz="quarter" idx="4294967295"/>
          </p:nvPr>
        </p:nvSpPr>
        <p:spPr>
          <a:xfrm>
            <a:off x="11471443" y="6446520"/>
            <a:ext cx="232877"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8"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Business case: what one more pile buys</a:t>
            </a:r>
          </a:p>
        </p:txBody>
      </p:sp>
      <p:sp>
        <p:nvSpPr>
          <p:cNvPr id="239"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BUSINESS CASE</a:t>
            </a:r>
          </a:p>
        </p:txBody>
      </p:sp>
      <p:sp>
        <p:nvSpPr>
          <p:cNvPr id="240" name="Text 2"/>
          <p:cNvSpPr txBox="1"/>
          <p:nvPr/>
        </p:nvSpPr>
        <p:spPr>
          <a:xfrm>
            <a:off x="548640" y="5655617"/>
            <a:ext cx="6766560" cy="3473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200">
                <a:solidFill>
                  <a:srgbClr val="687063"/>
                </a:solidFill>
              </a:defRPr>
            </a:lvl1pPr>
          </a:lstStyle>
          <a:p>
            <a:pPr/>
            <a:r>
              <a:t>8 piles ±10.0 %   |   10 piles ±9.5 %   |   17 piles ±8.7 %   |   never below ±7.8 % (1 g kitchen scale, one seed lot). With only 17 piles the true value at 17 could be ±6.5 to ±13.2 %.</a:t>
            </a:r>
          </a:p>
        </p:txBody>
      </p:sp>
      <p:sp>
        <p:nvSpPr>
          <p:cNvPr id="241" name="Shape 3"/>
          <p:cNvSpPr/>
          <p:nvPr/>
        </p:nvSpPr>
        <p:spPr>
          <a:xfrm>
            <a:off x="7589519" y="1234439"/>
            <a:ext cx="4069081" cy="1600201"/>
          </a:xfrm>
          <a:prstGeom prst="roundRect">
            <a:avLst>
              <a:gd name="adj" fmla="val 6857"/>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242" name="Text 4"/>
          <p:cNvSpPr txBox="1"/>
          <p:nvPr/>
        </p:nvSpPr>
        <p:spPr>
          <a:xfrm>
            <a:off x="7754111" y="1344167"/>
            <a:ext cx="3739898" cy="8426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Cost of one pile</a:t>
            </a:r>
          </a:p>
          <a:p>
            <a:pPr>
              <a:spcBef>
                <a:spcPts val="400"/>
              </a:spcBef>
              <a:defRPr sz="1200">
                <a:solidFill>
                  <a:srgbClr val="253027"/>
                </a:solidFill>
              </a:defRPr>
            </a:pPr>
            <a:r>
              <a:t>10.20 euro (12.7 min, piles of 10 to 24 g) to 17.35 euro (21.6 min, 27 to 34 g). Example rate 48.2 euro per hour, Eurostat 2024, Belgium.</a:t>
            </a:r>
          </a:p>
        </p:txBody>
      </p:sp>
      <p:sp>
        <p:nvSpPr>
          <p:cNvPr id="243" name="Shape 5"/>
          <p:cNvSpPr/>
          <p:nvPr/>
        </p:nvSpPr>
        <p:spPr>
          <a:xfrm>
            <a:off x="7589519" y="2971800"/>
            <a:ext cx="4069081" cy="1600200"/>
          </a:xfrm>
          <a:prstGeom prst="roundRect">
            <a:avLst>
              <a:gd name="adj" fmla="val 6857"/>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244" name="Text 6"/>
          <p:cNvSpPr txBox="1"/>
          <p:nvPr/>
        </p:nvSpPr>
        <p:spPr>
          <a:xfrm>
            <a:off x="7754111" y="3081527"/>
            <a:ext cx="3739898" cy="8426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Stop rule: 10 piles</a:t>
            </a:r>
          </a:p>
          <a:p>
            <a:pPr>
              <a:spcBef>
                <a:spcPts val="400"/>
              </a:spcBef>
              <a:defRPr sz="1200">
                <a:solidFill>
                  <a:srgbClr val="253027"/>
                </a:solidFill>
              </a:defRPr>
            </a:pPr>
            <a:r>
              <a:t>From 10 piles on, one more pile narrows the range by less than 0.2 percentage points: 0.1 point costs 5.64 euro or more, and the price keeps rising.</a:t>
            </a:r>
          </a:p>
        </p:txBody>
      </p:sp>
      <p:sp>
        <p:nvSpPr>
          <p:cNvPr id="245" name="Shape 7"/>
          <p:cNvSpPr/>
          <p:nvPr/>
        </p:nvSpPr>
        <p:spPr>
          <a:xfrm>
            <a:off x="7589519" y="4709159"/>
            <a:ext cx="4069081" cy="1463041"/>
          </a:xfrm>
          <a:prstGeom prst="roundRect">
            <a:avLst>
              <a:gd name="adj" fmla="val 7500"/>
            </a:avLst>
          </a:prstGeom>
          <a:solidFill>
            <a:srgbClr val="FBE3D6"/>
          </a:solidFill>
          <a:ln>
            <a:solidFill>
              <a:srgbClr val="FBE3D6"/>
            </a:solidFill>
          </a:ln>
          <a:effectLst>
            <a:outerShdw sx="100000" sy="100000" kx="0" ky="0" algn="b" rotWithShape="0" blurRad="50800" dist="19050" dir="5400000">
              <a:srgbClr val="000000">
                <a:alpha val="8000"/>
              </a:srgbClr>
            </a:outerShdw>
          </a:effectLst>
        </p:spPr>
        <p:txBody>
          <a:bodyPr lIns="45719" rIns="45719"/>
          <a:lstStyle/>
          <a:p>
            <a:pPr/>
          </a:p>
        </p:txBody>
      </p:sp>
      <p:sp>
        <p:nvSpPr>
          <p:cNvPr id="246" name="Text 8"/>
          <p:cNvSpPr txBox="1"/>
          <p:nvPr/>
        </p:nvSpPr>
        <p:spPr>
          <a:xfrm>
            <a:off x="7754111" y="4818888"/>
            <a:ext cx="3739898" cy="8426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Spend the money elsewhere</a:t>
            </a:r>
          </a:p>
          <a:p>
            <a:pPr>
              <a:spcBef>
                <a:spcPts val="400"/>
              </a:spcBef>
              <a:defRPr sz="1200">
                <a:solidFill>
                  <a:srgbClr val="253027"/>
                </a:solidFill>
              </a:defRPr>
            </a:pPr>
            <a:r>
              <a:t>A 0.01 g scale, and a new calibration (about 10 piles, about 100 euro) per seed lot. An extra photo of the same pile costs 0.25 euro but helps little.</a:t>
            </a:r>
          </a:p>
        </p:txBody>
      </p:sp>
      <p:sp>
        <p:nvSpPr>
          <p:cNvPr id="247" name="Slide Number Placeholder 0"/>
          <p:cNvSpPr txBox="1"/>
          <p:nvPr>
            <p:ph type="sldNum" sz="quarter" idx="4294967295"/>
          </p:nvPr>
        </p:nvSpPr>
        <p:spPr>
          <a:xfrm>
            <a:off x="11471443" y="6446520"/>
            <a:ext cx="232877"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graphicFrame>
        <p:nvGraphicFramePr>
          <p:cNvPr id="248" name="Chart 247"/>
          <p:cNvGraphicFramePr>
            <a:graphicFrameLocks noGrp="1"/>
          </p:cNvGraphicFramePr>
          <p:nvPr/>
        </p:nvGraphicFramePr>
        <p:xfrm>
          <a:off x="548640" y="1234440"/>
          <a:ext cx="6766560" cy="4206240"/>
        </p:xfrm>
        <a:graphic>
          <a:graphicData uri="http://schemas.openxmlformats.org/drawingml/2006/chart">
            <c:chart xmlns:c="http://schemas.openxmlformats.org/drawingml/2006/chart" r:id="rId3"/>
          </a:graphicData>
        </a:graphic>
      </p:graphicFrame>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1"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What we would do next</a:t>
            </a:r>
          </a:p>
        </p:txBody>
      </p:sp>
      <p:sp>
        <p:nvSpPr>
          <p:cNvPr id="252"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IMPROVEMENTS</a:t>
            </a:r>
          </a:p>
        </p:txBody>
      </p:sp>
      <p:sp>
        <p:nvSpPr>
          <p:cNvPr id="253" name="Slide Number Placeholder 0"/>
          <p:cNvSpPr txBox="1"/>
          <p:nvPr>
            <p:ph type="sldNum" sz="quarter" idx="4294967295"/>
          </p:nvPr>
        </p:nvSpPr>
        <p:spPr>
          <a:xfrm>
            <a:off x="11471443" y="6446520"/>
            <a:ext cx="232877"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
        <p:nvSpPr>
          <p:cNvPr id="254" name="TextBox 25"/>
          <p:cNvSpPr txBox="1"/>
          <p:nvPr/>
        </p:nvSpPr>
        <p:spPr>
          <a:xfrm>
            <a:off x="594359" y="943610"/>
            <a:ext cx="7260337" cy="2524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sz="1400">
                <a:solidFill>
                  <a:srgbClr val="647065"/>
                </a:solidFill>
                <a:latin typeface="Aptos"/>
                <a:ea typeface="Aptos"/>
                <a:cs typeface="Aptos"/>
                <a:sym typeface="Aptos"/>
              </a:defRPr>
            </a:lvl1pPr>
          </a:lstStyle>
          <a:p>
            <a:pPr/>
            <a:r>
              <a:t>Six improvements, grouped into three priorities</a:t>
            </a:r>
          </a:p>
        </p:txBody>
      </p:sp>
      <p:sp>
        <p:nvSpPr>
          <p:cNvPr id="255" name="Rounded Rectangle 26"/>
          <p:cNvSpPr/>
          <p:nvPr/>
        </p:nvSpPr>
        <p:spPr>
          <a:xfrm>
            <a:off x="4406900" y="1298447"/>
            <a:ext cx="3383280" cy="502921"/>
          </a:xfrm>
          <a:prstGeom prst="roundRect">
            <a:avLst>
              <a:gd name="adj" fmla="val 16667"/>
            </a:avLst>
          </a:prstGeom>
          <a:solidFill>
            <a:srgbClr val="306348"/>
          </a:solidFill>
          <a:ln w="12700">
            <a:solidFill>
              <a:srgbClr val="306348"/>
            </a:solidFill>
            <a:miter/>
          </a:ln>
        </p:spPr>
        <p:txBody>
          <a:bodyPr lIns="45719" rIns="45719" anchor="ctr"/>
          <a:lstStyle/>
          <a:p>
            <a:pPr algn="ctr">
              <a:defRPr>
                <a:solidFill>
                  <a:srgbClr val="FFFFFF"/>
                </a:solidFill>
              </a:defRPr>
            </a:pPr>
          </a:p>
        </p:txBody>
      </p:sp>
      <p:sp>
        <p:nvSpPr>
          <p:cNvPr id="256" name="TextBox 27"/>
          <p:cNvSpPr txBox="1"/>
          <p:nvPr/>
        </p:nvSpPr>
        <p:spPr>
          <a:xfrm>
            <a:off x="4507484" y="1423670"/>
            <a:ext cx="3291840" cy="2524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lgn="ctr">
              <a:defRPr b="1" sz="1400">
                <a:solidFill>
                  <a:srgbClr val="FFFFFF"/>
                </a:solidFill>
                <a:latin typeface="Aptos"/>
                <a:ea typeface="Aptos"/>
                <a:cs typeface="Aptos"/>
                <a:sym typeface="Aptos"/>
              </a:defRPr>
            </a:lvl1pPr>
          </a:lstStyle>
          <a:p>
            <a:pPr/>
            <a:r>
              <a:t>MORE RELIABLE  •  EASIER TO USE</a:t>
            </a:r>
          </a:p>
        </p:txBody>
      </p:sp>
      <p:sp>
        <p:nvSpPr>
          <p:cNvPr id="257" name="Connector 28"/>
          <p:cNvSpPr/>
          <p:nvPr/>
        </p:nvSpPr>
        <p:spPr>
          <a:xfrm>
            <a:off x="6094476" y="1801367"/>
            <a:ext cx="1" cy="192025"/>
          </a:xfrm>
          <a:prstGeom prst="line">
            <a:avLst/>
          </a:prstGeom>
          <a:ln w="22860">
            <a:solidFill>
              <a:srgbClr val="306348"/>
            </a:solidFill>
            <a:miter/>
          </a:ln>
        </p:spPr>
        <p:txBody>
          <a:bodyPr lIns="45719" rIns="45719"/>
          <a:lstStyle/>
          <a:p>
            <a:pPr/>
          </a:p>
        </p:txBody>
      </p:sp>
      <p:sp>
        <p:nvSpPr>
          <p:cNvPr id="258" name="Connector 29"/>
          <p:cNvSpPr/>
          <p:nvPr/>
        </p:nvSpPr>
        <p:spPr>
          <a:xfrm>
            <a:off x="2240279" y="1993392"/>
            <a:ext cx="7708394" cy="1"/>
          </a:xfrm>
          <a:prstGeom prst="line">
            <a:avLst/>
          </a:prstGeom>
          <a:ln w="22860">
            <a:solidFill>
              <a:srgbClr val="306348"/>
            </a:solidFill>
            <a:miter/>
          </a:ln>
        </p:spPr>
        <p:txBody>
          <a:bodyPr lIns="45719" rIns="45719"/>
          <a:lstStyle/>
          <a:p>
            <a:pPr/>
          </a:p>
        </p:txBody>
      </p:sp>
      <p:sp>
        <p:nvSpPr>
          <p:cNvPr id="259" name="Connector 30"/>
          <p:cNvSpPr/>
          <p:nvPr/>
        </p:nvSpPr>
        <p:spPr>
          <a:xfrm>
            <a:off x="2240279" y="1993392"/>
            <a:ext cx="1" cy="182881"/>
          </a:xfrm>
          <a:prstGeom prst="line">
            <a:avLst/>
          </a:prstGeom>
          <a:ln w="22860">
            <a:solidFill>
              <a:srgbClr val="306348"/>
            </a:solidFill>
            <a:miter/>
          </a:ln>
        </p:spPr>
        <p:txBody>
          <a:bodyPr lIns="45719" rIns="45719"/>
          <a:lstStyle/>
          <a:p>
            <a:pPr/>
          </a:p>
        </p:txBody>
      </p:sp>
      <p:sp>
        <p:nvSpPr>
          <p:cNvPr id="260" name="Connector 31"/>
          <p:cNvSpPr/>
          <p:nvPr/>
        </p:nvSpPr>
        <p:spPr>
          <a:xfrm>
            <a:off x="6094475" y="1993392"/>
            <a:ext cx="1" cy="182881"/>
          </a:xfrm>
          <a:prstGeom prst="line">
            <a:avLst/>
          </a:prstGeom>
          <a:ln w="22860">
            <a:solidFill>
              <a:srgbClr val="306348"/>
            </a:solidFill>
            <a:miter/>
          </a:ln>
        </p:spPr>
        <p:txBody>
          <a:bodyPr lIns="45719" rIns="45719"/>
          <a:lstStyle/>
          <a:p>
            <a:pPr/>
          </a:p>
        </p:txBody>
      </p:sp>
      <p:sp>
        <p:nvSpPr>
          <p:cNvPr id="261" name="Connector 32"/>
          <p:cNvSpPr/>
          <p:nvPr/>
        </p:nvSpPr>
        <p:spPr>
          <a:xfrm>
            <a:off x="9948671" y="1993392"/>
            <a:ext cx="1" cy="182881"/>
          </a:xfrm>
          <a:prstGeom prst="line">
            <a:avLst/>
          </a:prstGeom>
          <a:ln w="22860">
            <a:solidFill>
              <a:srgbClr val="306348"/>
            </a:solidFill>
            <a:miter/>
          </a:ln>
        </p:spPr>
        <p:txBody>
          <a:bodyPr lIns="45719" rIns="45719"/>
          <a:lstStyle/>
          <a:p>
            <a:pPr/>
          </a:p>
        </p:txBody>
      </p:sp>
      <p:sp>
        <p:nvSpPr>
          <p:cNvPr id="262" name="Rounded Rectangle 33"/>
          <p:cNvSpPr/>
          <p:nvPr/>
        </p:nvSpPr>
        <p:spPr>
          <a:xfrm>
            <a:off x="548640" y="2212848"/>
            <a:ext cx="3383280" cy="2880361"/>
          </a:xfrm>
          <a:prstGeom prst="roundRect">
            <a:avLst>
              <a:gd name="adj" fmla="val 16667"/>
            </a:avLst>
          </a:prstGeom>
          <a:solidFill>
            <a:srgbClr val="E2EDDC"/>
          </a:solidFill>
          <a:ln w="12700">
            <a:solidFill>
              <a:srgbClr val="E2EDDC"/>
            </a:solidFill>
            <a:miter/>
          </a:ln>
        </p:spPr>
        <p:txBody>
          <a:bodyPr lIns="45719" rIns="45719" anchor="ctr"/>
          <a:lstStyle/>
          <a:p>
            <a:pPr algn="ctr">
              <a:defRPr>
                <a:solidFill>
                  <a:srgbClr val="FFFFFF"/>
                </a:solidFill>
              </a:defRPr>
            </a:pPr>
          </a:p>
        </p:txBody>
      </p:sp>
      <p:sp>
        <p:nvSpPr>
          <p:cNvPr id="263" name="TextBox 34"/>
          <p:cNvSpPr txBox="1"/>
          <p:nvPr/>
        </p:nvSpPr>
        <p:spPr>
          <a:xfrm>
            <a:off x="740663" y="2385567"/>
            <a:ext cx="2999233" cy="239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300">
                <a:solidFill>
                  <a:srgbClr val="306348"/>
                </a:solidFill>
                <a:latin typeface="Aptos"/>
                <a:ea typeface="Aptos"/>
                <a:cs typeface="Aptos"/>
                <a:sym typeface="Aptos"/>
              </a:defRPr>
            </a:lvl1pPr>
          </a:lstStyle>
          <a:p>
            <a:pPr/>
            <a:r>
              <a:t>1  VALIDATE MEASUREMENT</a:t>
            </a:r>
          </a:p>
        </p:txBody>
      </p:sp>
      <p:sp>
        <p:nvSpPr>
          <p:cNvPr id="264" name="Connector 35"/>
          <p:cNvSpPr/>
          <p:nvPr/>
        </p:nvSpPr>
        <p:spPr>
          <a:xfrm>
            <a:off x="713231" y="2761488"/>
            <a:ext cx="3054098" cy="1"/>
          </a:xfrm>
          <a:prstGeom prst="line">
            <a:avLst/>
          </a:prstGeom>
          <a:ln w="25400">
            <a:solidFill>
              <a:srgbClr val="FFFFFF"/>
            </a:solidFill>
            <a:miter/>
          </a:ln>
        </p:spPr>
        <p:txBody>
          <a:bodyPr lIns="45719" rIns="45719"/>
          <a:lstStyle/>
          <a:p>
            <a:pPr/>
          </a:p>
        </p:txBody>
      </p:sp>
      <p:sp>
        <p:nvSpPr>
          <p:cNvPr id="265" name="Oval 36"/>
          <p:cNvSpPr/>
          <p:nvPr/>
        </p:nvSpPr>
        <p:spPr>
          <a:xfrm>
            <a:off x="713231" y="2916935"/>
            <a:ext cx="347474" cy="347473"/>
          </a:xfrm>
          <a:prstGeom prst="ellipse">
            <a:avLst/>
          </a:prstGeom>
          <a:solidFill>
            <a:srgbClr val="306348"/>
          </a:solidFill>
          <a:ln w="12700">
            <a:solidFill>
              <a:srgbClr val="306348"/>
            </a:solidFill>
            <a:miter/>
          </a:ln>
        </p:spPr>
        <p:txBody>
          <a:bodyPr lIns="45719" rIns="45719" anchor="ctr"/>
          <a:lstStyle/>
          <a:p>
            <a:pPr algn="ctr">
              <a:defRPr>
                <a:solidFill>
                  <a:srgbClr val="FFFFFF"/>
                </a:solidFill>
              </a:defRPr>
            </a:pPr>
          </a:p>
        </p:txBody>
      </p:sp>
      <p:sp>
        <p:nvSpPr>
          <p:cNvPr id="266" name="TextBox 37"/>
          <p:cNvSpPr txBox="1"/>
          <p:nvPr/>
        </p:nvSpPr>
        <p:spPr>
          <a:xfrm>
            <a:off x="713231" y="3001771"/>
            <a:ext cx="347474"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1</a:t>
            </a:r>
          </a:p>
        </p:txBody>
      </p:sp>
      <p:sp>
        <p:nvSpPr>
          <p:cNvPr id="267" name="TextBox 38"/>
          <p:cNvSpPr txBox="1"/>
          <p:nvPr/>
        </p:nvSpPr>
        <p:spPr>
          <a:xfrm>
            <a:off x="1179576" y="2880360"/>
            <a:ext cx="2560321"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Hand-count with markers</a:t>
            </a:r>
          </a:p>
        </p:txBody>
      </p:sp>
      <p:sp>
        <p:nvSpPr>
          <p:cNvPr id="268" name="TextBox 39"/>
          <p:cNvSpPr txBox="1"/>
          <p:nvPr/>
        </p:nvSpPr>
        <p:spPr>
          <a:xfrm>
            <a:off x="1152144" y="3182111"/>
            <a:ext cx="2615184" cy="366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Repeat the 3 hand-counted batches with markers to isolate detector error.</a:t>
            </a:r>
          </a:p>
        </p:txBody>
      </p:sp>
      <p:sp>
        <p:nvSpPr>
          <p:cNvPr id="269" name="Oval 40"/>
          <p:cNvSpPr/>
          <p:nvPr/>
        </p:nvSpPr>
        <p:spPr>
          <a:xfrm>
            <a:off x="713231" y="3986784"/>
            <a:ext cx="347474" cy="347473"/>
          </a:xfrm>
          <a:prstGeom prst="ellipse">
            <a:avLst/>
          </a:prstGeom>
          <a:solidFill>
            <a:srgbClr val="306348"/>
          </a:solidFill>
          <a:ln w="12700">
            <a:solidFill>
              <a:srgbClr val="306348"/>
            </a:solidFill>
            <a:miter/>
          </a:ln>
        </p:spPr>
        <p:txBody>
          <a:bodyPr lIns="45719" rIns="45719" anchor="ctr"/>
          <a:lstStyle/>
          <a:p>
            <a:pPr algn="ctr">
              <a:defRPr>
                <a:solidFill>
                  <a:srgbClr val="FFFFFF"/>
                </a:solidFill>
              </a:defRPr>
            </a:pPr>
          </a:p>
        </p:txBody>
      </p:sp>
      <p:sp>
        <p:nvSpPr>
          <p:cNvPr id="270" name="TextBox 41"/>
          <p:cNvSpPr txBox="1"/>
          <p:nvPr/>
        </p:nvSpPr>
        <p:spPr>
          <a:xfrm>
            <a:off x="713231" y="4071620"/>
            <a:ext cx="347474"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2</a:t>
            </a:r>
          </a:p>
        </p:txBody>
      </p:sp>
      <p:sp>
        <p:nvSpPr>
          <p:cNvPr id="271" name="TextBox 42"/>
          <p:cNvSpPr txBox="1"/>
          <p:nvPr/>
        </p:nvSpPr>
        <p:spPr>
          <a:xfrm>
            <a:off x="1179576" y="3950208"/>
            <a:ext cx="2560321"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Improve the scale</a:t>
            </a:r>
          </a:p>
        </p:txBody>
      </p:sp>
      <p:sp>
        <p:nvSpPr>
          <p:cNvPr id="272" name="TextBox 43"/>
          <p:cNvSpPr txBox="1"/>
          <p:nvPr/>
        </p:nvSpPr>
        <p:spPr>
          <a:xfrm>
            <a:off x="1152144" y="4251959"/>
            <a:ext cx="2615184" cy="366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Use a 0.01 g scale. Coin test done: our scale rounds to the nearest gram.</a:t>
            </a:r>
          </a:p>
        </p:txBody>
      </p:sp>
      <p:sp>
        <p:nvSpPr>
          <p:cNvPr id="273" name="Rounded Rectangle 44"/>
          <p:cNvSpPr/>
          <p:nvPr/>
        </p:nvSpPr>
        <p:spPr>
          <a:xfrm>
            <a:off x="4407408" y="2212848"/>
            <a:ext cx="3383281" cy="2880361"/>
          </a:xfrm>
          <a:prstGeom prst="roundRect">
            <a:avLst>
              <a:gd name="adj" fmla="val 16667"/>
            </a:avLst>
          </a:prstGeom>
          <a:solidFill>
            <a:srgbClr val="FFF2BE"/>
          </a:solidFill>
          <a:ln w="12700">
            <a:solidFill>
              <a:srgbClr val="FFF2BE"/>
            </a:solidFill>
            <a:miter/>
          </a:ln>
        </p:spPr>
        <p:txBody>
          <a:bodyPr lIns="45719" rIns="45719" anchor="ctr"/>
          <a:lstStyle/>
          <a:p>
            <a:pPr algn="ctr">
              <a:defRPr>
                <a:solidFill>
                  <a:srgbClr val="FFFFFF"/>
                </a:solidFill>
              </a:defRPr>
            </a:pPr>
          </a:p>
        </p:txBody>
      </p:sp>
      <p:sp>
        <p:nvSpPr>
          <p:cNvPr id="274" name="TextBox 45"/>
          <p:cNvSpPr txBox="1"/>
          <p:nvPr/>
        </p:nvSpPr>
        <p:spPr>
          <a:xfrm>
            <a:off x="4599432" y="2385567"/>
            <a:ext cx="2999233" cy="239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300">
                <a:solidFill>
                  <a:srgbClr val="DA8B19"/>
                </a:solidFill>
                <a:latin typeface="Aptos"/>
                <a:ea typeface="Aptos"/>
                <a:cs typeface="Aptos"/>
                <a:sym typeface="Aptos"/>
              </a:defRPr>
            </a:lvl1pPr>
          </a:lstStyle>
          <a:p>
            <a:pPr/>
            <a:r>
              <a:t>2  UNDERSTAND SEED VARIATION</a:t>
            </a:r>
          </a:p>
        </p:txBody>
      </p:sp>
      <p:sp>
        <p:nvSpPr>
          <p:cNvPr id="275" name="Connector 46"/>
          <p:cNvSpPr/>
          <p:nvPr/>
        </p:nvSpPr>
        <p:spPr>
          <a:xfrm>
            <a:off x="4572000" y="2761488"/>
            <a:ext cx="3054097" cy="1"/>
          </a:xfrm>
          <a:prstGeom prst="line">
            <a:avLst/>
          </a:prstGeom>
          <a:ln w="25400">
            <a:solidFill>
              <a:srgbClr val="FFFFFF"/>
            </a:solidFill>
            <a:miter/>
          </a:ln>
        </p:spPr>
        <p:txBody>
          <a:bodyPr lIns="45719" rIns="45719"/>
          <a:lstStyle/>
          <a:p>
            <a:pPr/>
          </a:p>
        </p:txBody>
      </p:sp>
      <p:sp>
        <p:nvSpPr>
          <p:cNvPr id="276" name="Oval 47"/>
          <p:cNvSpPr/>
          <p:nvPr/>
        </p:nvSpPr>
        <p:spPr>
          <a:xfrm>
            <a:off x="4572000" y="2916935"/>
            <a:ext cx="347473" cy="347473"/>
          </a:xfrm>
          <a:prstGeom prst="ellipse">
            <a:avLst/>
          </a:prstGeom>
          <a:solidFill>
            <a:srgbClr val="DA8B19"/>
          </a:solidFill>
          <a:ln w="12700">
            <a:solidFill>
              <a:srgbClr val="DA8B19"/>
            </a:solidFill>
            <a:miter/>
          </a:ln>
        </p:spPr>
        <p:txBody>
          <a:bodyPr lIns="45719" rIns="45719" anchor="ctr"/>
          <a:lstStyle/>
          <a:p>
            <a:pPr algn="ctr">
              <a:defRPr>
                <a:solidFill>
                  <a:srgbClr val="FFFFFF"/>
                </a:solidFill>
              </a:defRPr>
            </a:pPr>
          </a:p>
        </p:txBody>
      </p:sp>
      <p:sp>
        <p:nvSpPr>
          <p:cNvPr id="277" name="TextBox 48"/>
          <p:cNvSpPr txBox="1"/>
          <p:nvPr/>
        </p:nvSpPr>
        <p:spPr>
          <a:xfrm>
            <a:off x="4572000" y="3001771"/>
            <a:ext cx="34747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1</a:t>
            </a:r>
          </a:p>
        </p:txBody>
      </p:sp>
      <p:sp>
        <p:nvSpPr>
          <p:cNvPr id="278" name="TextBox 49"/>
          <p:cNvSpPr txBox="1"/>
          <p:nvPr/>
        </p:nvSpPr>
        <p:spPr>
          <a:xfrm>
            <a:off x="5038344" y="2880360"/>
            <a:ext cx="2560321"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Compare without hulls</a:t>
            </a:r>
          </a:p>
        </p:txBody>
      </p:sp>
      <p:sp>
        <p:nvSpPr>
          <p:cNvPr id="279" name="TextBox 50"/>
          <p:cNvSpPr txBox="1"/>
          <p:nvPr/>
        </p:nvSpPr>
        <p:spPr>
          <a:xfrm>
            <a:off x="5010911" y="3182111"/>
            <a:ext cx="2615185" cy="366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Measure both conditions to quantify the contribution of the hulls.</a:t>
            </a:r>
          </a:p>
        </p:txBody>
      </p:sp>
      <p:sp>
        <p:nvSpPr>
          <p:cNvPr id="280" name="Oval 51"/>
          <p:cNvSpPr/>
          <p:nvPr/>
        </p:nvSpPr>
        <p:spPr>
          <a:xfrm>
            <a:off x="4572000" y="3986784"/>
            <a:ext cx="347473" cy="347473"/>
          </a:xfrm>
          <a:prstGeom prst="ellipse">
            <a:avLst/>
          </a:prstGeom>
          <a:solidFill>
            <a:srgbClr val="DA8B19"/>
          </a:solidFill>
          <a:ln w="12700">
            <a:solidFill>
              <a:srgbClr val="DA8B19"/>
            </a:solidFill>
            <a:miter/>
          </a:ln>
        </p:spPr>
        <p:txBody>
          <a:bodyPr lIns="45719" rIns="45719" anchor="ctr"/>
          <a:lstStyle/>
          <a:p>
            <a:pPr algn="ctr">
              <a:defRPr>
                <a:solidFill>
                  <a:srgbClr val="FFFFFF"/>
                </a:solidFill>
              </a:defRPr>
            </a:pPr>
          </a:p>
        </p:txBody>
      </p:sp>
      <p:sp>
        <p:nvSpPr>
          <p:cNvPr id="281" name="TextBox 52"/>
          <p:cNvSpPr txBox="1"/>
          <p:nvPr/>
        </p:nvSpPr>
        <p:spPr>
          <a:xfrm>
            <a:off x="4572000" y="4071620"/>
            <a:ext cx="34747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2</a:t>
            </a:r>
          </a:p>
        </p:txBody>
      </p:sp>
      <p:sp>
        <p:nvSpPr>
          <p:cNvPr id="282" name="TextBox 53"/>
          <p:cNvSpPr txBox="1"/>
          <p:nvPr/>
        </p:nvSpPr>
        <p:spPr>
          <a:xfrm>
            <a:off x="5038344" y="3950208"/>
            <a:ext cx="2560321"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Test other crops&amp;seed lots</a:t>
            </a:r>
          </a:p>
        </p:txBody>
      </p:sp>
      <p:sp>
        <p:nvSpPr>
          <p:cNvPr id="283" name="TextBox 54"/>
          <p:cNvSpPr txBox="1"/>
          <p:nvPr/>
        </p:nvSpPr>
        <p:spPr>
          <a:xfrm>
            <a:off x="5010911" y="4251959"/>
            <a:ext cx="2615185" cy="5318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For each crop/lot, measure grams per seed and typical seed length across ~10 piles.</a:t>
            </a:r>
          </a:p>
        </p:txBody>
      </p:sp>
      <p:sp>
        <p:nvSpPr>
          <p:cNvPr id="284" name="Rounded Rectangle 55"/>
          <p:cNvSpPr/>
          <p:nvPr/>
        </p:nvSpPr>
        <p:spPr>
          <a:xfrm>
            <a:off x="8266175" y="2212848"/>
            <a:ext cx="3383281" cy="2880361"/>
          </a:xfrm>
          <a:prstGeom prst="roundRect">
            <a:avLst>
              <a:gd name="adj" fmla="val 16667"/>
            </a:avLst>
          </a:prstGeom>
          <a:solidFill>
            <a:srgbClr val="FAE1D3"/>
          </a:solidFill>
          <a:ln w="12700">
            <a:solidFill>
              <a:srgbClr val="FAE1D3"/>
            </a:solidFill>
            <a:miter/>
          </a:ln>
        </p:spPr>
        <p:txBody>
          <a:bodyPr lIns="45719" rIns="45719" anchor="ctr"/>
          <a:lstStyle/>
          <a:p>
            <a:pPr algn="ctr">
              <a:defRPr>
                <a:solidFill>
                  <a:srgbClr val="FFFFFF"/>
                </a:solidFill>
              </a:defRPr>
            </a:pPr>
          </a:p>
        </p:txBody>
      </p:sp>
      <p:sp>
        <p:nvSpPr>
          <p:cNvPr id="285" name="TextBox 56"/>
          <p:cNvSpPr txBox="1"/>
          <p:nvPr/>
        </p:nvSpPr>
        <p:spPr>
          <a:xfrm>
            <a:off x="8458198" y="2385567"/>
            <a:ext cx="2999233" cy="239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300">
                <a:solidFill>
                  <a:srgbClr val="B45B38"/>
                </a:solidFill>
                <a:latin typeface="Aptos"/>
                <a:ea typeface="Aptos"/>
                <a:cs typeface="Aptos"/>
                <a:sym typeface="Aptos"/>
              </a:defRPr>
            </a:lvl1pPr>
          </a:lstStyle>
          <a:p>
            <a:pPr/>
            <a:r>
              <a:t>3  MAKE IT EASIER TO USE</a:t>
            </a:r>
          </a:p>
        </p:txBody>
      </p:sp>
      <p:sp>
        <p:nvSpPr>
          <p:cNvPr id="286" name="Connector 57"/>
          <p:cNvSpPr/>
          <p:nvPr/>
        </p:nvSpPr>
        <p:spPr>
          <a:xfrm>
            <a:off x="8430766" y="2761488"/>
            <a:ext cx="3054097" cy="1"/>
          </a:xfrm>
          <a:prstGeom prst="line">
            <a:avLst/>
          </a:prstGeom>
          <a:ln w="25400">
            <a:solidFill>
              <a:srgbClr val="FFFFFF"/>
            </a:solidFill>
            <a:miter/>
          </a:ln>
        </p:spPr>
        <p:txBody>
          <a:bodyPr lIns="45719" rIns="45719"/>
          <a:lstStyle/>
          <a:p>
            <a:pPr/>
          </a:p>
        </p:txBody>
      </p:sp>
      <p:sp>
        <p:nvSpPr>
          <p:cNvPr id="287" name="Oval 58"/>
          <p:cNvSpPr/>
          <p:nvPr/>
        </p:nvSpPr>
        <p:spPr>
          <a:xfrm>
            <a:off x="8430766" y="2916935"/>
            <a:ext cx="347473" cy="347473"/>
          </a:xfrm>
          <a:prstGeom prst="ellipse">
            <a:avLst/>
          </a:prstGeom>
          <a:solidFill>
            <a:srgbClr val="B45B38"/>
          </a:solidFill>
          <a:ln w="12700">
            <a:solidFill>
              <a:srgbClr val="B45B38"/>
            </a:solidFill>
            <a:miter/>
          </a:ln>
        </p:spPr>
        <p:txBody>
          <a:bodyPr lIns="45719" rIns="45719" anchor="ctr"/>
          <a:lstStyle/>
          <a:p>
            <a:pPr algn="ctr">
              <a:defRPr>
                <a:solidFill>
                  <a:srgbClr val="FFFFFF"/>
                </a:solidFill>
              </a:defRPr>
            </a:pPr>
          </a:p>
        </p:txBody>
      </p:sp>
      <p:sp>
        <p:nvSpPr>
          <p:cNvPr id="288" name="TextBox 59"/>
          <p:cNvSpPr txBox="1"/>
          <p:nvPr/>
        </p:nvSpPr>
        <p:spPr>
          <a:xfrm>
            <a:off x="8430766" y="3001771"/>
            <a:ext cx="34747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1</a:t>
            </a:r>
          </a:p>
        </p:txBody>
      </p:sp>
      <p:sp>
        <p:nvSpPr>
          <p:cNvPr id="289" name="TextBox 60"/>
          <p:cNvSpPr txBox="1"/>
          <p:nvPr/>
        </p:nvSpPr>
        <p:spPr>
          <a:xfrm>
            <a:off x="8897111" y="2880360"/>
            <a:ext cx="2560322"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Offer alternative rulers</a:t>
            </a:r>
          </a:p>
        </p:txBody>
      </p:sp>
      <p:sp>
        <p:nvSpPr>
          <p:cNvPr id="290" name="TextBox 61"/>
          <p:cNvSpPr txBox="1"/>
          <p:nvPr/>
        </p:nvSpPr>
        <p:spPr>
          <a:xfrm>
            <a:off x="8869680" y="3182111"/>
            <a:ext cx="2615185" cy="5318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Build and test a coin, bank card or A4 sheet so users need not print our marker sheet.</a:t>
            </a:r>
          </a:p>
        </p:txBody>
      </p:sp>
      <p:sp>
        <p:nvSpPr>
          <p:cNvPr id="291" name="Oval 62"/>
          <p:cNvSpPr/>
          <p:nvPr/>
        </p:nvSpPr>
        <p:spPr>
          <a:xfrm>
            <a:off x="8430766" y="3986784"/>
            <a:ext cx="347473" cy="347473"/>
          </a:xfrm>
          <a:prstGeom prst="ellipse">
            <a:avLst/>
          </a:prstGeom>
          <a:solidFill>
            <a:srgbClr val="B45B38"/>
          </a:solidFill>
          <a:ln w="12700">
            <a:solidFill>
              <a:srgbClr val="B45B38"/>
            </a:solidFill>
            <a:miter/>
          </a:ln>
        </p:spPr>
        <p:txBody>
          <a:bodyPr lIns="45719" rIns="45719" anchor="ctr"/>
          <a:lstStyle/>
          <a:p>
            <a:pPr algn="ctr">
              <a:defRPr>
                <a:solidFill>
                  <a:srgbClr val="FFFFFF"/>
                </a:solidFill>
              </a:defRPr>
            </a:pPr>
          </a:p>
        </p:txBody>
      </p:sp>
      <p:sp>
        <p:nvSpPr>
          <p:cNvPr id="292" name="TextBox 63"/>
          <p:cNvSpPr txBox="1"/>
          <p:nvPr/>
        </p:nvSpPr>
        <p:spPr>
          <a:xfrm>
            <a:off x="8430766" y="4071620"/>
            <a:ext cx="34747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2</a:t>
            </a:r>
          </a:p>
        </p:txBody>
      </p:sp>
      <p:sp>
        <p:nvSpPr>
          <p:cNvPr id="293" name="TextBox 64"/>
          <p:cNvSpPr txBox="1"/>
          <p:nvPr/>
        </p:nvSpPr>
        <p:spPr>
          <a:xfrm>
            <a:off x="8897111" y="3950208"/>
            <a:ext cx="2560322"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Use a live checklist</a:t>
            </a:r>
          </a:p>
        </p:txBody>
      </p:sp>
      <p:sp>
        <p:nvSpPr>
          <p:cNvPr id="294" name="TextBox 65"/>
          <p:cNvSpPr txBox="1"/>
          <p:nvPr/>
        </p:nvSpPr>
        <p:spPr>
          <a:xfrm>
            <a:off x="8869680" y="4251959"/>
            <a:ext cx="2615185" cy="5318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Keep the procedure visible and tick off each step; a written protocol only helps if followed.</a:t>
            </a:r>
          </a:p>
        </p:txBody>
      </p:sp>
      <p:sp>
        <p:nvSpPr>
          <p:cNvPr id="295" name="Rounded Rectangle 66"/>
          <p:cNvSpPr/>
          <p:nvPr/>
        </p:nvSpPr>
        <p:spPr>
          <a:xfrm>
            <a:off x="548640" y="5321808"/>
            <a:ext cx="11100817" cy="694945"/>
          </a:xfrm>
          <a:prstGeom prst="roundRect">
            <a:avLst>
              <a:gd name="adj" fmla="val 16667"/>
            </a:avLst>
          </a:prstGeom>
          <a:solidFill>
            <a:srgbClr val="EBF2E6"/>
          </a:solidFill>
          <a:ln w="12700">
            <a:solidFill>
              <a:srgbClr val="EBF2E6"/>
            </a:solidFill>
            <a:miter/>
          </a:ln>
        </p:spPr>
        <p:txBody>
          <a:bodyPr lIns="45719" rIns="45719" anchor="ctr"/>
          <a:lstStyle/>
          <a:p>
            <a:pPr algn="ctr">
              <a:defRPr>
                <a:solidFill>
                  <a:srgbClr val="FFFFFF"/>
                </a:solidFill>
              </a:defRPr>
            </a:pPr>
          </a:p>
        </p:txBody>
      </p:sp>
      <p:sp>
        <p:nvSpPr>
          <p:cNvPr id="296" name="TextBox 67"/>
          <p:cNvSpPr txBox="1"/>
          <p:nvPr/>
        </p:nvSpPr>
        <p:spPr>
          <a:xfrm>
            <a:off x="777240" y="5490971"/>
            <a:ext cx="1362456"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306348"/>
                </a:solidFill>
                <a:latin typeface="Aptos"/>
                <a:ea typeface="Aptos"/>
                <a:cs typeface="Aptos"/>
                <a:sym typeface="Aptos"/>
              </a:defRPr>
            </a:lvl1pPr>
          </a:lstStyle>
          <a:p>
            <a:pPr/>
            <a:r>
              <a:t>Main lesson</a:t>
            </a:r>
          </a:p>
        </p:txBody>
      </p:sp>
      <p:sp>
        <p:nvSpPr>
          <p:cNvPr id="297" name="TextBox 68"/>
          <p:cNvSpPr txBox="1"/>
          <p:nvPr/>
        </p:nvSpPr>
        <p:spPr>
          <a:xfrm>
            <a:off x="2130551" y="5490971"/>
            <a:ext cx="9180577"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Measure the uncertainty, then turn what we learn into a better procedure and a simpler app.</a:t>
            </a: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1"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The six course tasks, and the live demo</a:t>
            </a:r>
          </a:p>
        </p:txBody>
      </p:sp>
      <p:sp>
        <p:nvSpPr>
          <p:cNvPr id="302"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SUMMARY</a:t>
            </a:r>
          </a:p>
        </p:txBody>
      </p:sp>
      <p:graphicFrame>
        <p:nvGraphicFramePr>
          <p:cNvPr id="303" name="Table 0"/>
          <p:cNvGraphicFramePr/>
          <p:nvPr/>
        </p:nvGraphicFramePr>
        <p:xfrm>
          <a:off x="548640" y="1280160"/>
          <a:ext cx="11109961" cy="3520441"/>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3291840"/>
                <a:gridCol w="2743200"/>
                <a:gridCol w="5074920"/>
              </a:tblGrid>
              <a:tr h="502919">
                <a:tc>
                  <a:txBody>
                    <a:bodyPr/>
                    <a:lstStyle/>
                    <a:p>
                      <a:pPr algn="l">
                        <a:defRPr sz="1800"/>
                      </a:pPr>
                      <a:r>
                        <a:rPr b="1" sz="1400">
                          <a:solidFill>
                            <a:srgbClr val="FFFFFF"/>
                          </a:solidFill>
                        </a:rPr>
                        <a:t>Task</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c>
                  <a:txBody>
                    <a:bodyPr/>
                    <a:lstStyle/>
                    <a:p>
                      <a:pPr algn="l">
                        <a:defRPr sz="1800"/>
                      </a:pPr>
                      <a:r>
                        <a:rPr b="1" sz="1400">
                          <a:solidFill>
                            <a:srgbClr val="FFFFFF"/>
                          </a:solidFill>
                        </a:rPr>
                        <a:t>Where</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c>
                  <a:txBody>
                    <a:bodyPr/>
                    <a:lstStyle/>
                    <a:p>
                      <a:pPr algn="l">
                        <a:defRPr sz="1800"/>
                      </a:pPr>
                      <a:r>
                        <a:rPr b="1" sz="1400">
                          <a:solidFill>
                            <a:srgbClr val="FFFFFF"/>
                          </a:solidFill>
                        </a:rPr>
                        <a:t>Answer in one line</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r>
              <a:tr h="502919">
                <a:tc>
                  <a:txBody>
                    <a:bodyPr/>
                    <a:lstStyle/>
                    <a:p>
                      <a:pPr algn="l">
                        <a:defRPr sz="1800"/>
                      </a:pPr>
                      <a:r>
                        <a:rPr sz="1400">
                          <a:solidFill>
                            <a:srgbClr val="253027"/>
                          </a:solidFill>
                        </a:rPr>
                        <a:t>1  Plan the collection</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Slides 3 to 5</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Procedure version 3; every rule from a measured problem</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502919">
                <a:tc>
                  <a:txBody>
                    <a:bodyPr/>
                    <a:lstStyle/>
                    <a:p>
                      <a:pPr algn="l">
                        <a:defRPr sz="1800"/>
                      </a:pPr>
                      <a:r>
                        <a:rPr sz="1400">
                          <a:solidFill>
                            <a:srgbClr val="253027"/>
                          </a:solidFill>
                        </a:rPr>
                        <a:t>2  Feature and number of samples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Slides 8 and 13</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Count of sunflower boxes; about 10 piles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502919">
                <a:tc>
                  <a:txBody>
                    <a:bodyPr/>
                    <a:lstStyle/>
                    <a:p>
                      <a:pPr algn="l">
                        <a:defRPr sz="1800"/>
                      </a:pPr>
                      <a:r>
                        <a:rPr sz="1400">
                          <a:solidFill>
                            <a:srgbClr val="253027"/>
                          </a:solidFill>
                        </a:rPr>
                        <a:t>3  Bounds and error propagation</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Slide 9</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±8.7 % for one photo; the photo is not the main error</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502919">
                <a:tc>
                  <a:txBody>
                    <a:bodyPr/>
                    <a:lstStyle/>
                    <a:p>
                      <a:pPr algn="l">
                        <a:defRPr sz="1800"/>
                      </a:pPr>
                      <a:r>
                        <a:rPr sz="1400">
                          <a:solidFill>
                            <a:srgbClr val="253027"/>
                          </a:solidFill>
                        </a:rPr>
                        <a:t>4  Team-mate repeats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Slide 10</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Jia: 9 of 9 piles inside the bounds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502919">
                <a:tc>
                  <a:txBody>
                    <a:bodyPr/>
                    <a:lstStyle/>
                    <a:p>
                      <a:pPr algn="l">
                        <a:defRPr sz="1800"/>
                      </a:pPr>
                      <a:r>
                        <a:rPr sz="1400">
                          <a:solidFill>
                            <a:srgbClr val="253027"/>
                          </a:solidFill>
                        </a:rPr>
                        <a:t>5  Report</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This deck and the repository</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All numbers can be rebuilt from the code</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502919">
                <a:tc>
                  <a:txBody>
                    <a:bodyPr/>
                    <a:lstStyle/>
                    <a:p>
                      <a:pPr algn="l">
                        <a:defRPr sz="1800"/>
                      </a:pPr>
                      <a:r>
                        <a:rPr sz="1400">
                          <a:solidFill>
                            <a:srgbClr val="253027"/>
                          </a:solidFill>
                        </a:rPr>
                        <a:t>6  Deployment</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Now: live demo</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You take a photo with your phone, following the instructions in the app</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bl>
          </a:graphicData>
        </a:graphic>
      </p:graphicFrame>
      <p:sp>
        <p:nvSpPr>
          <p:cNvPr id="304" name="Shape 2"/>
          <p:cNvSpPr/>
          <p:nvPr/>
        </p:nvSpPr>
        <p:spPr>
          <a:xfrm>
            <a:off x="548640" y="5074920"/>
            <a:ext cx="11109960" cy="1097281"/>
          </a:xfrm>
          <a:prstGeom prst="roundRect">
            <a:avLst>
              <a:gd name="adj" fmla="val 10000"/>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305" name="Text 3"/>
          <p:cNvSpPr txBox="1"/>
          <p:nvPr/>
        </p:nvSpPr>
        <p:spPr>
          <a:xfrm>
            <a:off x="713231" y="5184647"/>
            <a:ext cx="10780778" cy="4941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Demo</a:t>
            </a:r>
          </a:p>
          <a:p>
            <a:pPr>
              <a:spcBef>
                <a:spcPts val="400"/>
              </a:spcBef>
              <a:defRPr sz="1400">
                <a:solidFill>
                  <a:srgbClr val="253027"/>
                </a:solidFill>
              </a:defRPr>
            </a:pPr>
            <a:r>
              <a:t>Your phone, our app: the result shows the weight, its range, and one light with one sentence. Try one photo with the marker sheet and one without.</a:t>
            </a:r>
          </a:p>
        </p:txBody>
      </p:sp>
      <p:sp>
        <p:nvSpPr>
          <p:cNvPr id="306" name="Slide Number Placeholder 0"/>
          <p:cNvSpPr txBox="1"/>
          <p:nvPr>
            <p:ph type="sldNum" sz="quarter" idx="4294967295"/>
          </p:nvPr>
        </p:nvSpPr>
        <p:spPr>
          <a:xfrm>
            <a:off x="11471443" y="6446520"/>
            <a:ext cx="232877"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0"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Sources and files</a:t>
            </a:r>
          </a:p>
        </p:txBody>
      </p:sp>
      <p:sp>
        <p:nvSpPr>
          <p:cNvPr id="311"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APPENDIX</a:t>
            </a:r>
          </a:p>
        </p:txBody>
      </p:sp>
      <p:sp>
        <p:nvSpPr>
          <p:cNvPr id="312" name="Text 2"/>
          <p:cNvSpPr txBox="1"/>
          <p:nvPr/>
        </p:nvSpPr>
        <p:spPr>
          <a:xfrm>
            <a:off x="594359" y="1280160"/>
            <a:ext cx="10881361" cy="2281794"/>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marL="342900" indent="-342900">
              <a:spcBef>
                <a:spcPts val="600"/>
              </a:spcBef>
              <a:buSzPct val="100000"/>
              <a:buChar char="•"/>
              <a:defRPr sz="1600">
                <a:solidFill>
                  <a:srgbClr val="253027"/>
                </a:solidFill>
              </a:defRPr>
            </a:pPr>
            <a:r>
              <a:t>Repository: github.com/HadiNasooti/cnh-sunflower-weight (code, data, results)</a:t>
            </a:r>
          </a:p>
          <a:p>
            <a:pPr marL="342900" indent="-342900">
              <a:spcBef>
                <a:spcPts val="600"/>
              </a:spcBef>
              <a:buSzPct val="100000"/>
              <a:buChar char="•"/>
              <a:defRPr sz="1600">
                <a:solidFill>
                  <a:srgbClr val="253027"/>
                </a:solidFill>
              </a:defRPr>
            </a:pPr>
            <a:r>
              <a:t>Procedure version 3: docs/group/PROCEDURE.md; all variables: docs/group/VARIABLES.md</a:t>
            </a:r>
          </a:p>
          <a:p>
            <a:pPr marL="342900" indent="-342900">
              <a:spcBef>
                <a:spcPts val="600"/>
              </a:spcBef>
              <a:buSzPct val="100000"/>
              <a:buChar char="•"/>
              <a:defRPr sz="1600">
                <a:solidFill>
                  <a:srgbClr val="253027"/>
                </a:solidFill>
              </a:defRPr>
            </a:pPr>
            <a:r>
              <a:t>Results per photo and per pile: analysis/results/2026-10-22_analysis/ (per_photo.csv, per_pile.csv)</a:t>
            </a:r>
          </a:p>
          <a:p>
            <a:pPr marL="342900" indent="-342900">
              <a:spcBef>
                <a:spcPts val="600"/>
              </a:spcBef>
              <a:buSzPct val="100000"/>
              <a:buChar char="•"/>
              <a:defRPr sz="1600">
                <a:solidFill>
                  <a:srgbClr val="253027"/>
                </a:solidFill>
              </a:defRPr>
            </a:pPr>
            <a:r>
              <a:t>Business case: analysis/business_case.py; seeds as ruler: analysis/seed_scale_test.py</a:t>
            </a:r>
          </a:p>
          <a:p>
            <a:pPr marL="342900" indent="-342900">
              <a:spcBef>
                <a:spcPts val="600"/>
              </a:spcBef>
              <a:buSzPct val="100000"/>
              <a:buChar char="•"/>
              <a:defRPr sz="1600">
                <a:solidFill>
                  <a:srgbClr val="253027"/>
                </a:solidFill>
              </a:defRPr>
            </a:pPr>
            <a:r>
              <a:t>App checks: detkit/quality.py; checked on all 59 photos by analysis/validate_light.py</a:t>
            </a:r>
          </a:p>
          <a:p>
            <a:pPr marL="342900" indent="-342900">
              <a:spcBef>
                <a:spcPts val="600"/>
              </a:spcBef>
              <a:buSzPct val="100000"/>
              <a:buChar char="•"/>
              <a:defRPr sz="1600">
                <a:solidFill>
                  <a:srgbClr val="253027"/>
                </a:solidFill>
              </a:defRPr>
            </a:pPr>
            <a:r>
              <a:t>Labour cost: Eurostat, hourly labour costs 2024 (Belgium 48.2 euro per hour)</a:t>
            </a:r>
          </a:p>
          <a:p>
            <a:pPr marL="342900" indent="-342900">
              <a:spcBef>
                <a:spcPts val="600"/>
              </a:spcBef>
              <a:buSzPct val="100000"/>
              <a:buChar char="•"/>
              <a:defRPr sz="1600">
                <a:solidFill>
                  <a:srgbClr val="253027"/>
                </a:solidFill>
              </a:defRPr>
            </a:pPr>
            <a:r>
              <a:t>Bank card size: ISO/IEC 7810 ID-1</a:t>
            </a:r>
          </a:p>
        </p:txBody>
      </p:sp>
      <p:sp>
        <p:nvSpPr>
          <p:cNvPr id="313" name="Slide Number Placeholder 0"/>
          <p:cNvSpPr txBox="1"/>
          <p:nvPr>
            <p:ph type="sldNum" sz="quarter" idx="4294967295"/>
          </p:nvPr>
        </p:nvSpPr>
        <p:spPr>
          <a:xfrm>
            <a:off x="11471443" y="6446520"/>
            <a:ext cx="232877"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8" name="Shape 0"/>
          <p:cNvSpPr/>
          <p:nvPr/>
        </p:nvSpPr>
        <p:spPr>
          <a:xfrm>
            <a:off x="8138159" y="0"/>
            <a:ext cx="4050793" cy="6858000"/>
          </a:xfrm>
          <a:prstGeom prst="rect">
            <a:avLst/>
          </a:prstGeom>
          <a:solidFill>
            <a:srgbClr val="FFF1BE"/>
          </a:solidFill>
          <a:ln w="12700">
            <a:solidFill>
              <a:srgbClr val="FFF1BE"/>
            </a:solidFill>
          </a:ln>
        </p:spPr>
        <p:txBody>
          <a:bodyPr lIns="45719" rIns="45719"/>
          <a:lstStyle/>
          <a:p>
            <a:pPr/>
          </a:p>
        </p:txBody>
      </p:sp>
      <p:sp>
        <p:nvSpPr>
          <p:cNvPr id="29" name="Shape 1"/>
          <p:cNvSpPr/>
          <p:nvPr/>
        </p:nvSpPr>
        <p:spPr>
          <a:xfrm rot="5400000">
            <a:off x="10908792" y="2606039"/>
            <a:ext cx="402337" cy="1005842"/>
          </a:xfrm>
          <a:prstGeom prst="ellipse">
            <a:avLst/>
          </a:prstGeom>
          <a:solidFill>
            <a:srgbClr val="F2B705"/>
          </a:solidFill>
          <a:ln w="6350">
            <a:solidFill>
              <a:srgbClr val="DC8F14"/>
            </a:solidFill>
          </a:ln>
        </p:spPr>
        <p:txBody>
          <a:bodyPr lIns="45719" rIns="45719"/>
          <a:lstStyle/>
          <a:p>
            <a:pPr/>
          </a:p>
        </p:txBody>
      </p:sp>
      <p:sp>
        <p:nvSpPr>
          <p:cNvPr id="30" name="Shape 2"/>
          <p:cNvSpPr/>
          <p:nvPr/>
        </p:nvSpPr>
        <p:spPr>
          <a:xfrm rot="6750000">
            <a:off x="10835706" y="2973461"/>
            <a:ext cx="402337" cy="1005841"/>
          </a:xfrm>
          <a:prstGeom prst="ellipse">
            <a:avLst/>
          </a:prstGeom>
          <a:solidFill>
            <a:srgbClr val="F2B705"/>
          </a:solidFill>
          <a:ln w="6350">
            <a:solidFill>
              <a:srgbClr val="DC8F14"/>
            </a:solidFill>
          </a:ln>
        </p:spPr>
        <p:txBody>
          <a:bodyPr lIns="45719" rIns="45719"/>
          <a:lstStyle/>
          <a:p>
            <a:pPr/>
          </a:p>
        </p:txBody>
      </p:sp>
      <p:sp>
        <p:nvSpPr>
          <p:cNvPr id="31" name="Shape 3"/>
          <p:cNvSpPr/>
          <p:nvPr/>
        </p:nvSpPr>
        <p:spPr>
          <a:xfrm rot="8100000">
            <a:off x="10627579" y="3284947"/>
            <a:ext cx="402337" cy="1005841"/>
          </a:xfrm>
          <a:prstGeom prst="ellipse">
            <a:avLst/>
          </a:prstGeom>
          <a:solidFill>
            <a:srgbClr val="F2B705"/>
          </a:solidFill>
          <a:ln w="6350">
            <a:solidFill>
              <a:srgbClr val="DC8F14"/>
            </a:solidFill>
          </a:ln>
        </p:spPr>
        <p:txBody>
          <a:bodyPr lIns="45719" rIns="45719"/>
          <a:lstStyle/>
          <a:p>
            <a:pPr/>
          </a:p>
        </p:txBody>
      </p:sp>
      <p:sp>
        <p:nvSpPr>
          <p:cNvPr id="32" name="Shape 4"/>
          <p:cNvSpPr/>
          <p:nvPr/>
        </p:nvSpPr>
        <p:spPr>
          <a:xfrm rot="9450000">
            <a:off x="10316094" y="3493075"/>
            <a:ext cx="402337" cy="1005841"/>
          </a:xfrm>
          <a:prstGeom prst="ellipse">
            <a:avLst/>
          </a:prstGeom>
          <a:solidFill>
            <a:srgbClr val="F2B705"/>
          </a:solidFill>
          <a:ln w="6350">
            <a:solidFill>
              <a:srgbClr val="DC8F14"/>
            </a:solidFill>
          </a:ln>
        </p:spPr>
        <p:txBody>
          <a:bodyPr lIns="45719" rIns="45719"/>
          <a:lstStyle/>
          <a:p>
            <a:pPr/>
          </a:p>
        </p:txBody>
      </p:sp>
      <p:sp>
        <p:nvSpPr>
          <p:cNvPr id="33" name="Shape 5"/>
          <p:cNvSpPr/>
          <p:nvPr/>
        </p:nvSpPr>
        <p:spPr>
          <a:xfrm rot="10800000">
            <a:off x="9948671" y="3566159"/>
            <a:ext cx="402337" cy="1005841"/>
          </a:xfrm>
          <a:prstGeom prst="ellipse">
            <a:avLst/>
          </a:prstGeom>
          <a:solidFill>
            <a:srgbClr val="F2B705"/>
          </a:solidFill>
          <a:ln w="6350">
            <a:solidFill>
              <a:srgbClr val="DC8F14"/>
            </a:solidFill>
          </a:ln>
        </p:spPr>
        <p:txBody>
          <a:bodyPr lIns="45719" rIns="45719"/>
          <a:lstStyle/>
          <a:p>
            <a:pPr/>
          </a:p>
        </p:txBody>
      </p:sp>
      <p:sp>
        <p:nvSpPr>
          <p:cNvPr id="34" name="Shape 6"/>
          <p:cNvSpPr/>
          <p:nvPr/>
        </p:nvSpPr>
        <p:spPr>
          <a:xfrm rot="12150000">
            <a:off x="9581250" y="3493075"/>
            <a:ext cx="402337" cy="1005841"/>
          </a:xfrm>
          <a:prstGeom prst="ellipse">
            <a:avLst/>
          </a:prstGeom>
          <a:solidFill>
            <a:srgbClr val="F2B705"/>
          </a:solidFill>
          <a:ln w="6350">
            <a:solidFill>
              <a:srgbClr val="DC8F14"/>
            </a:solidFill>
          </a:ln>
        </p:spPr>
        <p:txBody>
          <a:bodyPr lIns="45719" rIns="45719"/>
          <a:lstStyle/>
          <a:p>
            <a:pPr/>
          </a:p>
        </p:txBody>
      </p:sp>
      <p:sp>
        <p:nvSpPr>
          <p:cNvPr id="35" name="Shape 7"/>
          <p:cNvSpPr/>
          <p:nvPr/>
        </p:nvSpPr>
        <p:spPr>
          <a:xfrm rot="13500000">
            <a:off x="9269765" y="3284947"/>
            <a:ext cx="402337" cy="1005841"/>
          </a:xfrm>
          <a:prstGeom prst="ellipse">
            <a:avLst/>
          </a:prstGeom>
          <a:solidFill>
            <a:srgbClr val="F2B705"/>
          </a:solidFill>
          <a:ln w="6350">
            <a:solidFill>
              <a:srgbClr val="DC8F14"/>
            </a:solidFill>
          </a:ln>
        </p:spPr>
        <p:txBody>
          <a:bodyPr lIns="45719" rIns="45719"/>
          <a:lstStyle/>
          <a:p>
            <a:pPr/>
          </a:p>
        </p:txBody>
      </p:sp>
      <p:sp>
        <p:nvSpPr>
          <p:cNvPr id="36" name="Shape 8"/>
          <p:cNvSpPr/>
          <p:nvPr/>
        </p:nvSpPr>
        <p:spPr>
          <a:xfrm rot="14850000">
            <a:off x="9061636" y="2973461"/>
            <a:ext cx="402337" cy="1005841"/>
          </a:xfrm>
          <a:prstGeom prst="ellipse">
            <a:avLst/>
          </a:prstGeom>
          <a:solidFill>
            <a:srgbClr val="F2B705"/>
          </a:solidFill>
          <a:ln w="6350">
            <a:solidFill>
              <a:srgbClr val="DC8F14"/>
            </a:solidFill>
          </a:ln>
        </p:spPr>
        <p:txBody>
          <a:bodyPr lIns="45719" rIns="45719"/>
          <a:lstStyle/>
          <a:p>
            <a:pPr/>
          </a:p>
        </p:txBody>
      </p:sp>
      <p:sp>
        <p:nvSpPr>
          <p:cNvPr id="37" name="Shape 9"/>
          <p:cNvSpPr/>
          <p:nvPr/>
        </p:nvSpPr>
        <p:spPr>
          <a:xfrm rot="16200000">
            <a:off x="8988552" y="2606039"/>
            <a:ext cx="402337" cy="1005842"/>
          </a:xfrm>
          <a:prstGeom prst="ellipse">
            <a:avLst/>
          </a:prstGeom>
          <a:solidFill>
            <a:srgbClr val="F2B705"/>
          </a:solidFill>
          <a:ln w="6350">
            <a:solidFill>
              <a:srgbClr val="DC8F14"/>
            </a:solidFill>
          </a:ln>
        </p:spPr>
        <p:txBody>
          <a:bodyPr lIns="45719" rIns="45719"/>
          <a:lstStyle/>
          <a:p>
            <a:pPr/>
          </a:p>
        </p:txBody>
      </p:sp>
      <p:sp>
        <p:nvSpPr>
          <p:cNvPr id="38" name="Shape 10"/>
          <p:cNvSpPr/>
          <p:nvPr/>
        </p:nvSpPr>
        <p:spPr>
          <a:xfrm rot="17550000">
            <a:off x="9061636" y="2238618"/>
            <a:ext cx="402337" cy="1005841"/>
          </a:xfrm>
          <a:prstGeom prst="ellipse">
            <a:avLst/>
          </a:prstGeom>
          <a:solidFill>
            <a:srgbClr val="F2B705"/>
          </a:solidFill>
          <a:ln w="6350">
            <a:solidFill>
              <a:srgbClr val="DC8F14"/>
            </a:solidFill>
          </a:ln>
        </p:spPr>
        <p:txBody>
          <a:bodyPr lIns="45719" rIns="45719"/>
          <a:lstStyle/>
          <a:p>
            <a:pPr/>
          </a:p>
        </p:txBody>
      </p:sp>
      <p:sp>
        <p:nvSpPr>
          <p:cNvPr id="39" name="Shape 11"/>
          <p:cNvSpPr/>
          <p:nvPr/>
        </p:nvSpPr>
        <p:spPr>
          <a:xfrm rot="18900000">
            <a:off x="9269765" y="1927132"/>
            <a:ext cx="402337" cy="1005842"/>
          </a:xfrm>
          <a:prstGeom prst="ellipse">
            <a:avLst/>
          </a:prstGeom>
          <a:solidFill>
            <a:srgbClr val="F2B705"/>
          </a:solidFill>
          <a:ln w="6350">
            <a:solidFill>
              <a:srgbClr val="DC8F14"/>
            </a:solidFill>
          </a:ln>
        </p:spPr>
        <p:txBody>
          <a:bodyPr lIns="45719" rIns="45719"/>
          <a:lstStyle/>
          <a:p>
            <a:pPr/>
          </a:p>
        </p:txBody>
      </p:sp>
      <p:sp>
        <p:nvSpPr>
          <p:cNvPr id="40" name="Shape 12"/>
          <p:cNvSpPr/>
          <p:nvPr/>
        </p:nvSpPr>
        <p:spPr>
          <a:xfrm rot="20250000">
            <a:off x="9581250" y="1719004"/>
            <a:ext cx="402337" cy="1005842"/>
          </a:xfrm>
          <a:prstGeom prst="ellipse">
            <a:avLst/>
          </a:prstGeom>
          <a:solidFill>
            <a:srgbClr val="F2B705"/>
          </a:solidFill>
          <a:ln w="6350">
            <a:solidFill>
              <a:srgbClr val="DC8F14"/>
            </a:solidFill>
          </a:ln>
        </p:spPr>
        <p:txBody>
          <a:bodyPr lIns="45719" rIns="45719"/>
          <a:lstStyle/>
          <a:p>
            <a:pPr/>
          </a:p>
        </p:txBody>
      </p:sp>
      <p:sp>
        <p:nvSpPr>
          <p:cNvPr id="41" name="Shape 13"/>
          <p:cNvSpPr/>
          <p:nvPr/>
        </p:nvSpPr>
        <p:spPr>
          <a:xfrm>
            <a:off x="9948671" y="1645920"/>
            <a:ext cx="402337" cy="1005841"/>
          </a:xfrm>
          <a:prstGeom prst="ellipse">
            <a:avLst/>
          </a:prstGeom>
          <a:solidFill>
            <a:srgbClr val="F2B705"/>
          </a:solidFill>
          <a:ln w="6350">
            <a:solidFill>
              <a:srgbClr val="DC8F14"/>
            </a:solidFill>
          </a:ln>
        </p:spPr>
        <p:txBody>
          <a:bodyPr lIns="45719" rIns="45719"/>
          <a:lstStyle/>
          <a:p>
            <a:pPr/>
          </a:p>
        </p:txBody>
      </p:sp>
      <p:sp>
        <p:nvSpPr>
          <p:cNvPr id="42" name="Shape 14"/>
          <p:cNvSpPr/>
          <p:nvPr/>
        </p:nvSpPr>
        <p:spPr>
          <a:xfrm rot="1350000">
            <a:off x="10316094" y="1719004"/>
            <a:ext cx="402337" cy="1005842"/>
          </a:xfrm>
          <a:prstGeom prst="ellipse">
            <a:avLst/>
          </a:prstGeom>
          <a:solidFill>
            <a:srgbClr val="F2B705"/>
          </a:solidFill>
          <a:ln w="6350">
            <a:solidFill>
              <a:srgbClr val="DC8F14"/>
            </a:solidFill>
          </a:ln>
        </p:spPr>
        <p:txBody>
          <a:bodyPr lIns="45719" rIns="45719"/>
          <a:lstStyle/>
          <a:p>
            <a:pPr/>
          </a:p>
        </p:txBody>
      </p:sp>
      <p:sp>
        <p:nvSpPr>
          <p:cNvPr id="43" name="Shape 15"/>
          <p:cNvSpPr/>
          <p:nvPr/>
        </p:nvSpPr>
        <p:spPr>
          <a:xfrm rot="2700000">
            <a:off x="10627579" y="1927132"/>
            <a:ext cx="402337" cy="1005842"/>
          </a:xfrm>
          <a:prstGeom prst="ellipse">
            <a:avLst/>
          </a:prstGeom>
          <a:solidFill>
            <a:srgbClr val="F2B705"/>
          </a:solidFill>
          <a:ln w="6350">
            <a:solidFill>
              <a:srgbClr val="DC8F14"/>
            </a:solidFill>
          </a:ln>
        </p:spPr>
        <p:txBody>
          <a:bodyPr lIns="45719" rIns="45719"/>
          <a:lstStyle/>
          <a:p>
            <a:pPr/>
          </a:p>
        </p:txBody>
      </p:sp>
      <p:sp>
        <p:nvSpPr>
          <p:cNvPr id="44" name="Shape 16"/>
          <p:cNvSpPr/>
          <p:nvPr/>
        </p:nvSpPr>
        <p:spPr>
          <a:xfrm rot="4050000">
            <a:off x="10835706" y="2238618"/>
            <a:ext cx="402337" cy="1005841"/>
          </a:xfrm>
          <a:prstGeom prst="ellipse">
            <a:avLst/>
          </a:prstGeom>
          <a:solidFill>
            <a:srgbClr val="F2B705"/>
          </a:solidFill>
          <a:ln w="6350">
            <a:solidFill>
              <a:srgbClr val="DC8F14"/>
            </a:solidFill>
          </a:ln>
        </p:spPr>
        <p:txBody>
          <a:bodyPr lIns="45719" rIns="45719"/>
          <a:lstStyle/>
          <a:p>
            <a:pPr/>
          </a:p>
        </p:txBody>
      </p:sp>
      <p:sp>
        <p:nvSpPr>
          <p:cNvPr id="45" name="Shape 17"/>
          <p:cNvSpPr/>
          <p:nvPr/>
        </p:nvSpPr>
        <p:spPr>
          <a:xfrm>
            <a:off x="9372600" y="2331720"/>
            <a:ext cx="1554481" cy="1554481"/>
          </a:xfrm>
          <a:prstGeom prst="ellipse">
            <a:avLst/>
          </a:prstGeom>
          <a:solidFill>
            <a:srgbClr val="5C3D23"/>
          </a:solidFill>
          <a:ln w="12700">
            <a:solidFill>
              <a:srgbClr val="5C3D23"/>
            </a:solidFill>
          </a:ln>
        </p:spPr>
        <p:txBody>
          <a:bodyPr lIns="45719" rIns="45719"/>
          <a:lstStyle/>
          <a:p>
            <a:pPr/>
          </a:p>
        </p:txBody>
      </p:sp>
      <p:sp>
        <p:nvSpPr>
          <p:cNvPr id="46" name="Text 18"/>
          <p:cNvSpPr txBox="1"/>
          <p:nvPr/>
        </p:nvSpPr>
        <p:spPr>
          <a:xfrm>
            <a:off x="731519" y="1196779"/>
            <a:ext cx="6949442"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1300">
                <a:solidFill>
                  <a:srgbClr val="DC8F14"/>
                </a:solidFill>
              </a:defRPr>
            </a:lvl1pPr>
          </a:lstStyle>
          <a:p>
            <a:pPr/>
            <a:r>
              <a:t>CNH DATA COLLECTION PROJECT</a:t>
            </a:r>
          </a:p>
        </p:txBody>
      </p:sp>
      <p:sp>
        <p:nvSpPr>
          <p:cNvPr id="47" name="Text 19"/>
          <p:cNvSpPr txBox="1"/>
          <p:nvPr/>
        </p:nvSpPr>
        <p:spPr>
          <a:xfrm>
            <a:off x="731520" y="1554480"/>
            <a:ext cx="7132319" cy="1193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4000">
                <a:solidFill>
                  <a:srgbClr val="2D5B3F"/>
                </a:solidFill>
                <a:latin typeface="Cambria"/>
                <a:ea typeface="Cambria"/>
                <a:cs typeface="Cambria"/>
                <a:sym typeface="Cambria"/>
              </a:defRPr>
            </a:lvl1pPr>
          </a:lstStyle>
          <a:p>
            <a:pPr/>
            <a:r>
              <a:t>From sunflower seeds to a weight estimate</a:t>
            </a:r>
          </a:p>
        </p:txBody>
      </p:sp>
      <p:sp>
        <p:nvSpPr>
          <p:cNvPr id="48" name="Text 20"/>
          <p:cNvSpPr txBox="1"/>
          <p:nvPr/>
        </p:nvSpPr>
        <p:spPr>
          <a:xfrm>
            <a:off x="731519" y="3482166"/>
            <a:ext cx="6949442" cy="53374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253027"/>
                </a:solidFill>
              </a:defRPr>
            </a:lvl1pPr>
          </a:lstStyle>
          <a:p>
            <a:pPr/>
            <a:r>
              <a:t>One photo gives the weight within ±8.7 % (95 % range). Tested by a second person: 9 of 9 new piles inside the range.</a:t>
            </a:r>
          </a:p>
        </p:txBody>
      </p:sp>
      <p:sp>
        <p:nvSpPr>
          <p:cNvPr id="49" name="Text 21"/>
          <p:cNvSpPr txBox="1"/>
          <p:nvPr/>
        </p:nvSpPr>
        <p:spPr>
          <a:xfrm>
            <a:off x="731519" y="5208840"/>
            <a:ext cx="694944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687063"/>
                </a:solidFill>
              </a:defRPr>
            </a:lvl1pPr>
          </a:lstStyle>
          <a:p>
            <a:pPr/>
            <a:r>
              <a:t>Hadi Nasooti (R0650483) and Chunhui Jia (R1134557)  |  KU Leuven  |  26 October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8"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Method: one procedure, one model</a:t>
            </a:r>
          </a:p>
        </p:txBody>
      </p:sp>
      <p:sp>
        <p:nvSpPr>
          <p:cNvPr id="69"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METHOD</a:t>
            </a:r>
          </a:p>
        </p:txBody>
      </p:sp>
      <p:sp>
        <p:nvSpPr>
          <p:cNvPr id="70" name="Shape 2"/>
          <p:cNvSpPr/>
          <p:nvPr/>
        </p:nvSpPr>
        <p:spPr>
          <a:xfrm>
            <a:off x="548640" y="1371600"/>
            <a:ext cx="2103121" cy="1600200"/>
          </a:xfrm>
          <a:prstGeom prst="roundRect">
            <a:avLst>
              <a:gd name="adj" fmla="val 6857"/>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71" name="Text 3"/>
          <p:cNvSpPr txBox="1"/>
          <p:nvPr/>
        </p:nvSpPr>
        <p:spPr>
          <a:xfrm>
            <a:off x="713232" y="1481327"/>
            <a:ext cx="1773935" cy="10021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700">
                <a:solidFill>
                  <a:srgbClr val="2D5B3F"/>
                </a:solidFill>
              </a:defRPr>
            </a:pPr>
            <a:r>
              <a:t>1  Weigh</a:t>
            </a:r>
          </a:p>
          <a:p>
            <a:pPr>
              <a:defRPr b="1" sz="1700">
                <a:solidFill>
                  <a:srgbClr val="2D5B3F"/>
                </a:solidFill>
              </a:defRPr>
            </a:pPr>
          </a:p>
          <a:p>
            <a:pPr>
              <a:spcBef>
                <a:spcPts val="400"/>
              </a:spcBef>
              <a:defRPr sz="1400">
                <a:solidFill>
                  <a:srgbClr val="253027"/>
                </a:solidFill>
              </a:defRPr>
            </a:pPr>
            <a:r>
              <a:t>TARE, then scoop the seeds; write the weight</a:t>
            </a:r>
          </a:p>
        </p:txBody>
      </p:sp>
      <p:sp>
        <p:nvSpPr>
          <p:cNvPr id="72" name="Shape 4"/>
          <p:cNvSpPr/>
          <p:nvPr/>
        </p:nvSpPr>
        <p:spPr>
          <a:xfrm>
            <a:off x="2834639" y="1371600"/>
            <a:ext cx="2103122" cy="1600200"/>
          </a:xfrm>
          <a:prstGeom prst="roundRect">
            <a:avLst>
              <a:gd name="adj" fmla="val 6857"/>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73" name="Text 5"/>
          <p:cNvSpPr txBox="1"/>
          <p:nvPr/>
        </p:nvSpPr>
        <p:spPr>
          <a:xfrm>
            <a:off x="2999232" y="1481327"/>
            <a:ext cx="1773935" cy="12815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700">
                <a:solidFill>
                  <a:srgbClr val="2D5B3F"/>
                </a:solidFill>
              </a:defRPr>
            </a:pPr>
            <a:r>
              <a:t>2  Spread</a:t>
            </a:r>
          </a:p>
          <a:p>
            <a:pPr>
              <a:spcBef>
                <a:spcPts val="400"/>
              </a:spcBef>
              <a:defRPr sz="1400">
                <a:solidFill>
                  <a:srgbClr val="253027"/>
                </a:solidFill>
              </a:defRPr>
            </a:pPr>
            <a:endParaRPr sz="1700"/>
          </a:p>
          <a:p>
            <a:pPr>
              <a:spcBef>
                <a:spcPts val="400"/>
              </a:spcBef>
              <a:defRPr sz="1400">
                <a:solidFill>
                  <a:srgbClr val="253027"/>
                </a:solidFill>
              </a:defRPr>
            </a:pPr>
            <a:r>
              <a:t>On white background, no seed touches another</a:t>
            </a:r>
          </a:p>
        </p:txBody>
      </p:sp>
      <p:sp>
        <p:nvSpPr>
          <p:cNvPr id="74" name="Shape 6"/>
          <p:cNvSpPr/>
          <p:nvPr/>
        </p:nvSpPr>
        <p:spPr>
          <a:xfrm>
            <a:off x="5120640" y="1371600"/>
            <a:ext cx="2103121" cy="1600200"/>
          </a:xfrm>
          <a:prstGeom prst="roundRect">
            <a:avLst>
              <a:gd name="adj" fmla="val 6857"/>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75" name="Text 7"/>
          <p:cNvSpPr txBox="1"/>
          <p:nvPr/>
        </p:nvSpPr>
        <p:spPr>
          <a:xfrm>
            <a:off x="5285232" y="1481327"/>
            <a:ext cx="1773935" cy="1230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700">
                <a:solidFill>
                  <a:srgbClr val="2D5B3F"/>
                </a:solidFill>
              </a:defRPr>
            </a:pPr>
            <a:r>
              <a:t>3  Markers</a:t>
            </a:r>
          </a:p>
          <a:p>
            <a:pPr>
              <a:defRPr b="1" sz="1700">
                <a:solidFill>
                  <a:srgbClr val="2D5B3F"/>
                </a:solidFill>
              </a:defRPr>
            </a:pPr>
          </a:p>
          <a:p>
            <a:pPr>
              <a:spcBef>
                <a:spcPts val="400"/>
              </a:spcBef>
              <a:defRPr sz="1400">
                <a:solidFill>
                  <a:srgbClr val="253027"/>
                </a:solidFill>
              </a:defRPr>
            </a:pPr>
            <a:r>
              <a:t>Two printed 50 mm squares next to the seeds</a:t>
            </a:r>
          </a:p>
        </p:txBody>
      </p:sp>
      <p:sp>
        <p:nvSpPr>
          <p:cNvPr id="76" name="Shape 8"/>
          <p:cNvSpPr/>
          <p:nvPr/>
        </p:nvSpPr>
        <p:spPr>
          <a:xfrm>
            <a:off x="7406640" y="1371600"/>
            <a:ext cx="2103121" cy="1600200"/>
          </a:xfrm>
          <a:prstGeom prst="roundRect">
            <a:avLst>
              <a:gd name="adj" fmla="val 6857"/>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77" name="Text 9"/>
          <p:cNvSpPr txBox="1"/>
          <p:nvPr/>
        </p:nvSpPr>
        <p:spPr>
          <a:xfrm>
            <a:off x="7571231" y="1481327"/>
            <a:ext cx="1773936" cy="1230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700">
                <a:solidFill>
                  <a:srgbClr val="2D5B3F"/>
                </a:solidFill>
              </a:defRPr>
            </a:pPr>
            <a:r>
              <a:t>4  Photo</a:t>
            </a:r>
          </a:p>
          <a:p>
            <a:pPr>
              <a:defRPr b="1" sz="1700">
                <a:solidFill>
                  <a:srgbClr val="2D5B3F"/>
                </a:solidFill>
              </a:defRPr>
            </a:pPr>
          </a:p>
          <a:p>
            <a:pPr>
              <a:spcBef>
                <a:spcPts val="400"/>
              </a:spcBef>
              <a:defRPr sz="1400">
                <a:solidFill>
                  <a:srgbClr val="253027"/>
                </a:solidFill>
              </a:defRPr>
            </a:pPr>
            <a:r>
              <a:t>Straight down, any height, never crop, 2 photos</a:t>
            </a:r>
          </a:p>
        </p:txBody>
      </p:sp>
      <p:sp>
        <p:nvSpPr>
          <p:cNvPr id="78" name="Shape 10"/>
          <p:cNvSpPr/>
          <p:nvPr/>
        </p:nvSpPr>
        <p:spPr>
          <a:xfrm>
            <a:off x="9692640" y="1371600"/>
            <a:ext cx="2103121" cy="1600200"/>
          </a:xfrm>
          <a:prstGeom prst="roundRect">
            <a:avLst>
              <a:gd name="adj" fmla="val 6857"/>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79" name="Text 11"/>
          <p:cNvSpPr txBox="1"/>
          <p:nvPr/>
        </p:nvSpPr>
        <p:spPr>
          <a:xfrm>
            <a:off x="9857231" y="1481327"/>
            <a:ext cx="1773936" cy="10021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700">
                <a:solidFill>
                  <a:srgbClr val="2D5B3F"/>
                </a:solidFill>
              </a:defRPr>
            </a:pPr>
            <a:r>
              <a:t>5  Weigh again</a:t>
            </a:r>
          </a:p>
          <a:p>
            <a:pPr>
              <a:defRPr b="1" sz="1700">
                <a:solidFill>
                  <a:srgbClr val="2D5B3F"/>
                </a:solidFill>
              </a:defRPr>
            </a:pPr>
          </a:p>
          <a:p>
            <a:pPr>
              <a:spcBef>
                <a:spcPts val="400"/>
              </a:spcBef>
              <a:defRPr sz="1400">
                <a:solidFill>
                  <a:srgbClr val="253027"/>
                </a:solidFill>
              </a:defRPr>
            </a:pPr>
            <a:r>
              <a:t>TARE, all seeds back; this weight is used</a:t>
            </a:r>
          </a:p>
        </p:txBody>
      </p:sp>
      <p:sp>
        <p:nvSpPr>
          <p:cNvPr id="80" name="Shape 12"/>
          <p:cNvSpPr/>
          <p:nvPr/>
        </p:nvSpPr>
        <p:spPr>
          <a:xfrm>
            <a:off x="548640" y="3516591"/>
            <a:ext cx="5486401" cy="2444790"/>
          </a:xfrm>
          <a:prstGeom prst="roundRect">
            <a:avLst>
              <a:gd name="adj" fmla="val 4488"/>
            </a:avLst>
          </a:prstGeom>
          <a:solidFill>
            <a:srgbClr val="FFFFFF"/>
          </a:solidFill>
          <a:ln>
            <a:solidFill>
              <a:srgbClr val="E6E1D3"/>
            </a:solidFill>
          </a:ln>
          <a:effectLst>
            <a:outerShdw sx="100000" sy="100000" kx="0" ky="0" algn="b" rotWithShape="0" blurRad="50800" dist="19050" dir="5400000">
              <a:srgbClr val="000000">
                <a:alpha val="8000"/>
              </a:srgbClr>
            </a:outerShdw>
          </a:effectLst>
        </p:spPr>
        <p:txBody>
          <a:bodyPr lIns="45719" rIns="45719"/>
          <a:lstStyle/>
          <a:p>
            <a:pPr/>
          </a:p>
        </p:txBody>
      </p:sp>
      <p:sp>
        <p:nvSpPr>
          <p:cNvPr id="81" name="Text 13"/>
          <p:cNvSpPr txBox="1"/>
          <p:nvPr/>
        </p:nvSpPr>
        <p:spPr>
          <a:xfrm>
            <a:off x="698195" y="3660120"/>
            <a:ext cx="5187290" cy="215773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Data</a:t>
            </a:r>
          </a:p>
          <a:p>
            <a:pPr>
              <a:spcBef>
                <a:spcPts val="400"/>
              </a:spcBef>
              <a:defRPr sz="1400">
                <a:solidFill>
                  <a:srgbClr val="253027"/>
                </a:solidFill>
              </a:defRPr>
            </a:pPr>
            <a:r>
              <a:rPr sz="1600"/>
              <a:t>・17 piles of 10 to 34 g, all weighed; 59 photos.</a:t>
            </a:r>
            <a:endParaRPr sz="1600"/>
          </a:p>
          <a:p>
            <a:pPr>
              <a:spcBef>
                <a:spcPts val="200"/>
              </a:spcBef>
              <a:defRPr sz="1400">
                <a:solidFill>
                  <a:srgbClr val="253027"/>
                </a:solidFill>
              </a:defRPr>
            </a:pPr>
            <a:r>
              <a:rPr sz="1600"/>
              <a:t>・2 persons, 2 phones (iPhone 14 and 15 Pro), 4 sessions.</a:t>
            </a:r>
            <a:endParaRPr sz="1600"/>
          </a:p>
          <a:p>
            <a:pPr>
              <a:spcBef>
                <a:spcPts val="200"/>
              </a:spcBef>
              <a:defRPr sz="1400">
                <a:solidFill>
                  <a:srgbClr val="253027"/>
                </a:solidFill>
              </a:defRPr>
            </a:pPr>
            <a:r>
              <a:rPr sz="1600"/>
              <a:t>・Hadi's 8 piles built the first model; Jia's 9 new piles tested it (task 4); then all 17 were pooled.</a:t>
            </a:r>
            <a:endParaRPr sz="1600"/>
          </a:p>
        </p:txBody>
      </p:sp>
      <p:sp>
        <p:nvSpPr>
          <p:cNvPr id="82" name="Shape 14"/>
          <p:cNvSpPr/>
          <p:nvPr/>
        </p:nvSpPr>
        <p:spPr>
          <a:xfrm>
            <a:off x="6263640" y="3516591"/>
            <a:ext cx="5394960" cy="2444790"/>
          </a:xfrm>
          <a:prstGeom prst="roundRect">
            <a:avLst>
              <a:gd name="adj" fmla="val 4488"/>
            </a:avLst>
          </a:prstGeom>
          <a:solidFill>
            <a:srgbClr val="FBE3D6"/>
          </a:solidFill>
          <a:ln>
            <a:solidFill>
              <a:srgbClr val="FBE3D6"/>
            </a:solidFill>
          </a:ln>
          <a:effectLst>
            <a:outerShdw sx="100000" sy="100000" kx="0" ky="0" algn="b" rotWithShape="0" blurRad="50800" dist="19050" dir="5400000">
              <a:srgbClr val="000000">
                <a:alpha val="8000"/>
              </a:srgbClr>
            </a:outerShdw>
          </a:effectLst>
        </p:spPr>
        <p:txBody>
          <a:bodyPr lIns="45719" rIns="45719"/>
          <a:lstStyle/>
          <a:p>
            <a:pPr/>
          </a:p>
        </p:txBody>
      </p:sp>
      <p:sp>
        <p:nvSpPr>
          <p:cNvPr id="83" name="Text 15"/>
          <p:cNvSpPr txBox="1"/>
          <p:nvPr/>
        </p:nvSpPr>
        <p:spPr>
          <a:xfrm>
            <a:off x="6428232" y="3676926"/>
            <a:ext cx="5065777" cy="1230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Model (task 2)</a:t>
            </a:r>
          </a:p>
          <a:p>
            <a:pPr>
              <a:spcBef>
                <a:spcPts val="400"/>
              </a:spcBef>
              <a:defRPr sz="1400">
                <a:solidFill>
                  <a:srgbClr val="253027"/>
                </a:solidFill>
              </a:defRPr>
            </a:pPr>
            <a:r>
              <a:t>weight = seeds counted x 0.05336 g per seed (17 piles).</a:t>
            </a:r>
            <a:endParaRPr sz="1600"/>
          </a:p>
          <a:p>
            <a:pPr>
              <a:spcBef>
                <a:spcPts val="200"/>
              </a:spcBef>
              <a:defRPr sz="1400">
                <a:solidFill>
                  <a:srgbClr val="253027"/>
                </a:solidFill>
              </a:defRPr>
            </a:pPr>
            <a:r>
              <a:t>The count follows the weight best: r = 0.994 on Jia's photos (total box area 0.988).</a:t>
            </a:r>
            <a:endParaRPr sz="1600"/>
          </a:p>
          <a:p>
            <a:pPr>
              <a:spcBef>
                <a:spcPts val="200"/>
              </a:spcBef>
              <a:defRPr sz="1400">
                <a:solidFill>
                  <a:srgbClr val="253027"/>
                </a:solidFill>
              </a:defRPr>
            </a:pPr>
            <a:r>
              <a:t>Only "sunflower" boxes count, so writing and sticky notes are ignored.</a:t>
            </a:r>
          </a:p>
        </p:txBody>
      </p:sp>
      <p:sp>
        <p:nvSpPr>
          <p:cNvPr id="84"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Biggest pitfall: the photo scale</a:t>
            </a:r>
          </a:p>
        </p:txBody>
      </p:sp>
      <p:sp>
        <p:nvSpPr>
          <p:cNvPr id="129"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PITFALL 1</a:t>
            </a:r>
          </a:p>
        </p:txBody>
      </p:sp>
      <p:sp>
        <p:nvSpPr>
          <p:cNvPr id="130" name="Shape 2"/>
          <p:cNvSpPr/>
          <p:nvPr/>
        </p:nvSpPr>
        <p:spPr>
          <a:xfrm>
            <a:off x="7772400" y="1234439"/>
            <a:ext cx="3886200" cy="2148841"/>
          </a:xfrm>
          <a:prstGeom prst="roundRect">
            <a:avLst>
              <a:gd name="adj" fmla="val 5106"/>
            </a:avLst>
          </a:prstGeom>
          <a:solidFill>
            <a:srgbClr val="FBE3D6"/>
          </a:solidFill>
          <a:ln>
            <a:solidFill>
              <a:srgbClr val="FBE3D6"/>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31" name="Text 3"/>
          <p:cNvSpPr txBox="1"/>
          <p:nvPr/>
        </p:nvSpPr>
        <p:spPr>
          <a:xfrm>
            <a:off x="7936992" y="1344167"/>
            <a:ext cx="3557016" cy="11799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Without the fixed scale</a:t>
            </a:r>
          </a:p>
          <a:p>
            <a:pPr>
              <a:spcBef>
                <a:spcPts val="400"/>
              </a:spcBef>
              <a:defRPr sz="1400">
                <a:solidFill>
                  <a:srgbClr val="253027"/>
                </a:solidFill>
              </a:defRPr>
            </a:pPr>
            <a:r>
              <a:t>112 to 292 seeds on the same pile (spread 18.6 %). A higher photo or a phone with fewer pixels makes seeds smaller, and the detector misses them.</a:t>
            </a:r>
          </a:p>
        </p:txBody>
      </p:sp>
      <p:sp>
        <p:nvSpPr>
          <p:cNvPr id="132" name="Shape 4"/>
          <p:cNvSpPr/>
          <p:nvPr/>
        </p:nvSpPr>
        <p:spPr>
          <a:xfrm>
            <a:off x="7772400" y="3566159"/>
            <a:ext cx="3886200" cy="2606041"/>
          </a:xfrm>
          <a:prstGeom prst="roundRect">
            <a:avLst>
              <a:gd name="adj" fmla="val 4211"/>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33" name="Text 5"/>
          <p:cNvSpPr txBox="1"/>
          <p:nvPr/>
        </p:nvSpPr>
        <p:spPr>
          <a:xfrm>
            <a:off x="7936992" y="3675888"/>
            <a:ext cx="3557016" cy="11799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With the fixed scale (built into the app)</a:t>
            </a:r>
          </a:p>
          <a:p>
            <a:pPr>
              <a:spcBef>
                <a:spcPts val="400"/>
              </a:spcBef>
              <a:defRPr sz="1400">
                <a:solidFill>
                  <a:srgbClr val="253027"/>
                </a:solidFill>
              </a:defRPr>
            </a:pPr>
            <a:r>
              <a:t>283 to 298 seeds (spread 1.2 %). Two 50 mm markers give mm per pixel; every photo is resized to 0.110 mm per pixel before counting.</a:t>
            </a:r>
          </a:p>
          <a:p>
            <a:pPr>
              <a:spcBef>
                <a:spcPts val="400"/>
              </a:spcBef>
              <a:defRPr sz="1400">
                <a:solidFill>
                  <a:srgbClr val="253027"/>
                </a:solidFill>
              </a:defRPr>
            </a:pPr>
            <a:r>
              <a:t>Gauge R&amp;R (does person, phone or height change the count?): person 0.0 %, phone +0.3 %, height 0.0 %; all 95 % CIs within ±1.7 %.</a:t>
            </a:r>
          </a:p>
        </p:txBody>
      </p:sp>
      <p:sp>
        <p:nvSpPr>
          <p:cNvPr id="134"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graphicFrame>
        <p:nvGraphicFramePr>
          <p:cNvPr id="135" name="Chart 134"/>
          <p:cNvGraphicFramePr>
            <a:graphicFrameLocks noGrp="1"/>
          </p:cNvGraphicFramePr>
          <p:nvPr/>
        </p:nvGraphicFramePr>
        <p:xfrm>
          <a:off x="548640" y="1234440"/>
          <a:ext cx="6949440" cy="4937760"/>
        </p:xfrm>
        <a:graphic>
          <a:graphicData uri="http://schemas.openxmlformats.org/drawingml/2006/chart">
            <c:chart xmlns:c="http://schemas.openxmlformats.org/drawingml/2006/chart" r:id="rId2"/>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9"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How accurate is it? (tasks 3 and 4)</a:t>
            </a:r>
          </a:p>
        </p:txBody>
      </p:sp>
      <p:sp>
        <p:nvSpPr>
          <p:cNvPr id="180"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ACCURACY</a:t>
            </a:r>
          </a:p>
        </p:txBody>
      </p:sp>
      <p:sp>
        <p:nvSpPr>
          <p:cNvPr id="182" name="Shape 3"/>
          <p:cNvSpPr/>
          <p:nvPr/>
        </p:nvSpPr>
        <p:spPr>
          <a:xfrm>
            <a:off x="7406640" y="1234439"/>
            <a:ext cx="4251960" cy="2377441"/>
          </a:xfrm>
          <a:prstGeom prst="roundRect">
            <a:avLst>
              <a:gd name="adj" fmla="val 4615"/>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83" name="Text 4"/>
          <p:cNvSpPr txBox="1"/>
          <p:nvPr/>
        </p:nvSpPr>
        <p:spPr>
          <a:xfrm>
            <a:off x="7571231" y="1344167"/>
            <a:ext cx="3922777" cy="1230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One photo: ±8.7 %</a:t>
            </a:r>
          </a:p>
          <a:p>
            <a:pPr>
              <a:spcBef>
                <a:spcPts val="400"/>
              </a:spcBef>
              <a:defRPr sz="1400">
                <a:solidFill>
                  <a:srgbClr val="253027"/>
                </a:solidFill>
              </a:defRPr>
            </a:pPr>
            <a:r>
              <a:t>range = t x s x sqrt(1 + 1/n)</a:t>
            </a:r>
            <a:endParaRPr sz="1600"/>
          </a:p>
          <a:p>
            <a:pPr>
              <a:spcBef>
                <a:spcPts val="200"/>
              </a:spcBef>
              <a:defRPr sz="1400">
                <a:solidFill>
                  <a:srgbClr val="253027"/>
                </a:solidFill>
              </a:defRPr>
            </a:pPr>
            <a:r>
              <a:t>= 2.12 x 3.99 % x 1.03</a:t>
            </a:r>
            <a:endParaRPr sz="1600"/>
          </a:p>
          <a:p>
            <a:pPr>
              <a:spcBef>
                <a:spcPts val="200"/>
              </a:spcBef>
              <a:defRPr sz="1400">
                <a:solidFill>
                  <a:srgbClr val="253027"/>
                </a:solidFill>
              </a:defRPr>
            </a:pPr>
            <a:r>
              <a:t>s = spread between 17 piles. 19 of 20 true weights should fall inside.</a:t>
            </a:r>
          </a:p>
        </p:txBody>
      </p:sp>
      <p:sp>
        <p:nvSpPr>
          <p:cNvPr id="184" name="Shape 5"/>
          <p:cNvSpPr/>
          <p:nvPr/>
        </p:nvSpPr>
        <p:spPr>
          <a:xfrm>
            <a:off x="7406640" y="3794759"/>
            <a:ext cx="4251960" cy="2377441"/>
          </a:xfrm>
          <a:prstGeom prst="roundRect">
            <a:avLst>
              <a:gd name="adj" fmla="val 4615"/>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85" name="Text 6"/>
          <p:cNvSpPr txBox="1"/>
          <p:nvPr/>
        </p:nvSpPr>
        <p:spPr>
          <a:xfrm>
            <a:off x="7571231" y="3904488"/>
            <a:ext cx="3922777" cy="976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Tested and priced</a:t>
            </a:r>
          </a:p>
          <a:p>
            <a:pPr>
              <a:spcBef>
                <a:spcPts val="400"/>
              </a:spcBef>
              <a:defRPr sz="1400">
                <a:solidFill>
                  <a:srgbClr val="253027"/>
                </a:solidFill>
              </a:defRPr>
            </a:pPr>
            <a:r>
              <a:t>Jia's 9 new piles: 9 of 9 inside the ±10 % range of Hadi's 8-pile model, average error -1.4 %. Then all 17 piles were pooled: ±8.7 %.</a:t>
            </a:r>
            <a:endParaRPr sz="1600"/>
          </a:p>
          <a:p>
            <a:pPr>
              <a:spcBef>
                <a:spcPts val="200"/>
              </a:spcBef>
              <a:defRPr sz="1400">
                <a:solidFill>
                  <a:srgbClr val="253027"/>
                </a:solidFill>
              </a:defRPr>
            </a:pPr>
            <a:r>
              <a:t>Stop rule: from 10 piles on, one more pile narrows the range by less than 0.2 points (0.1 point costs 5.64 euro or more).</a:t>
            </a:r>
          </a:p>
        </p:txBody>
      </p:sp>
      <p:sp>
        <p:nvSpPr>
          <p:cNvPr id="186"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graphicFrame>
        <p:nvGraphicFramePr>
          <p:cNvPr id="187" name="Chart 186"/>
          <p:cNvGraphicFramePr>
            <a:graphicFrameLocks noGrp="1"/>
          </p:cNvGraphicFramePr>
          <p:nvPr/>
        </p:nvGraphicFramePr>
        <p:xfrm>
          <a:off x="548640" y="1188720"/>
          <a:ext cx="6583680" cy="2331720"/>
        </p:xfrm>
        <a:graphic>
          <a:graphicData uri="http://schemas.openxmlformats.org/drawingml/2006/chart">
            <c:chart xmlns:c="http://schemas.openxmlformats.org/drawingml/2006/chart" r:id="rId2"/>
          </a:graphicData>
        </a:graphic>
      </p:graphicFrame>
      <p:graphicFrame>
        <p:nvGraphicFramePr>
          <p:cNvPr id="188" name="Chart 187"/>
          <p:cNvGraphicFramePr>
            <a:graphicFrameLocks noGrp="1"/>
          </p:cNvGraphicFramePr>
          <p:nvPr/>
        </p:nvGraphicFramePr>
        <p:xfrm>
          <a:off x="548640" y="3657600"/>
          <a:ext cx="6583680" cy="2606040"/>
        </p:xfrm>
        <a:graphic>
          <a:graphicData uri="http://schemas.openxmlformats.org/drawingml/2006/chart">
            <c:chart xmlns:c="http://schemas.openxmlformats.org/drawingml/2006/chart" r:id="rId3"/>
          </a:graphicData>
        </a:graphic>
      </p:graphicFrame>
      <p:cxnSp>
        <p:nvCxnSpPr>
          <p:cNvPr id="189" name="Connector 188"/>
          <p:cNvCxnSpPr/>
          <p:nvPr/>
        </p:nvCxnSpPr>
        <p:spPr>
          <a:xfrm>
            <a:off x="1075334" y="4248302"/>
            <a:ext cx="5925312" cy="0"/>
          </a:xfrm>
          <a:prstGeom prst="line">
            <a:avLst/>
          </a:prstGeom>
          <a:ln w="22225">
            <a:solidFill>
              <a:srgbClr val="DC8F14"/>
            </a:solidFill>
            <a:prstDash val="dash"/>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a:off x="1075334" y="5725058"/>
            <a:ext cx="5925312" cy="0"/>
          </a:xfrm>
          <a:prstGeom prst="line">
            <a:avLst/>
          </a:prstGeom>
          <a:ln w="22225">
            <a:solidFill>
              <a:srgbClr val="DC8F14"/>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2"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What is new: the app tells the user what to fix</a:t>
            </a:r>
          </a:p>
        </p:txBody>
      </p:sp>
      <p:sp>
        <p:nvSpPr>
          <p:cNvPr id="203"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NEW</a:t>
            </a:r>
          </a:p>
        </p:txBody>
      </p:sp>
      <p:sp>
        <p:nvSpPr>
          <p:cNvPr id="204" name="Shape 2"/>
          <p:cNvSpPr/>
          <p:nvPr/>
        </p:nvSpPr>
        <p:spPr>
          <a:xfrm>
            <a:off x="548640" y="1234439"/>
            <a:ext cx="4206241" cy="3246122"/>
          </a:xfrm>
          <a:prstGeom prst="roundRect">
            <a:avLst>
              <a:gd name="adj" fmla="val 3380"/>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205" name="Text 3"/>
          <p:cNvSpPr txBox="1"/>
          <p:nvPr/>
        </p:nvSpPr>
        <p:spPr>
          <a:xfrm>
            <a:off x="713231" y="1344167"/>
            <a:ext cx="3877057" cy="1967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One light, one sentence</a:t>
            </a:r>
          </a:p>
          <a:p>
            <a:pPr>
              <a:spcBef>
                <a:spcPts val="400"/>
              </a:spcBef>
              <a:defRPr sz="1400">
                <a:solidFill>
                  <a:srgbClr val="253027"/>
                </a:solidFill>
              </a:defRPr>
            </a:pPr>
            <a:r>
              <a:t>Green: go. Orange: the number may be off, and the sentence says what to change. Red: no weight.</a:t>
            </a:r>
            <a:endParaRPr sz="1600"/>
          </a:p>
          <a:p>
            <a:pPr>
              <a:spcBef>
                <a:spcPts val="200"/>
              </a:spcBef>
              <a:defRPr sz="1400">
                <a:solidFill>
                  <a:srgbClr val="253027"/>
                </a:solidFill>
              </a:defRPr>
            </a:pPr>
            <a:r>
              <a:t>Checked on all 59 photos: the 53 normal photos green, the 6 known problem photos orange.</a:t>
            </a:r>
            <a:endParaRPr sz="1600"/>
          </a:p>
        </p:txBody>
      </p:sp>
      <p:sp>
        <p:nvSpPr>
          <p:cNvPr id="206" name="Shape 4"/>
          <p:cNvSpPr/>
          <p:nvPr/>
        </p:nvSpPr>
        <p:spPr>
          <a:xfrm>
            <a:off x="548640" y="4663440"/>
            <a:ext cx="4206241" cy="1600201"/>
          </a:xfrm>
          <a:prstGeom prst="roundRect">
            <a:avLst>
              <a:gd name="adj" fmla="val 6857"/>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207" name="Text 5"/>
          <p:cNvSpPr txBox="1"/>
          <p:nvPr/>
        </p:nvSpPr>
        <p:spPr>
          <a:xfrm>
            <a:off x="713231" y="4773167"/>
            <a:ext cx="3877057" cy="8525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2D5B3F"/>
                </a:solidFill>
              </a:defRPr>
            </a:pPr>
            <a:r>
              <a:t>No marker? The seeds are the ruler</a:t>
            </a:r>
          </a:p>
          <a:p>
            <a:pPr>
              <a:spcBef>
                <a:spcPts val="400"/>
              </a:spcBef>
              <a:defRPr sz="1300">
                <a:solidFill>
                  <a:srgbClr val="253027"/>
                </a:solidFill>
              </a:defRPr>
            </a:pPr>
            <a:r>
              <a:t>Typical seed length (11.25 mm) / median box length = mm per pixel. Count error -0.9 % on average; range ±9.3 % (marker ±8.7 %).</a:t>
            </a:r>
          </a:p>
        </p:txBody>
      </p:sp>
      <p:sp>
        <p:nvSpPr>
          <p:cNvPr id="208" name="Shape 6"/>
          <p:cNvSpPr/>
          <p:nvPr/>
        </p:nvSpPr>
        <p:spPr>
          <a:xfrm>
            <a:off x="5029200" y="1234439"/>
            <a:ext cx="6629400" cy="1078993"/>
          </a:xfrm>
          <a:prstGeom prst="roundRect">
            <a:avLst>
              <a:gd name="adj" fmla="val 10169"/>
            </a:avLst>
          </a:prstGeom>
          <a:solidFill>
            <a:srgbClr val="FFFFFF"/>
          </a:solidFill>
          <a:ln>
            <a:solidFill>
              <a:srgbClr val="E6E1D3"/>
            </a:solidFill>
          </a:ln>
        </p:spPr>
        <p:txBody>
          <a:bodyPr lIns="45719" rIns="45719"/>
          <a:lstStyle/>
          <a:p>
            <a:pPr/>
          </a:p>
        </p:txBody>
      </p:sp>
      <p:sp>
        <p:nvSpPr>
          <p:cNvPr id="209" name="Shape 7"/>
          <p:cNvSpPr/>
          <p:nvPr/>
        </p:nvSpPr>
        <p:spPr>
          <a:xfrm>
            <a:off x="5212079" y="1563624"/>
            <a:ext cx="457201" cy="457201"/>
          </a:xfrm>
          <a:prstGeom prst="ellipse">
            <a:avLst/>
          </a:prstGeom>
          <a:solidFill>
            <a:srgbClr val="2E8B57"/>
          </a:solidFill>
          <a:ln w="12700">
            <a:solidFill>
              <a:srgbClr val="2E8B57"/>
            </a:solidFill>
          </a:ln>
        </p:spPr>
        <p:txBody>
          <a:bodyPr lIns="45719" rIns="45719"/>
          <a:lstStyle/>
          <a:p>
            <a:pPr/>
          </a:p>
        </p:txBody>
      </p:sp>
      <p:sp>
        <p:nvSpPr>
          <p:cNvPr id="210" name="Text 8"/>
          <p:cNvSpPr txBox="1"/>
          <p:nvPr/>
        </p:nvSpPr>
        <p:spPr>
          <a:xfrm>
            <a:off x="5852159" y="1581842"/>
            <a:ext cx="5669281" cy="4207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253027"/>
                </a:solidFill>
              </a:defRPr>
            </a:pPr>
            <a:r>
              <a:t>12.1 g (11.0 to 13.1 g)   </a:t>
            </a:r>
            <a:r>
              <a:rPr b="0" sz="1200">
                <a:solidFill>
                  <a:srgbClr val="687063"/>
                </a:solidFill>
              </a:rPr>
              <a:t>Green</a:t>
            </a:r>
          </a:p>
          <a:p>
            <a:pPr>
              <a:defRPr sz="1300">
                <a:solidFill>
                  <a:srgbClr val="253027"/>
                </a:solidFill>
              </a:defRPr>
            </a:pPr>
            <a:r>
              <a:t>Good photo.   Real weight: 12 g.</a:t>
            </a:r>
          </a:p>
        </p:txBody>
      </p:sp>
      <p:sp>
        <p:nvSpPr>
          <p:cNvPr id="211" name="Shape 9"/>
          <p:cNvSpPr/>
          <p:nvPr/>
        </p:nvSpPr>
        <p:spPr>
          <a:xfrm>
            <a:off x="5029200" y="2423160"/>
            <a:ext cx="6629400" cy="1078993"/>
          </a:xfrm>
          <a:prstGeom prst="roundRect">
            <a:avLst>
              <a:gd name="adj" fmla="val 10169"/>
            </a:avLst>
          </a:prstGeom>
          <a:solidFill>
            <a:srgbClr val="FFFFFF"/>
          </a:solidFill>
          <a:ln>
            <a:solidFill>
              <a:srgbClr val="E6E1D3"/>
            </a:solidFill>
          </a:ln>
        </p:spPr>
        <p:txBody>
          <a:bodyPr lIns="45719" rIns="45719"/>
          <a:lstStyle/>
          <a:p>
            <a:pPr/>
          </a:p>
        </p:txBody>
      </p:sp>
      <p:sp>
        <p:nvSpPr>
          <p:cNvPr id="212" name="Shape 10"/>
          <p:cNvSpPr/>
          <p:nvPr/>
        </p:nvSpPr>
        <p:spPr>
          <a:xfrm>
            <a:off x="5212079" y="2752344"/>
            <a:ext cx="457201" cy="457201"/>
          </a:xfrm>
          <a:prstGeom prst="ellipse">
            <a:avLst/>
          </a:prstGeom>
          <a:solidFill>
            <a:srgbClr val="DC8F14"/>
          </a:solidFill>
          <a:ln w="12700">
            <a:solidFill>
              <a:srgbClr val="DC8F14"/>
            </a:solidFill>
          </a:ln>
        </p:spPr>
        <p:txBody>
          <a:bodyPr lIns="45719" rIns="45719"/>
          <a:lstStyle/>
          <a:p>
            <a:pPr/>
          </a:p>
        </p:txBody>
      </p:sp>
      <p:sp>
        <p:nvSpPr>
          <p:cNvPr id="213" name="Text 11"/>
          <p:cNvSpPr txBox="1"/>
          <p:nvPr/>
        </p:nvSpPr>
        <p:spPr>
          <a:xfrm>
            <a:off x="5852159" y="2668963"/>
            <a:ext cx="5669281" cy="6239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253027"/>
                </a:solidFill>
              </a:defRPr>
            </a:pPr>
            <a:r>
              <a:t>11.9 g (10.9 to 12.9 g)   </a:t>
            </a:r>
            <a:r>
              <a:rPr b="0" sz="1200">
                <a:solidFill>
                  <a:srgbClr val="687063"/>
                </a:solidFill>
              </a:rPr>
              <a:t>Orange</a:t>
            </a:r>
          </a:p>
          <a:p>
            <a:pPr>
              <a:defRPr sz="1300">
                <a:solidFill>
                  <a:srgbClr val="253027"/>
                </a:solidFill>
              </a:defRPr>
            </a:pPr>
            <a:r>
              <a:t>Seeds too close together: spread them so that no seed touches another, and take the photo again.   Real weight: 14 g.</a:t>
            </a:r>
          </a:p>
        </p:txBody>
      </p:sp>
      <p:sp>
        <p:nvSpPr>
          <p:cNvPr id="214" name="Shape 12"/>
          <p:cNvSpPr/>
          <p:nvPr/>
        </p:nvSpPr>
        <p:spPr>
          <a:xfrm>
            <a:off x="5029200" y="3611879"/>
            <a:ext cx="6629400" cy="1078993"/>
          </a:xfrm>
          <a:prstGeom prst="roundRect">
            <a:avLst>
              <a:gd name="adj" fmla="val 10169"/>
            </a:avLst>
          </a:prstGeom>
          <a:solidFill>
            <a:srgbClr val="FFFFFF"/>
          </a:solidFill>
          <a:ln>
            <a:solidFill>
              <a:srgbClr val="E6E1D3"/>
            </a:solidFill>
          </a:ln>
        </p:spPr>
        <p:txBody>
          <a:bodyPr lIns="45719" rIns="45719"/>
          <a:lstStyle/>
          <a:p>
            <a:pPr/>
          </a:p>
        </p:txBody>
      </p:sp>
      <p:sp>
        <p:nvSpPr>
          <p:cNvPr id="215" name="Shape 13"/>
          <p:cNvSpPr/>
          <p:nvPr/>
        </p:nvSpPr>
        <p:spPr>
          <a:xfrm>
            <a:off x="5212079" y="3941064"/>
            <a:ext cx="457201" cy="457201"/>
          </a:xfrm>
          <a:prstGeom prst="ellipse">
            <a:avLst/>
          </a:prstGeom>
          <a:solidFill>
            <a:srgbClr val="DC8F14"/>
          </a:solidFill>
          <a:ln w="12700">
            <a:solidFill>
              <a:srgbClr val="DC8F14"/>
            </a:solidFill>
          </a:ln>
        </p:spPr>
        <p:txBody>
          <a:bodyPr lIns="45719" rIns="45719"/>
          <a:lstStyle/>
          <a:p>
            <a:pPr/>
          </a:p>
        </p:txBody>
      </p:sp>
      <p:sp>
        <p:nvSpPr>
          <p:cNvPr id="216" name="Text 14"/>
          <p:cNvSpPr txBox="1"/>
          <p:nvPr/>
        </p:nvSpPr>
        <p:spPr>
          <a:xfrm>
            <a:off x="5852159" y="3857683"/>
            <a:ext cx="5669281" cy="6239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253027"/>
                </a:solidFill>
              </a:defRPr>
            </a:pPr>
            <a:r>
              <a:t>15.8 g (14.3 to 17.3 g)   </a:t>
            </a:r>
            <a:r>
              <a:rPr b="0" sz="1200">
                <a:solidFill>
                  <a:srgbClr val="687063"/>
                </a:solidFill>
              </a:rPr>
              <a:t>Orange</a:t>
            </a:r>
          </a:p>
          <a:p>
            <a:pPr>
              <a:defRPr sz="1300">
                <a:solidFill>
                  <a:srgbClr val="253027"/>
                </a:solidFill>
              </a:defRPr>
            </a:pPr>
            <a:r>
              <a:t>No marker found: the size was estimated from the seeds, so the range is wider. Put the marker sheet fully in the photo for a more precise result.</a:t>
            </a:r>
          </a:p>
        </p:txBody>
      </p:sp>
      <p:sp>
        <p:nvSpPr>
          <p:cNvPr id="217" name="Shape 15"/>
          <p:cNvSpPr/>
          <p:nvPr/>
        </p:nvSpPr>
        <p:spPr>
          <a:xfrm>
            <a:off x="5029200" y="4800600"/>
            <a:ext cx="6629400" cy="1078992"/>
          </a:xfrm>
          <a:prstGeom prst="roundRect">
            <a:avLst>
              <a:gd name="adj" fmla="val 10169"/>
            </a:avLst>
          </a:prstGeom>
          <a:solidFill>
            <a:srgbClr val="FFFFFF"/>
          </a:solidFill>
          <a:ln>
            <a:solidFill>
              <a:srgbClr val="E6E1D3"/>
            </a:solidFill>
          </a:ln>
        </p:spPr>
        <p:txBody>
          <a:bodyPr lIns="45719" rIns="45719"/>
          <a:lstStyle/>
          <a:p>
            <a:pPr/>
          </a:p>
        </p:txBody>
      </p:sp>
      <p:sp>
        <p:nvSpPr>
          <p:cNvPr id="218" name="Shape 16"/>
          <p:cNvSpPr/>
          <p:nvPr/>
        </p:nvSpPr>
        <p:spPr>
          <a:xfrm>
            <a:off x="5212079" y="5129784"/>
            <a:ext cx="457201" cy="457201"/>
          </a:xfrm>
          <a:prstGeom prst="ellipse">
            <a:avLst/>
          </a:prstGeom>
          <a:solidFill>
            <a:srgbClr val="DC8F14"/>
          </a:solidFill>
          <a:ln w="12700">
            <a:noFill/>
          </a:ln>
        </p:spPr>
        <p:txBody>
          <a:bodyPr lIns="45719" rIns="45719"/>
          <a:lstStyle/>
          <a:p>
            <a:pPr/>
          </a:p>
        </p:txBody>
      </p:sp>
      <p:sp>
        <p:nvSpPr>
          <p:cNvPr id="219" name="Text 17"/>
          <p:cNvSpPr txBox="1"/>
          <p:nvPr/>
        </p:nvSpPr>
        <p:spPr>
          <a:xfrm>
            <a:off x="5852159" y="5148003"/>
            <a:ext cx="5669281" cy="4207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253027"/>
                </a:solidFill>
              </a:defRPr>
            </a:pPr>
            <a:r>
              <a:t>41.4 g (37.8 to 44.9 g)   </a:t>
            </a:r>
            <a:r>
              <a:rPr b="0" sz="1200">
                <a:solidFill>
                  <a:srgbClr val="DC8F14"/>
                </a:solidFill>
              </a:rPr>
              <a:t>Orange</a:t>
            </a:r>
          </a:p>
          <a:p>
            <a:pPr>
              <a:defRPr sz="1300">
                <a:solidFill>
                  <a:srgbClr val="253027"/>
                </a:solidFill>
              </a:defRPr>
            </a:pPr>
            <a:r>
              <a:t>P14: seeds touching, 775 seeds (more than tested). Real weight 36 g, +15 %: the warning was right.</a:t>
            </a:r>
          </a:p>
        </p:txBody>
      </p:sp>
      <p:sp>
        <p:nvSpPr>
          <p:cNvPr id="220" name="Text 18"/>
          <p:cNvSpPr txBox="1"/>
          <p:nvPr/>
        </p:nvSpPr>
        <p:spPr>
          <a:xfrm>
            <a:off x="5029200" y="5999656"/>
            <a:ext cx="6629400" cy="2993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100">
                <a:solidFill>
                  <a:srgbClr val="687063"/>
                </a:solidFill>
              </a:defRPr>
            </a:lvl1pPr>
          </a:lstStyle>
          <a:p>
            <a:pPr/>
            <a:r>
              <a:t>All four are real results from the app. The light checks the photo; the range is the accuracy.</a:t>
            </a:r>
          </a:p>
        </p:txBody>
      </p:sp>
      <p:sp>
        <p:nvSpPr>
          <p:cNvPr id="221" name="Slide Number Placeholder 0"/>
          <p:cNvSpPr txBox="1"/>
          <p:nvPr>
            <p:ph type="sldNum" sz="quarter" idx="4294967295"/>
          </p:nvPr>
        </p:nvSpPr>
        <p:spPr>
          <a:xfrm>
            <a:off x="11471443" y="6446520"/>
            <a:ext cx="232877"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1"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Pitfalls we hit, and what is still open</a:t>
            </a:r>
          </a:p>
        </p:txBody>
      </p:sp>
      <p:sp>
        <p:nvSpPr>
          <p:cNvPr id="252"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PITFALLS</a:t>
            </a:r>
          </a:p>
        </p:txBody>
      </p:sp>
      <p:sp>
        <p:nvSpPr>
          <p:cNvPr id="253" name="Slide Number Placeholder 0"/>
          <p:cNvSpPr txBox="1"/>
          <p:nvPr>
            <p:ph type="sldNum" sz="quarter" idx="4294967295"/>
          </p:nvPr>
        </p:nvSpPr>
        <p:spPr>
          <a:xfrm>
            <a:off x="11471443" y="6446520"/>
            <a:ext cx="232877"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
        <p:nvSpPr>
          <p:cNvPr id="254" name="TextBox 25"/>
          <p:cNvSpPr txBox="1"/>
          <p:nvPr/>
        </p:nvSpPr>
        <p:spPr>
          <a:xfrm>
            <a:off x="594359" y="943610"/>
            <a:ext cx="7260337" cy="2524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sz="1400">
                <a:solidFill>
                  <a:srgbClr val="647065"/>
                </a:solidFill>
                <a:latin typeface="Aptos"/>
                <a:ea typeface="Aptos"/>
                <a:cs typeface="Aptos"/>
                <a:sym typeface="Aptos"/>
              </a:defRPr>
            </a:lvl1pPr>
          </a:lstStyle>
          <a:p>
            <a:pPr/>
            <a:r>
              <a:t>Each pitfall became a rule in the procedure or a check in the app</a:t>
            </a:r>
          </a:p>
        </p:txBody>
      </p:sp>
      <p:sp>
        <p:nvSpPr>
          <p:cNvPr id="262" name="Rounded Rectangle 33"/>
          <p:cNvSpPr/>
          <p:nvPr/>
        </p:nvSpPr>
        <p:spPr>
          <a:xfrm>
            <a:off x="548640" y="2212848"/>
            <a:ext cx="3383280" cy="2880361"/>
          </a:xfrm>
          <a:prstGeom prst="roundRect">
            <a:avLst>
              <a:gd name="adj" fmla="val 16667"/>
            </a:avLst>
          </a:prstGeom>
          <a:solidFill>
            <a:srgbClr val="E2EDDC"/>
          </a:solidFill>
          <a:ln w="12700">
            <a:solidFill>
              <a:srgbClr val="E2EDDC"/>
            </a:solidFill>
            <a:miter/>
          </a:ln>
        </p:spPr>
        <p:txBody>
          <a:bodyPr lIns="45719" rIns="45719" anchor="ctr"/>
          <a:lstStyle/>
          <a:p>
            <a:pPr algn="ctr">
              <a:defRPr>
                <a:solidFill>
                  <a:srgbClr val="FFFFFF"/>
                </a:solidFill>
              </a:defRPr>
            </a:pPr>
          </a:p>
        </p:txBody>
      </p:sp>
      <p:sp>
        <p:nvSpPr>
          <p:cNvPr id="263" name="TextBox 34"/>
          <p:cNvSpPr txBox="1"/>
          <p:nvPr/>
        </p:nvSpPr>
        <p:spPr>
          <a:xfrm>
            <a:off x="740663" y="2385567"/>
            <a:ext cx="2999233" cy="239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300">
                <a:solidFill>
                  <a:srgbClr val="306348"/>
                </a:solidFill>
                <a:latin typeface="Aptos"/>
                <a:ea typeface="Aptos"/>
                <a:cs typeface="Aptos"/>
                <a:sym typeface="Aptos"/>
              </a:defRPr>
            </a:lvl1pPr>
          </a:lstStyle>
          <a:p>
            <a:pPr/>
            <a:r>
              <a:t>FOUND AND FIXED (1)</a:t>
            </a:r>
          </a:p>
        </p:txBody>
      </p:sp>
      <p:sp>
        <p:nvSpPr>
          <p:cNvPr id="264" name="Connector 35"/>
          <p:cNvSpPr/>
          <p:nvPr/>
        </p:nvSpPr>
        <p:spPr>
          <a:xfrm>
            <a:off x="713231" y="2761488"/>
            <a:ext cx="3054098" cy="1"/>
          </a:xfrm>
          <a:prstGeom prst="line">
            <a:avLst/>
          </a:prstGeom>
          <a:ln w="25400">
            <a:solidFill>
              <a:srgbClr val="FFFFFF"/>
            </a:solidFill>
            <a:miter/>
          </a:ln>
        </p:spPr>
        <p:txBody>
          <a:bodyPr lIns="45719" rIns="45719"/>
          <a:lstStyle/>
          <a:p>
            <a:pPr/>
          </a:p>
        </p:txBody>
      </p:sp>
      <p:sp>
        <p:nvSpPr>
          <p:cNvPr id="265" name="Oval 36"/>
          <p:cNvSpPr/>
          <p:nvPr/>
        </p:nvSpPr>
        <p:spPr>
          <a:xfrm>
            <a:off x="713231" y="2916935"/>
            <a:ext cx="347474" cy="347473"/>
          </a:xfrm>
          <a:prstGeom prst="ellipse">
            <a:avLst/>
          </a:prstGeom>
          <a:solidFill>
            <a:srgbClr val="306348"/>
          </a:solidFill>
          <a:ln w="12700">
            <a:solidFill>
              <a:srgbClr val="306348"/>
            </a:solidFill>
            <a:miter/>
          </a:ln>
        </p:spPr>
        <p:txBody>
          <a:bodyPr lIns="45719" rIns="45719" anchor="ctr"/>
          <a:lstStyle/>
          <a:p>
            <a:pPr algn="ctr">
              <a:defRPr>
                <a:solidFill>
                  <a:srgbClr val="FFFFFF"/>
                </a:solidFill>
              </a:defRPr>
            </a:pPr>
          </a:p>
        </p:txBody>
      </p:sp>
      <p:sp>
        <p:nvSpPr>
          <p:cNvPr id="266" name="TextBox 37"/>
          <p:cNvSpPr txBox="1"/>
          <p:nvPr/>
        </p:nvSpPr>
        <p:spPr>
          <a:xfrm>
            <a:off x="713231" y="3001771"/>
            <a:ext cx="347474"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1</a:t>
            </a:r>
          </a:p>
        </p:txBody>
      </p:sp>
      <p:sp>
        <p:nvSpPr>
          <p:cNvPr id="267" name="TextBox 38"/>
          <p:cNvSpPr txBox="1"/>
          <p:nvPr/>
        </p:nvSpPr>
        <p:spPr>
          <a:xfrm>
            <a:off x="1179576" y="2880360"/>
            <a:ext cx="2560321"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Touching seeds</a:t>
            </a:r>
          </a:p>
        </p:txBody>
      </p:sp>
      <p:sp>
        <p:nvSpPr>
          <p:cNvPr id="268" name="TextBox 39"/>
          <p:cNvSpPr txBox="1"/>
          <p:nvPr/>
        </p:nvSpPr>
        <p:spPr>
          <a:xfrm>
            <a:off x="1152144" y="3182111"/>
            <a:ext cx="2615184" cy="366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16 to 19 % fewer seeds counted. Now: no seed touches another; the app warns.</a:t>
            </a:r>
          </a:p>
        </p:txBody>
      </p:sp>
      <p:sp>
        <p:nvSpPr>
          <p:cNvPr id="269" name="Oval 40"/>
          <p:cNvSpPr/>
          <p:nvPr/>
        </p:nvSpPr>
        <p:spPr>
          <a:xfrm>
            <a:off x="713231" y="3986784"/>
            <a:ext cx="347474" cy="347473"/>
          </a:xfrm>
          <a:prstGeom prst="ellipse">
            <a:avLst/>
          </a:prstGeom>
          <a:solidFill>
            <a:srgbClr val="306348"/>
          </a:solidFill>
          <a:ln w="12700">
            <a:solidFill>
              <a:srgbClr val="306348"/>
            </a:solidFill>
            <a:miter/>
          </a:ln>
        </p:spPr>
        <p:txBody>
          <a:bodyPr lIns="45719" rIns="45719" anchor="ctr"/>
          <a:lstStyle/>
          <a:p>
            <a:pPr algn="ctr">
              <a:defRPr>
                <a:solidFill>
                  <a:srgbClr val="FFFFFF"/>
                </a:solidFill>
              </a:defRPr>
            </a:pPr>
          </a:p>
        </p:txBody>
      </p:sp>
      <p:sp>
        <p:nvSpPr>
          <p:cNvPr id="270" name="TextBox 41"/>
          <p:cNvSpPr txBox="1"/>
          <p:nvPr/>
        </p:nvSpPr>
        <p:spPr>
          <a:xfrm>
            <a:off x="713231" y="4071620"/>
            <a:ext cx="347474"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2</a:t>
            </a:r>
          </a:p>
        </p:txBody>
      </p:sp>
      <p:sp>
        <p:nvSpPr>
          <p:cNvPr id="271" name="TextBox 42"/>
          <p:cNvSpPr txBox="1"/>
          <p:nvPr/>
        </p:nvSpPr>
        <p:spPr>
          <a:xfrm>
            <a:off x="1179576" y="3950208"/>
            <a:ext cx="2560321"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Cropping</a:t>
            </a:r>
          </a:p>
        </p:txBody>
      </p:sp>
      <p:sp>
        <p:nvSpPr>
          <p:cNvPr id="272" name="TextBox 43"/>
          <p:cNvSpPr txBox="1"/>
          <p:nvPr/>
        </p:nvSpPr>
        <p:spPr>
          <a:xfrm>
            <a:off x="1152144" y="4251959"/>
            <a:ext cx="2615184" cy="366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Cut seeds at the photo edge. Now: never crop; the app ignores the rest of the photo.</a:t>
            </a:r>
          </a:p>
        </p:txBody>
      </p:sp>
      <p:sp>
        <p:nvSpPr>
          <p:cNvPr id="273" name="Rounded Rectangle 44"/>
          <p:cNvSpPr/>
          <p:nvPr/>
        </p:nvSpPr>
        <p:spPr>
          <a:xfrm>
            <a:off x="4407408" y="2212848"/>
            <a:ext cx="3383281" cy="2880361"/>
          </a:xfrm>
          <a:prstGeom prst="roundRect">
            <a:avLst>
              <a:gd name="adj" fmla="val 16667"/>
            </a:avLst>
          </a:prstGeom>
          <a:solidFill>
            <a:srgbClr val="FFF2BE"/>
          </a:solidFill>
          <a:ln w="12700">
            <a:solidFill>
              <a:srgbClr val="FFF2BE"/>
            </a:solidFill>
            <a:miter/>
          </a:ln>
        </p:spPr>
        <p:txBody>
          <a:bodyPr lIns="45719" rIns="45719" anchor="ctr"/>
          <a:lstStyle/>
          <a:p>
            <a:pPr algn="ctr">
              <a:defRPr>
                <a:solidFill>
                  <a:srgbClr val="FFFFFF"/>
                </a:solidFill>
              </a:defRPr>
            </a:pPr>
          </a:p>
        </p:txBody>
      </p:sp>
      <p:sp>
        <p:nvSpPr>
          <p:cNvPr id="274" name="TextBox 45"/>
          <p:cNvSpPr txBox="1"/>
          <p:nvPr/>
        </p:nvSpPr>
        <p:spPr>
          <a:xfrm>
            <a:off x="4599432" y="2385567"/>
            <a:ext cx="2999233" cy="239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300">
                <a:solidFill>
                  <a:srgbClr val="DA8B19"/>
                </a:solidFill>
                <a:latin typeface="Aptos"/>
                <a:ea typeface="Aptos"/>
                <a:cs typeface="Aptos"/>
                <a:sym typeface="Aptos"/>
              </a:defRPr>
            </a:lvl1pPr>
          </a:lstStyle>
          <a:p>
            <a:pPr/>
            <a:r>
              <a:t>FOUND AND FIXED (2)</a:t>
            </a:r>
          </a:p>
        </p:txBody>
      </p:sp>
      <p:sp>
        <p:nvSpPr>
          <p:cNvPr id="275" name="Connector 46"/>
          <p:cNvSpPr/>
          <p:nvPr/>
        </p:nvSpPr>
        <p:spPr>
          <a:xfrm>
            <a:off x="4572000" y="2761488"/>
            <a:ext cx="3054097" cy="1"/>
          </a:xfrm>
          <a:prstGeom prst="line">
            <a:avLst/>
          </a:prstGeom>
          <a:ln w="25400">
            <a:solidFill>
              <a:srgbClr val="FFFFFF"/>
            </a:solidFill>
            <a:miter/>
          </a:ln>
        </p:spPr>
        <p:txBody>
          <a:bodyPr lIns="45719" rIns="45719"/>
          <a:lstStyle/>
          <a:p>
            <a:pPr/>
          </a:p>
        </p:txBody>
      </p:sp>
      <p:sp>
        <p:nvSpPr>
          <p:cNvPr id="276" name="Oval 47"/>
          <p:cNvSpPr/>
          <p:nvPr/>
        </p:nvSpPr>
        <p:spPr>
          <a:xfrm>
            <a:off x="4572000" y="2916935"/>
            <a:ext cx="347473" cy="347473"/>
          </a:xfrm>
          <a:prstGeom prst="ellipse">
            <a:avLst/>
          </a:prstGeom>
          <a:solidFill>
            <a:srgbClr val="DA8B19"/>
          </a:solidFill>
          <a:ln w="12700">
            <a:solidFill>
              <a:srgbClr val="DA8B19"/>
            </a:solidFill>
            <a:miter/>
          </a:ln>
        </p:spPr>
        <p:txBody>
          <a:bodyPr lIns="45719" rIns="45719" anchor="ctr"/>
          <a:lstStyle/>
          <a:p>
            <a:pPr algn="ctr">
              <a:defRPr>
                <a:solidFill>
                  <a:srgbClr val="FFFFFF"/>
                </a:solidFill>
              </a:defRPr>
            </a:pPr>
          </a:p>
        </p:txBody>
      </p:sp>
      <p:sp>
        <p:nvSpPr>
          <p:cNvPr id="277" name="TextBox 48"/>
          <p:cNvSpPr txBox="1"/>
          <p:nvPr/>
        </p:nvSpPr>
        <p:spPr>
          <a:xfrm>
            <a:off x="4572000" y="3001771"/>
            <a:ext cx="34747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1</a:t>
            </a:r>
          </a:p>
        </p:txBody>
      </p:sp>
      <p:sp>
        <p:nvSpPr>
          <p:cNvPr id="278" name="TextBox 49"/>
          <p:cNvSpPr txBox="1"/>
          <p:nvPr/>
        </p:nvSpPr>
        <p:spPr>
          <a:xfrm>
            <a:off x="5038344" y="2880360"/>
            <a:ext cx="2560321"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Scale without TARE</a:t>
            </a:r>
          </a:p>
        </p:txBody>
      </p:sp>
      <p:sp>
        <p:nvSpPr>
          <p:cNvPr id="279" name="TextBox 50"/>
          <p:cNvSpPr txBox="1"/>
          <p:nvPr/>
        </p:nvSpPr>
        <p:spPr>
          <a:xfrm>
            <a:off x="5010911" y="3182111"/>
            <a:ext cx="2615185" cy="366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Read 1 g too high. Now: TARE every time. Coin test: our scale rounds to 1 g.</a:t>
            </a:r>
          </a:p>
        </p:txBody>
      </p:sp>
      <p:sp>
        <p:nvSpPr>
          <p:cNvPr id="280" name="Oval 51"/>
          <p:cNvSpPr/>
          <p:nvPr/>
        </p:nvSpPr>
        <p:spPr>
          <a:xfrm>
            <a:off x="4572000" y="3986784"/>
            <a:ext cx="347473" cy="347473"/>
          </a:xfrm>
          <a:prstGeom prst="ellipse">
            <a:avLst/>
          </a:prstGeom>
          <a:solidFill>
            <a:srgbClr val="DA8B19"/>
          </a:solidFill>
          <a:ln w="12700">
            <a:solidFill>
              <a:srgbClr val="DA8B19"/>
            </a:solidFill>
            <a:miter/>
          </a:ln>
        </p:spPr>
        <p:txBody>
          <a:bodyPr lIns="45719" rIns="45719" anchor="ctr"/>
          <a:lstStyle/>
          <a:p>
            <a:pPr algn="ctr">
              <a:defRPr>
                <a:solidFill>
                  <a:srgbClr val="FFFFFF"/>
                </a:solidFill>
              </a:defRPr>
            </a:pPr>
          </a:p>
        </p:txBody>
      </p:sp>
      <p:sp>
        <p:nvSpPr>
          <p:cNvPr id="281" name="TextBox 52"/>
          <p:cNvSpPr txBox="1"/>
          <p:nvPr/>
        </p:nvSpPr>
        <p:spPr>
          <a:xfrm>
            <a:off x="4572000" y="4071620"/>
            <a:ext cx="34747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2</a:t>
            </a:r>
          </a:p>
        </p:txBody>
      </p:sp>
      <p:sp>
        <p:nvSpPr>
          <p:cNvPr id="282" name="TextBox 53"/>
          <p:cNvSpPr txBox="1"/>
          <p:nvPr/>
        </p:nvSpPr>
        <p:spPr>
          <a:xfrm>
            <a:off x="5038344" y="3950208"/>
            <a:ext cx="2560321"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Weighed in a container?</a:t>
            </a:r>
          </a:p>
        </p:txBody>
      </p:sp>
      <p:sp>
        <p:nvSpPr>
          <p:cNvPr id="283" name="TextBox 54"/>
          <p:cNvSpPr txBox="1"/>
          <p:nvPr/>
        </p:nvSpPr>
        <p:spPr>
          <a:xfrm>
            <a:off x="5010911" y="4251959"/>
            <a:ext cx="2615185" cy="5318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T4-02: 14 g before, 12 g after, probably the container. Now: weigh straight on the scale.</a:t>
            </a:r>
          </a:p>
        </p:txBody>
      </p:sp>
      <p:sp>
        <p:nvSpPr>
          <p:cNvPr id="284" name="Rounded Rectangle 55"/>
          <p:cNvSpPr/>
          <p:nvPr/>
        </p:nvSpPr>
        <p:spPr>
          <a:xfrm>
            <a:off x="8266175" y="2212848"/>
            <a:ext cx="3383281" cy="2880361"/>
          </a:xfrm>
          <a:prstGeom prst="roundRect">
            <a:avLst>
              <a:gd name="adj" fmla="val 16667"/>
            </a:avLst>
          </a:prstGeom>
          <a:solidFill>
            <a:srgbClr val="FAE1D3"/>
          </a:solidFill>
          <a:ln w="12700">
            <a:solidFill>
              <a:srgbClr val="FAE1D3"/>
            </a:solidFill>
            <a:miter/>
          </a:ln>
        </p:spPr>
        <p:txBody>
          <a:bodyPr lIns="45719" rIns="45719" anchor="ctr"/>
          <a:lstStyle/>
          <a:p>
            <a:pPr algn="ctr">
              <a:defRPr>
                <a:solidFill>
                  <a:srgbClr val="FFFFFF"/>
                </a:solidFill>
              </a:defRPr>
            </a:pPr>
          </a:p>
        </p:txBody>
      </p:sp>
      <p:sp>
        <p:nvSpPr>
          <p:cNvPr id="285" name="TextBox 56"/>
          <p:cNvSpPr txBox="1"/>
          <p:nvPr/>
        </p:nvSpPr>
        <p:spPr>
          <a:xfrm>
            <a:off x="8458198" y="2385567"/>
            <a:ext cx="2999233" cy="239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300">
                <a:solidFill>
                  <a:srgbClr val="B45B38"/>
                </a:solidFill>
                <a:latin typeface="Aptos"/>
                <a:ea typeface="Aptos"/>
                <a:cs typeface="Aptos"/>
                <a:sym typeface="Aptos"/>
              </a:defRPr>
            </a:lvl1pPr>
          </a:lstStyle>
          <a:p>
            <a:pPr/>
            <a:r>
              <a:t>STILL OPEN</a:t>
            </a:r>
          </a:p>
        </p:txBody>
      </p:sp>
      <p:sp>
        <p:nvSpPr>
          <p:cNvPr id="286" name="Connector 57"/>
          <p:cNvSpPr/>
          <p:nvPr/>
        </p:nvSpPr>
        <p:spPr>
          <a:xfrm>
            <a:off x="8430766" y="2761488"/>
            <a:ext cx="3054097" cy="1"/>
          </a:xfrm>
          <a:prstGeom prst="line">
            <a:avLst/>
          </a:prstGeom>
          <a:ln w="25400">
            <a:solidFill>
              <a:srgbClr val="FFFFFF"/>
            </a:solidFill>
            <a:miter/>
          </a:ln>
        </p:spPr>
        <p:txBody>
          <a:bodyPr lIns="45719" rIns="45719"/>
          <a:lstStyle/>
          <a:p>
            <a:pPr/>
          </a:p>
        </p:txBody>
      </p:sp>
      <p:sp>
        <p:nvSpPr>
          <p:cNvPr id="287" name="Oval 58"/>
          <p:cNvSpPr/>
          <p:nvPr/>
        </p:nvSpPr>
        <p:spPr>
          <a:xfrm>
            <a:off x="8430766" y="2916935"/>
            <a:ext cx="347473" cy="347473"/>
          </a:xfrm>
          <a:prstGeom prst="ellipse">
            <a:avLst/>
          </a:prstGeom>
          <a:solidFill>
            <a:srgbClr val="B45B38"/>
          </a:solidFill>
          <a:ln w="12700">
            <a:solidFill>
              <a:srgbClr val="B45B38"/>
            </a:solidFill>
            <a:miter/>
          </a:ln>
        </p:spPr>
        <p:txBody>
          <a:bodyPr lIns="45719" rIns="45719" anchor="ctr"/>
          <a:lstStyle/>
          <a:p>
            <a:pPr algn="ctr">
              <a:defRPr>
                <a:solidFill>
                  <a:srgbClr val="FFFFFF"/>
                </a:solidFill>
              </a:defRPr>
            </a:pPr>
          </a:p>
        </p:txBody>
      </p:sp>
      <p:sp>
        <p:nvSpPr>
          <p:cNvPr id="288" name="TextBox 59"/>
          <p:cNvSpPr txBox="1"/>
          <p:nvPr/>
        </p:nvSpPr>
        <p:spPr>
          <a:xfrm>
            <a:off x="8430766" y="3001771"/>
            <a:ext cx="34747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1</a:t>
            </a:r>
          </a:p>
        </p:txBody>
      </p:sp>
      <p:sp>
        <p:nvSpPr>
          <p:cNvPr id="289" name="TextBox 60"/>
          <p:cNvSpPr txBox="1"/>
          <p:nvPr/>
        </p:nvSpPr>
        <p:spPr>
          <a:xfrm>
            <a:off x="8897111" y="2880360"/>
            <a:ext cx="2560322"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Better reference</a:t>
            </a:r>
          </a:p>
        </p:txBody>
      </p:sp>
      <p:sp>
        <p:nvSpPr>
          <p:cNvPr id="290" name="TextBox 61"/>
          <p:cNvSpPr txBox="1"/>
          <p:nvPr/>
        </p:nvSpPr>
        <p:spPr>
          <a:xfrm>
            <a:off x="8869680" y="3182111"/>
            <a:ext cx="2615185" cy="5318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A 0.01 g scale; other seed lots and crops (seed length 11.25 to 11.88 mm).</a:t>
            </a:r>
          </a:p>
        </p:txBody>
      </p:sp>
      <p:sp>
        <p:nvSpPr>
          <p:cNvPr id="291" name="Oval 62"/>
          <p:cNvSpPr/>
          <p:nvPr/>
        </p:nvSpPr>
        <p:spPr>
          <a:xfrm>
            <a:off x="8430766" y="3986784"/>
            <a:ext cx="347473" cy="347473"/>
          </a:xfrm>
          <a:prstGeom prst="ellipse">
            <a:avLst/>
          </a:prstGeom>
          <a:solidFill>
            <a:srgbClr val="B45B38"/>
          </a:solidFill>
          <a:ln w="12700">
            <a:solidFill>
              <a:srgbClr val="B45B38"/>
            </a:solidFill>
            <a:miter/>
          </a:ln>
        </p:spPr>
        <p:txBody>
          <a:bodyPr lIns="45719" rIns="45719" anchor="ctr"/>
          <a:lstStyle/>
          <a:p>
            <a:pPr algn="ctr">
              <a:defRPr>
                <a:solidFill>
                  <a:srgbClr val="FFFFFF"/>
                </a:solidFill>
              </a:defRPr>
            </a:pPr>
          </a:p>
        </p:txBody>
      </p:sp>
      <p:sp>
        <p:nvSpPr>
          <p:cNvPr id="292" name="TextBox 63"/>
          <p:cNvSpPr txBox="1"/>
          <p:nvPr/>
        </p:nvSpPr>
        <p:spPr>
          <a:xfrm>
            <a:off x="8430766" y="4071620"/>
            <a:ext cx="34747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2</a:t>
            </a:r>
          </a:p>
        </p:txBody>
      </p:sp>
      <p:sp>
        <p:nvSpPr>
          <p:cNvPr id="293" name="TextBox 64"/>
          <p:cNvSpPr txBox="1"/>
          <p:nvPr/>
        </p:nvSpPr>
        <p:spPr>
          <a:xfrm>
            <a:off x="8897111" y="3950208"/>
            <a:ext cx="2560322"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Bigger samples</a:t>
            </a:r>
          </a:p>
        </p:txBody>
      </p:sp>
      <p:sp>
        <p:nvSpPr>
          <p:cNvPr id="294" name="TextBox 65"/>
          <p:cNvSpPr txBox="1"/>
          <p:nvPr/>
        </p:nvSpPr>
        <p:spPr>
          <a:xfrm>
            <a:off x="8869680" y="4251959"/>
            <a:ext cx="2615185" cy="5318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Above 651 seeds (untested); coin or bank card as ruler; seeds without hulls.</a:t>
            </a:r>
          </a:p>
        </p:txBody>
      </p:sp>
      <p:sp>
        <p:nvSpPr>
          <p:cNvPr id="295" name="Rounded Rectangle 66"/>
          <p:cNvSpPr/>
          <p:nvPr/>
        </p:nvSpPr>
        <p:spPr>
          <a:xfrm>
            <a:off x="548640" y="5321808"/>
            <a:ext cx="11100817" cy="694945"/>
          </a:xfrm>
          <a:prstGeom prst="roundRect">
            <a:avLst>
              <a:gd name="adj" fmla="val 16667"/>
            </a:avLst>
          </a:prstGeom>
          <a:solidFill>
            <a:srgbClr val="EBF2E6"/>
          </a:solidFill>
          <a:ln w="12700">
            <a:solidFill>
              <a:srgbClr val="EBF2E6"/>
            </a:solidFill>
            <a:miter/>
          </a:ln>
        </p:spPr>
        <p:txBody>
          <a:bodyPr lIns="45719" rIns="45719" anchor="ctr"/>
          <a:lstStyle/>
          <a:p>
            <a:pPr algn="ctr">
              <a:defRPr>
                <a:solidFill>
                  <a:srgbClr val="FFFFFF"/>
                </a:solidFill>
              </a:defRPr>
            </a:pPr>
          </a:p>
        </p:txBody>
      </p:sp>
      <p:sp>
        <p:nvSpPr>
          <p:cNvPr id="296" name="TextBox 67"/>
          <p:cNvSpPr txBox="1"/>
          <p:nvPr/>
        </p:nvSpPr>
        <p:spPr>
          <a:xfrm>
            <a:off x="777240" y="5490971"/>
            <a:ext cx="1362456"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306348"/>
                </a:solidFill>
                <a:latin typeface="Aptos"/>
                <a:ea typeface="Aptos"/>
                <a:cs typeface="Aptos"/>
                <a:sym typeface="Aptos"/>
              </a:defRPr>
            </a:lvl1pPr>
          </a:lstStyle>
          <a:p>
            <a:pPr/>
            <a:r>
              <a:t>Repository</a:t>
            </a:r>
          </a:p>
        </p:txBody>
      </p:sp>
      <p:sp>
        <p:nvSpPr>
          <p:cNvPr id="297" name="TextBox 68"/>
          <p:cNvSpPr txBox="1"/>
          <p:nvPr/>
        </p:nvSpPr>
        <p:spPr>
          <a:xfrm>
            <a:off x="2130551" y="5490971"/>
            <a:ext cx="9180577"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All code, data and the full analysis: github.com/HadiNasooti/cnh-sunflower-weight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8" name="Shape 0"/>
          <p:cNvSpPr/>
          <p:nvPr/>
        </p:nvSpPr>
        <p:spPr>
          <a:xfrm>
            <a:off x="8138159" y="0"/>
            <a:ext cx="4050793" cy="6858000"/>
          </a:xfrm>
          <a:prstGeom prst="rect">
            <a:avLst/>
          </a:prstGeom>
          <a:solidFill>
            <a:srgbClr val="FFF1BE"/>
          </a:solidFill>
          <a:ln w="12700">
            <a:solidFill>
              <a:srgbClr val="FFF1BE"/>
            </a:solidFill>
          </a:ln>
        </p:spPr>
        <p:txBody>
          <a:bodyPr lIns="45719" rIns="45719"/>
          <a:lstStyle/>
          <a:p>
            <a:pPr/>
          </a:p>
        </p:txBody>
      </p:sp>
      <p:sp>
        <p:nvSpPr>
          <p:cNvPr id="29" name="Shape 1"/>
          <p:cNvSpPr/>
          <p:nvPr/>
        </p:nvSpPr>
        <p:spPr>
          <a:xfrm rot="5400000">
            <a:off x="10908792" y="2606039"/>
            <a:ext cx="402337" cy="1005842"/>
          </a:xfrm>
          <a:prstGeom prst="ellipse">
            <a:avLst/>
          </a:prstGeom>
          <a:solidFill>
            <a:srgbClr val="F2B705"/>
          </a:solidFill>
          <a:ln w="6350">
            <a:solidFill>
              <a:srgbClr val="DC8F14"/>
            </a:solidFill>
          </a:ln>
        </p:spPr>
        <p:txBody>
          <a:bodyPr lIns="45719" rIns="45719"/>
          <a:lstStyle/>
          <a:p>
            <a:pPr/>
          </a:p>
        </p:txBody>
      </p:sp>
      <p:sp>
        <p:nvSpPr>
          <p:cNvPr id="30" name="Shape 2"/>
          <p:cNvSpPr/>
          <p:nvPr/>
        </p:nvSpPr>
        <p:spPr>
          <a:xfrm rot="6750000">
            <a:off x="10835706" y="2973461"/>
            <a:ext cx="402337" cy="1005841"/>
          </a:xfrm>
          <a:prstGeom prst="ellipse">
            <a:avLst/>
          </a:prstGeom>
          <a:solidFill>
            <a:srgbClr val="F2B705"/>
          </a:solidFill>
          <a:ln w="6350">
            <a:solidFill>
              <a:srgbClr val="DC8F14"/>
            </a:solidFill>
          </a:ln>
        </p:spPr>
        <p:txBody>
          <a:bodyPr lIns="45719" rIns="45719"/>
          <a:lstStyle/>
          <a:p>
            <a:pPr/>
          </a:p>
        </p:txBody>
      </p:sp>
      <p:sp>
        <p:nvSpPr>
          <p:cNvPr id="31" name="Shape 3"/>
          <p:cNvSpPr/>
          <p:nvPr/>
        </p:nvSpPr>
        <p:spPr>
          <a:xfrm rot="8100000">
            <a:off x="10627579" y="3284947"/>
            <a:ext cx="402337" cy="1005841"/>
          </a:xfrm>
          <a:prstGeom prst="ellipse">
            <a:avLst/>
          </a:prstGeom>
          <a:solidFill>
            <a:srgbClr val="F2B705"/>
          </a:solidFill>
          <a:ln w="6350">
            <a:solidFill>
              <a:srgbClr val="DC8F14"/>
            </a:solidFill>
          </a:ln>
        </p:spPr>
        <p:txBody>
          <a:bodyPr lIns="45719" rIns="45719"/>
          <a:lstStyle/>
          <a:p>
            <a:pPr/>
          </a:p>
        </p:txBody>
      </p:sp>
      <p:sp>
        <p:nvSpPr>
          <p:cNvPr id="32" name="Shape 4"/>
          <p:cNvSpPr/>
          <p:nvPr/>
        </p:nvSpPr>
        <p:spPr>
          <a:xfrm rot="9450000">
            <a:off x="10316094" y="3493075"/>
            <a:ext cx="402337" cy="1005841"/>
          </a:xfrm>
          <a:prstGeom prst="ellipse">
            <a:avLst/>
          </a:prstGeom>
          <a:solidFill>
            <a:srgbClr val="F2B705"/>
          </a:solidFill>
          <a:ln w="6350">
            <a:solidFill>
              <a:srgbClr val="DC8F14"/>
            </a:solidFill>
          </a:ln>
        </p:spPr>
        <p:txBody>
          <a:bodyPr lIns="45719" rIns="45719"/>
          <a:lstStyle/>
          <a:p>
            <a:pPr/>
          </a:p>
        </p:txBody>
      </p:sp>
      <p:sp>
        <p:nvSpPr>
          <p:cNvPr id="33" name="Shape 5"/>
          <p:cNvSpPr/>
          <p:nvPr/>
        </p:nvSpPr>
        <p:spPr>
          <a:xfrm rot="10800000">
            <a:off x="9948671" y="3566159"/>
            <a:ext cx="402337" cy="1005841"/>
          </a:xfrm>
          <a:prstGeom prst="ellipse">
            <a:avLst/>
          </a:prstGeom>
          <a:solidFill>
            <a:srgbClr val="F2B705"/>
          </a:solidFill>
          <a:ln w="6350">
            <a:solidFill>
              <a:srgbClr val="DC8F14"/>
            </a:solidFill>
          </a:ln>
        </p:spPr>
        <p:txBody>
          <a:bodyPr lIns="45719" rIns="45719"/>
          <a:lstStyle/>
          <a:p>
            <a:pPr/>
          </a:p>
        </p:txBody>
      </p:sp>
      <p:sp>
        <p:nvSpPr>
          <p:cNvPr id="34" name="Shape 6"/>
          <p:cNvSpPr/>
          <p:nvPr/>
        </p:nvSpPr>
        <p:spPr>
          <a:xfrm rot="12150000">
            <a:off x="9581250" y="3493075"/>
            <a:ext cx="402337" cy="1005841"/>
          </a:xfrm>
          <a:prstGeom prst="ellipse">
            <a:avLst/>
          </a:prstGeom>
          <a:solidFill>
            <a:srgbClr val="F2B705"/>
          </a:solidFill>
          <a:ln w="6350">
            <a:solidFill>
              <a:srgbClr val="DC8F14"/>
            </a:solidFill>
          </a:ln>
        </p:spPr>
        <p:txBody>
          <a:bodyPr lIns="45719" rIns="45719"/>
          <a:lstStyle/>
          <a:p>
            <a:pPr/>
          </a:p>
        </p:txBody>
      </p:sp>
      <p:sp>
        <p:nvSpPr>
          <p:cNvPr id="35" name="Shape 7"/>
          <p:cNvSpPr/>
          <p:nvPr/>
        </p:nvSpPr>
        <p:spPr>
          <a:xfrm rot="13500000">
            <a:off x="9269765" y="3284947"/>
            <a:ext cx="402337" cy="1005841"/>
          </a:xfrm>
          <a:prstGeom prst="ellipse">
            <a:avLst/>
          </a:prstGeom>
          <a:solidFill>
            <a:srgbClr val="F2B705"/>
          </a:solidFill>
          <a:ln w="6350">
            <a:solidFill>
              <a:srgbClr val="DC8F14"/>
            </a:solidFill>
          </a:ln>
        </p:spPr>
        <p:txBody>
          <a:bodyPr lIns="45719" rIns="45719"/>
          <a:lstStyle/>
          <a:p>
            <a:pPr/>
          </a:p>
        </p:txBody>
      </p:sp>
      <p:sp>
        <p:nvSpPr>
          <p:cNvPr id="36" name="Shape 8"/>
          <p:cNvSpPr/>
          <p:nvPr/>
        </p:nvSpPr>
        <p:spPr>
          <a:xfrm rot="14850000">
            <a:off x="9061636" y="2973461"/>
            <a:ext cx="402337" cy="1005841"/>
          </a:xfrm>
          <a:prstGeom prst="ellipse">
            <a:avLst/>
          </a:prstGeom>
          <a:solidFill>
            <a:srgbClr val="F2B705"/>
          </a:solidFill>
          <a:ln w="6350">
            <a:solidFill>
              <a:srgbClr val="DC8F14"/>
            </a:solidFill>
          </a:ln>
        </p:spPr>
        <p:txBody>
          <a:bodyPr lIns="45719" rIns="45719"/>
          <a:lstStyle/>
          <a:p>
            <a:pPr/>
          </a:p>
        </p:txBody>
      </p:sp>
      <p:sp>
        <p:nvSpPr>
          <p:cNvPr id="37" name="Shape 9"/>
          <p:cNvSpPr/>
          <p:nvPr/>
        </p:nvSpPr>
        <p:spPr>
          <a:xfrm rot="16200000">
            <a:off x="8988552" y="2606039"/>
            <a:ext cx="402337" cy="1005842"/>
          </a:xfrm>
          <a:prstGeom prst="ellipse">
            <a:avLst/>
          </a:prstGeom>
          <a:solidFill>
            <a:srgbClr val="F2B705"/>
          </a:solidFill>
          <a:ln w="6350">
            <a:solidFill>
              <a:srgbClr val="DC8F14"/>
            </a:solidFill>
          </a:ln>
        </p:spPr>
        <p:txBody>
          <a:bodyPr lIns="45719" rIns="45719"/>
          <a:lstStyle/>
          <a:p>
            <a:pPr/>
          </a:p>
        </p:txBody>
      </p:sp>
      <p:sp>
        <p:nvSpPr>
          <p:cNvPr id="38" name="Shape 10"/>
          <p:cNvSpPr/>
          <p:nvPr/>
        </p:nvSpPr>
        <p:spPr>
          <a:xfrm rot="17550000">
            <a:off x="9061636" y="2238618"/>
            <a:ext cx="402337" cy="1005841"/>
          </a:xfrm>
          <a:prstGeom prst="ellipse">
            <a:avLst/>
          </a:prstGeom>
          <a:solidFill>
            <a:srgbClr val="F2B705"/>
          </a:solidFill>
          <a:ln w="6350">
            <a:solidFill>
              <a:srgbClr val="DC8F14"/>
            </a:solidFill>
          </a:ln>
        </p:spPr>
        <p:txBody>
          <a:bodyPr lIns="45719" rIns="45719"/>
          <a:lstStyle/>
          <a:p>
            <a:pPr/>
          </a:p>
        </p:txBody>
      </p:sp>
      <p:sp>
        <p:nvSpPr>
          <p:cNvPr id="39" name="Shape 11"/>
          <p:cNvSpPr/>
          <p:nvPr/>
        </p:nvSpPr>
        <p:spPr>
          <a:xfrm rot="18900000">
            <a:off x="9269765" y="1927132"/>
            <a:ext cx="402337" cy="1005842"/>
          </a:xfrm>
          <a:prstGeom prst="ellipse">
            <a:avLst/>
          </a:prstGeom>
          <a:solidFill>
            <a:srgbClr val="F2B705"/>
          </a:solidFill>
          <a:ln w="6350">
            <a:solidFill>
              <a:srgbClr val="DC8F14"/>
            </a:solidFill>
          </a:ln>
        </p:spPr>
        <p:txBody>
          <a:bodyPr lIns="45719" rIns="45719"/>
          <a:lstStyle/>
          <a:p>
            <a:pPr/>
          </a:p>
        </p:txBody>
      </p:sp>
      <p:sp>
        <p:nvSpPr>
          <p:cNvPr id="40" name="Shape 12"/>
          <p:cNvSpPr/>
          <p:nvPr/>
        </p:nvSpPr>
        <p:spPr>
          <a:xfrm rot="20250000">
            <a:off x="9581250" y="1719004"/>
            <a:ext cx="402337" cy="1005842"/>
          </a:xfrm>
          <a:prstGeom prst="ellipse">
            <a:avLst/>
          </a:prstGeom>
          <a:solidFill>
            <a:srgbClr val="F2B705"/>
          </a:solidFill>
          <a:ln w="6350">
            <a:solidFill>
              <a:srgbClr val="DC8F14"/>
            </a:solidFill>
          </a:ln>
        </p:spPr>
        <p:txBody>
          <a:bodyPr lIns="45719" rIns="45719"/>
          <a:lstStyle/>
          <a:p>
            <a:pPr/>
          </a:p>
        </p:txBody>
      </p:sp>
      <p:sp>
        <p:nvSpPr>
          <p:cNvPr id="41" name="Shape 13"/>
          <p:cNvSpPr/>
          <p:nvPr/>
        </p:nvSpPr>
        <p:spPr>
          <a:xfrm>
            <a:off x="9948671" y="1645920"/>
            <a:ext cx="402337" cy="1005841"/>
          </a:xfrm>
          <a:prstGeom prst="ellipse">
            <a:avLst/>
          </a:prstGeom>
          <a:solidFill>
            <a:srgbClr val="F2B705"/>
          </a:solidFill>
          <a:ln w="6350">
            <a:solidFill>
              <a:srgbClr val="DC8F14"/>
            </a:solidFill>
          </a:ln>
        </p:spPr>
        <p:txBody>
          <a:bodyPr lIns="45719" rIns="45719"/>
          <a:lstStyle/>
          <a:p>
            <a:pPr/>
          </a:p>
        </p:txBody>
      </p:sp>
      <p:sp>
        <p:nvSpPr>
          <p:cNvPr id="42" name="Shape 14"/>
          <p:cNvSpPr/>
          <p:nvPr/>
        </p:nvSpPr>
        <p:spPr>
          <a:xfrm rot="1350000">
            <a:off x="10316094" y="1719004"/>
            <a:ext cx="402337" cy="1005842"/>
          </a:xfrm>
          <a:prstGeom prst="ellipse">
            <a:avLst/>
          </a:prstGeom>
          <a:solidFill>
            <a:srgbClr val="F2B705"/>
          </a:solidFill>
          <a:ln w="6350">
            <a:solidFill>
              <a:srgbClr val="DC8F14"/>
            </a:solidFill>
          </a:ln>
        </p:spPr>
        <p:txBody>
          <a:bodyPr lIns="45719" rIns="45719"/>
          <a:lstStyle/>
          <a:p>
            <a:pPr/>
          </a:p>
        </p:txBody>
      </p:sp>
      <p:sp>
        <p:nvSpPr>
          <p:cNvPr id="43" name="Shape 15"/>
          <p:cNvSpPr/>
          <p:nvPr/>
        </p:nvSpPr>
        <p:spPr>
          <a:xfrm rot="2700000">
            <a:off x="10627579" y="1927132"/>
            <a:ext cx="402337" cy="1005842"/>
          </a:xfrm>
          <a:prstGeom prst="ellipse">
            <a:avLst/>
          </a:prstGeom>
          <a:solidFill>
            <a:srgbClr val="F2B705"/>
          </a:solidFill>
          <a:ln w="6350">
            <a:solidFill>
              <a:srgbClr val="DC8F14"/>
            </a:solidFill>
          </a:ln>
        </p:spPr>
        <p:txBody>
          <a:bodyPr lIns="45719" rIns="45719"/>
          <a:lstStyle/>
          <a:p>
            <a:pPr/>
          </a:p>
        </p:txBody>
      </p:sp>
      <p:sp>
        <p:nvSpPr>
          <p:cNvPr id="44" name="Shape 16"/>
          <p:cNvSpPr/>
          <p:nvPr/>
        </p:nvSpPr>
        <p:spPr>
          <a:xfrm rot="4050000">
            <a:off x="10835706" y="2238618"/>
            <a:ext cx="402337" cy="1005841"/>
          </a:xfrm>
          <a:prstGeom prst="ellipse">
            <a:avLst/>
          </a:prstGeom>
          <a:solidFill>
            <a:srgbClr val="F2B705"/>
          </a:solidFill>
          <a:ln w="6350">
            <a:solidFill>
              <a:srgbClr val="DC8F14"/>
            </a:solidFill>
          </a:ln>
        </p:spPr>
        <p:txBody>
          <a:bodyPr lIns="45719" rIns="45719"/>
          <a:lstStyle/>
          <a:p>
            <a:pPr/>
          </a:p>
        </p:txBody>
      </p:sp>
      <p:sp>
        <p:nvSpPr>
          <p:cNvPr id="45" name="Shape 17"/>
          <p:cNvSpPr/>
          <p:nvPr/>
        </p:nvSpPr>
        <p:spPr>
          <a:xfrm>
            <a:off x="9372600" y="2331720"/>
            <a:ext cx="1554481" cy="1554481"/>
          </a:xfrm>
          <a:prstGeom prst="ellipse">
            <a:avLst/>
          </a:prstGeom>
          <a:solidFill>
            <a:srgbClr val="5C3D23"/>
          </a:solidFill>
          <a:ln w="12700">
            <a:solidFill>
              <a:srgbClr val="5C3D23"/>
            </a:solidFill>
          </a:ln>
        </p:spPr>
        <p:txBody>
          <a:bodyPr lIns="45719" rIns="45719"/>
          <a:lstStyle/>
          <a:p>
            <a:pPr/>
          </a:p>
        </p:txBody>
      </p:sp>
      <p:sp>
        <p:nvSpPr>
          <p:cNvPr id="46" name="Text 18"/>
          <p:cNvSpPr txBox="1"/>
          <p:nvPr/>
        </p:nvSpPr>
        <p:spPr>
          <a:xfrm>
            <a:off x="731519" y="1196779"/>
            <a:ext cx="6949442"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1300">
                <a:solidFill>
                  <a:srgbClr val="DC8F14"/>
                </a:solidFill>
              </a:defRPr>
            </a:lvl1pPr>
          </a:lstStyle>
          <a:p>
            <a:pPr/>
            <a:r>
              <a:t>BACKUP (NOT PRESENTED)</a:t>
            </a:r>
          </a:p>
        </p:txBody>
      </p:sp>
      <p:sp>
        <p:nvSpPr>
          <p:cNvPr id="47" name="Text 19"/>
          <p:cNvSpPr txBox="1"/>
          <p:nvPr/>
        </p:nvSpPr>
        <p:spPr>
          <a:xfrm>
            <a:off x="731520" y="1554480"/>
            <a:ext cx="7132319" cy="1193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4000">
                <a:solidFill>
                  <a:srgbClr val="2D5B3F"/>
                </a:solidFill>
                <a:latin typeface="Cambria"/>
                <a:ea typeface="Cambria"/>
                <a:cs typeface="Cambria"/>
                <a:sym typeface="Cambria"/>
              </a:defRPr>
            </a:lvl1pPr>
          </a:lstStyle>
          <a:p>
            <a:pPr/>
            <a:r>
              <a:t>The full analysis</a:t>
            </a:r>
          </a:p>
        </p:txBody>
      </p:sp>
      <p:sp>
        <p:nvSpPr>
          <p:cNvPr id="48" name="Text 20"/>
          <p:cNvSpPr txBox="1"/>
          <p:nvPr/>
        </p:nvSpPr>
        <p:spPr>
          <a:xfrm>
            <a:off x="731519" y="3482166"/>
            <a:ext cx="6949442" cy="53374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253027"/>
                </a:solidFill>
              </a:defRPr>
            </a:lvl1pPr>
          </a:lstStyle>
          <a:p>
            <a:pPr/>
            <a:r>
              <a:t>Our complete 16-slide deck with all numbers, kept for questions and for reading.</a:t>
            </a:r>
          </a:p>
        </p:txBody>
      </p:sp>
      <p:sp>
        <p:nvSpPr>
          <p:cNvPr id="49" name="Text 21"/>
          <p:cNvSpPr txBox="1"/>
          <p:nvPr/>
        </p:nvSpPr>
        <p:spPr>
          <a:xfrm>
            <a:off x="731519" y="5208840"/>
            <a:ext cx="694944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687063"/>
                </a:solidFill>
              </a:defRPr>
            </a:lvl1pPr>
          </a:lstStyle>
          <a:p>
            <a:pPr/>
            <a:r>
              <a:t>Hadi Nasooti (R0650483) and Chunhui Jia (R1134557)  |  KU Leuven  |  26 October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The app on our own photos</a:t>
            </a:r>
          </a:p>
        </p:txBody>
      </p:sp>
      <p:sp>
        <p:nvSpPr>
          <p:cNvPr id="129"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APP</a:t>
            </a:r>
          </a:p>
        </p:txBody>
      </p:sp>
      <p:sp>
        <p:nvSpPr>
          <p:cNvPr id="134"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pic>
        <p:nvPicPr>
          <p:cNvPr id="135" name="Picture 134" descr="shot_list.png"/>
          <p:cNvPicPr>
            <a:picLocks noChangeAspect="1"/>
          </p:cNvPicPr>
          <p:nvPr/>
        </p:nvPicPr>
        <p:blipFill>
          <a:blip r:embed="rId2"/>
          <a:stretch>
            <a:fillRect/>
          </a:stretch>
        </p:blipFill>
        <p:spPr>
          <a:xfrm>
            <a:off x="548640" y="1188720"/>
            <a:ext cx="5852160" cy="4558525"/>
          </a:xfrm>
          <a:prstGeom prst="rect">
            <a:avLst/>
          </a:prstGeom>
        </p:spPr>
      </p:pic>
      <p:pic>
        <p:nvPicPr>
          <p:cNvPr id="136" name="Picture 135" descr="shot_t1.png"/>
          <p:cNvPicPr>
            <a:picLocks noChangeAspect="1"/>
          </p:cNvPicPr>
          <p:nvPr/>
        </p:nvPicPr>
        <p:blipFill>
          <a:blip r:embed="rId3"/>
          <a:stretch>
            <a:fillRect/>
          </a:stretch>
        </p:blipFill>
        <p:spPr>
          <a:xfrm>
            <a:off x="6583680" y="1188720"/>
            <a:ext cx="5074920" cy="1545544"/>
          </a:xfrm>
          <a:prstGeom prst="rect">
            <a:avLst/>
          </a:prstGeom>
        </p:spPr>
      </p:pic>
      <p:pic>
        <p:nvPicPr>
          <p:cNvPr id="137" name="Picture 136" descr="shot_t2.png"/>
          <p:cNvPicPr>
            <a:picLocks noChangeAspect="1"/>
          </p:cNvPicPr>
          <p:nvPr/>
        </p:nvPicPr>
        <p:blipFill>
          <a:blip r:embed="rId4"/>
          <a:stretch>
            <a:fillRect/>
          </a:stretch>
        </p:blipFill>
        <p:spPr>
          <a:xfrm>
            <a:off x="6583680" y="2880360"/>
            <a:ext cx="5074920" cy="1478346"/>
          </a:xfrm>
          <a:prstGeom prst="rect">
            <a:avLst/>
          </a:prstGeom>
        </p:spPr>
      </p:pic>
      <p:sp>
        <p:nvSpPr>
          <p:cNvPr id="138" name="TextBox 137"/>
          <p:cNvSpPr txBox="1"/>
          <p:nvPr/>
        </p:nvSpPr>
        <p:spPr>
          <a:xfrm>
            <a:off x="6583680" y="4617720"/>
            <a:ext cx="5074920" cy="1097280"/>
          </a:xfrm>
          <a:prstGeom prst="rect">
            <a:avLst/>
          </a:prstGeom>
          <a:noFill/>
        </p:spPr>
        <p:txBody>
          <a:bodyPr wrap="square">
            <a:spAutoFit/>
          </a:bodyPr>
          <a:lstStyle/>
          <a:p>
            <a:r>
              <a:rPr sz="1200" i="1">
                <a:solidFill>
                  <a:srgbClr val="687063"/>
                </a:solidFill>
              </a:rPr>
              <a:t>Hadi's 24 photos of 19 Oct in the app: 20 green; the 4 orange ones are the photos with touching seeds, and the sentence tells the user to spread them.</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AF7EE"/>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dc:creator>Hadi Nasooti and Chunhui Jia</dc:creator>
  <dc:title>From sunflower seeds to a weight estimate</dc:title>
</cp:coreProperties>
</file>